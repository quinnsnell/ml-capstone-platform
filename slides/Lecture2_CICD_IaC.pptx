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8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6"/>
    <p:sldId id="298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755"/>
    <p:restoredTop sz="85714"/>
  </p:normalViewPr>
  <p:slideViewPr>
    <p:cSldViewPr snapToGrid="0" snapToObjects="1">
      <p:cViewPr varScale="1">
        <p:scale>
          <a:sx n="104" d="100"/>
          <a:sy n="104" d="100"/>
        </p:scale>
        <p:origin x="744" y="2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5" Type="http://schemas.openxmlformats.org/officeDocument/2006/relationships/slide" Target="slides/slide43.xml"/><Relationship Id="rId6" Type="http://schemas.openxmlformats.org/officeDocument/2006/relationships/slide" Target="slides/slide42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notesMaster" Target="notesMasters/notesMaster1.xml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heme" Target="theme/theme1.xml"/><Relationship Id="rId5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4621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CI/CD, the Cloud, and Infrastructure as Code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ML Capstone · Lecture 2</a:t>
            </a:r>
          </a:p>
          <a:p>
            <a:r>
              <a:t>From a container on your laptop to a URL users can visit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You Are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You can build an image and run a container</a:t>
            </a:r>
          </a:p>
          <a:p>
            <a:pPr/>
            <a:r>
              <a:rPr sz="2000"/>
              <a:t>You can push code to GitHub</a:t>
            </a:r>
          </a:p>
          <a:p>
            <a:pPr/>
            <a:r>
              <a:rPr sz="2000"/>
              <a:t>Your app runs — on your machine</a:t>
            </a:r>
          </a:p>
          <a:p>
            <a:pPr/>
            <a:r>
              <a:rPr sz="2000"/>
              <a:t>Missing: how does it get to a user?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Gap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"It works on my machine" is where we started</a:t>
            </a:r>
          </a:p>
          <a:p>
            <a:pPr/>
            <a:r>
              <a:rPr sz="2000"/>
              <a:t>"It works for users" is a different problem</a:t>
            </a:r>
          </a:p>
          <a:p>
            <a:pPr/>
            <a:r>
              <a:rPr sz="2000"/>
              <a:t>Someone has to build it — every time, the same way</a:t>
            </a:r>
          </a:p>
          <a:p>
            <a:pPr/>
            <a:r>
              <a:rPr sz="2000"/>
              <a:t>Someone has to run it — somewhere always on</a:t>
            </a:r>
          </a:p>
          <a:p>
            <a:pPr/>
            <a:r>
              <a:rPr sz="2000"/>
              <a:t>Someone has to decide it is safe to replace what is live</a:t>
            </a:r>
          </a:p>
          <a:p>
            <a:pPr/>
            <a:r>
              <a:rPr sz="2000"/>
              <a:t>Doing that by hand does not survive contact with a semester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 Are Building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One repo per student, two live environments</a:t>
            </a:r>
          </a:p>
          <a:p>
            <a:pPr/>
            <a:r>
              <a:rPr sz="2000"/>
              <a:t>Push code → tests run → app deploys → users see it</a:t>
            </a:r>
          </a:p>
          <a:p>
            <a:pPr/>
            <a:r>
              <a:rPr sz="2000"/>
              <a:t>Nobody clicks anything to deploy</a:t>
            </a:r>
          </a:p>
          <a:p>
            <a:pPr/>
            <a:r>
              <a:rPr sz="2000"/>
              <a:t>The same pipeline professionals use, scaled down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System, End to End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1554480"/>
            <a:ext cx="2468880" cy="3017520"/>
          </a:xfrm>
          <a:prstGeom prst="rect">
            <a:avLst/>
          </a:prstGeom>
          <a:solidFill>
            <a:srgbClr val="F2F2F2"/>
          </a:solidFill>
          <a:ln w="15875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1591056"/>
            <a:ext cx="2340864" cy="23774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000" b="1" i="0">
                <a:solidFill>
                  <a:srgbClr val="1F497D"/>
                </a:solidFill>
              </a:rPr>
              <a:t>YOUR LAPTOP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883664"/>
            <a:ext cx="2194560" cy="3657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>
                <a:solidFill>
                  <a:srgbClr val="262626"/>
                </a:solidFill>
              </a:rPr>
              <a:t>editor  +  git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359152"/>
            <a:ext cx="2194560" cy="138988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0624" y="2395728"/>
            <a:ext cx="2084831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900" b="1" i="0">
                <a:solidFill>
                  <a:srgbClr val="4F81BD"/>
                </a:solidFill>
              </a:rPr>
              <a:t>Docker Desktop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" y="2688336"/>
            <a:ext cx="731520" cy="329184"/>
          </a:xfrm>
          <a:prstGeom prst="round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0">
                <a:solidFill>
                  <a:srgbClr val="FFFFFF"/>
                </a:solidFill>
              </a:rPr>
              <a:t>hello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80160" y="2688336"/>
            <a:ext cx="658368" cy="329184"/>
          </a:xfrm>
          <a:prstGeom prst="round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0">
                <a:solidFill>
                  <a:srgbClr val="FFFFFF"/>
                </a:solidFill>
              </a:rPr>
              <a:t>time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93392" y="2688336"/>
            <a:ext cx="548640" cy="329184"/>
          </a:xfrm>
          <a:prstGeom prst="round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0">
                <a:solidFill>
                  <a:srgbClr val="FFFFFF"/>
                </a:solidFill>
              </a:rPr>
              <a:t>db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" y="3108960"/>
            <a:ext cx="2084831" cy="5486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850" b="0" i="0">
                <a:solidFill>
                  <a:srgbClr val="262626"/>
                </a:solidFill>
              </a:rPr>
              <a:t>docker compose up</a:t>
            </a:r>
          </a:p>
          <a:p>
            <a:pPr algn="ctr"/>
            <a:r>
              <a:rPr sz="850" b="0" i="0">
                <a:solidFill>
                  <a:srgbClr val="262626"/>
                </a:solidFill>
              </a:rPr>
              <a:t>same 3 services as production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" y="3840480"/>
            <a:ext cx="2340864" cy="6400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900" b="0" i="1">
                <a:solidFill>
                  <a:srgbClr val="1F497D"/>
                </a:solidFill>
              </a:rPr>
              <a:t>You test here first.</a:t>
            </a:r>
          </a:p>
          <a:p>
            <a:pPr algn="ctr"/>
            <a:r>
              <a:rPr sz="900" b="0" i="1">
                <a:solidFill>
                  <a:srgbClr val="1F497D"/>
                </a:solidFill>
              </a:rPr>
              <a:t>Fast, free, nobody sees 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6120" y="1554480"/>
            <a:ext cx="2331720" cy="3017520"/>
          </a:xfrm>
          <a:prstGeom prst="rect">
            <a:avLst/>
          </a:prstGeom>
          <a:solidFill>
            <a:srgbClr val="F2F2F2"/>
          </a:solidFill>
          <a:ln w="15875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40" y="1591056"/>
            <a:ext cx="2240280" cy="23774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000" b="1" i="0">
                <a:solidFill>
                  <a:srgbClr val="1F497D"/>
                </a:solidFill>
              </a:rPr>
              <a:t>GITHUB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64992" y="1883664"/>
            <a:ext cx="2103120" cy="34747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0">
                <a:solidFill>
                  <a:srgbClr val="262626"/>
                </a:solidFill>
              </a:rPr>
              <a:t>repo:  yourname-hello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64992" y="2304288"/>
            <a:ext cx="987552" cy="310896"/>
          </a:xfrm>
          <a:prstGeom prst="roundRect">
            <a:avLst/>
          </a:prstGeom>
          <a:solidFill>
            <a:srgbClr val="F79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0">
                <a:solidFill>
                  <a:srgbClr val="FFFFFF"/>
                </a:solidFill>
              </a:rPr>
              <a:t>staging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60" y="2304288"/>
            <a:ext cx="987552" cy="310896"/>
          </a:xfrm>
          <a:prstGeom prst="roundRect">
            <a:avLst/>
          </a:prstGeom>
          <a:solidFill>
            <a:srgbClr val="9BB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0">
                <a:solidFill>
                  <a:srgbClr val="FFFFFF"/>
                </a:solidFill>
              </a:rPr>
              <a:t>main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64992" y="2724912"/>
            <a:ext cx="2103120" cy="142646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806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19856" y="2761488"/>
            <a:ext cx="1993392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900" b="1" i="0">
                <a:solidFill>
                  <a:srgbClr val="8064A2"/>
                </a:solidFill>
              </a:rPr>
              <a:t>GitHub Actions  (CI)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56432" y="3035808"/>
            <a:ext cx="1920240" cy="292608"/>
          </a:xfrm>
          <a:prstGeom prst="roundRect">
            <a:avLst/>
          </a:prstGeom>
          <a:solidFill>
            <a:srgbClr val="806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0">
                <a:solidFill>
                  <a:srgbClr val="FFFFFF"/>
                </a:solidFill>
              </a:rPr>
              <a:t>run tests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56432" y="3383280"/>
            <a:ext cx="1920240" cy="292608"/>
          </a:xfrm>
          <a:prstGeom prst="roundRect">
            <a:avLst/>
          </a:prstGeom>
          <a:solidFill>
            <a:srgbClr val="F79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50" b="0">
                <a:solidFill>
                  <a:srgbClr val="FFFFFF"/>
                </a:solidFill>
              </a:rPr>
              <a:t>deploy-staging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56432" y="3730752"/>
            <a:ext cx="1920240" cy="292608"/>
          </a:xfrm>
          <a:prstGeom prst="roundRect">
            <a:avLst/>
          </a:prstGeom>
          <a:solidFill>
            <a:srgbClr val="9BB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50" b="0">
                <a:solidFill>
                  <a:srgbClr val="FFFFFF"/>
                </a:solidFill>
              </a:rPr>
              <a:t>deploy-prod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4187952"/>
            <a:ext cx="224028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900" b="0" i="1">
                <a:solidFill>
                  <a:srgbClr val="1F497D"/>
                </a:solidFill>
              </a:rPr>
              <a:t>tests gate both deploys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1554480"/>
            <a:ext cx="2788920" cy="4160520"/>
          </a:xfrm>
          <a:prstGeom prst="rect">
            <a:avLst/>
          </a:prstGeom>
          <a:solidFill>
            <a:srgbClr val="F2F2F2"/>
          </a:solidFill>
          <a:ln w="15875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72200" y="1591056"/>
            <a:ext cx="2697480" cy="23774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950" b="1" i="0">
                <a:solidFill>
                  <a:srgbClr val="1F497D"/>
                </a:solidFill>
              </a:rPr>
              <a:t>CLOUD HOST — rigel.cs.byu.edu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99632" y="1847088"/>
            <a:ext cx="2642616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850" b="0" i="0">
                <a:solidFill>
                  <a:srgbClr val="1F497D"/>
                </a:solidFill>
              </a:rPr>
              <a:t>Coolify — builds images, runs containers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2121408"/>
            <a:ext cx="2514600" cy="1042415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79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2157984"/>
            <a:ext cx="2414016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900" b="1" i="0">
                <a:solidFill>
                  <a:srgbClr val="F79646"/>
                </a:solidFill>
              </a:rPr>
              <a:t>STAGING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82512" y="2432303"/>
            <a:ext cx="731520" cy="310896"/>
          </a:xfrm>
          <a:prstGeom prst="roundRect">
            <a:avLst/>
          </a:prstGeom>
          <a:solidFill>
            <a:srgbClr val="F79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0">
                <a:solidFill>
                  <a:srgbClr val="FFFFFF"/>
                </a:solidFill>
              </a:rPr>
              <a:t>hello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87184" y="2432303"/>
            <a:ext cx="658368" cy="310896"/>
          </a:xfrm>
          <a:prstGeom prst="roundRect">
            <a:avLst/>
          </a:prstGeom>
          <a:solidFill>
            <a:srgbClr val="F79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0">
                <a:solidFill>
                  <a:srgbClr val="FFFFFF"/>
                </a:solidFill>
              </a:rPr>
              <a:t>time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0416" y="2432303"/>
            <a:ext cx="548640" cy="310896"/>
          </a:xfrm>
          <a:prstGeom prst="roundRect">
            <a:avLst/>
          </a:prstGeom>
          <a:solidFill>
            <a:srgbClr val="F79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0">
                <a:solidFill>
                  <a:srgbClr val="FFFFFF"/>
                </a:solidFill>
              </a:rPr>
              <a:t>db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2798063"/>
            <a:ext cx="2414016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800" b="0" i="1">
                <a:solidFill>
                  <a:srgbClr val="1F497D"/>
                </a:solidFill>
              </a:rPr>
              <a:t>own database volume — never shared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63640" y="3273552"/>
            <a:ext cx="2514600" cy="1042415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9BBB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60" y="3310128"/>
            <a:ext cx="2414016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900" b="1" i="0">
                <a:solidFill>
                  <a:srgbClr val="9BBB59"/>
                </a:solidFill>
              </a:rPr>
              <a:t>PRODUCTION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82512" y="3584448"/>
            <a:ext cx="731520" cy="310896"/>
          </a:xfrm>
          <a:prstGeom prst="roundRect">
            <a:avLst/>
          </a:prstGeom>
          <a:solidFill>
            <a:srgbClr val="9BB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0">
                <a:solidFill>
                  <a:srgbClr val="FFFFFF"/>
                </a:solidFill>
              </a:rPr>
              <a:t>hello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187184" y="3584448"/>
            <a:ext cx="658368" cy="310896"/>
          </a:xfrm>
          <a:prstGeom prst="roundRect">
            <a:avLst/>
          </a:prstGeom>
          <a:solidFill>
            <a:srgbClr val="9BB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0">
                <a:solidFill>
                  <a:srgbClr val="FFFFFF"/>
                </a:solidFill>
              </a:rPr>
              <a:t>time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900416" y="3584448"/>
            <a:ext cx="548640" cy="310896"/>
          </a:xfrm>
          <a:prstGeom prst="roundRect">
            <a:avLst/>
          </a:prstGeom>
          <a:solidFill>
            <a:srgbClr val="9BB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0">
                <a:solidFill>
                  <a:srgbClr val="FFFFFF"/>
                </a:solidFill>
              </a:rPr>
              <a:t>db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3950208"/>
            <a:ext cx="2414016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800" b="0" i="1">
                <a:solidFill>
                  <a:srgbClr val="1F497D"/>
                </a:solidFill>
              </a:rPr>
              <a:t>own database volume — never shared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63640" y="4443984"/>
            <a:ext cx="2514600" cy="402336"/>
          </a:xfrm>
          <a:prstGeom prst="roundRect">
            <a:avLst/>
          </a:prstGeom>
          <a:solidFill>
            <a:srgbClr val="4BAC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0">
                <a:solidFill>
                  <a:srgbClr val="FFFFFF"/>
                </a:solidFill>
              </a:rPr>
              <a:t>Traefik  —  routes by hostname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99632" y="4919472"/>
            <a:ext cx="2642616" cy="6400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800" b="0" i="0">
                <a:solidFill>
                  <a:srgbClr val="1F497D"/>
                </a:solidFill>
              </a:rPr>
              <a:t>yourname-hello-staging.ml-capstone.cs.byu.edu</a:t>
            </a:r>
          </a:p>
          <a:p>
            <a:pPr algn="ctr"/>
            <a:r>
              <a:rPr sz="800" b="0" i="0">
                <a:solidFill>
                  <a:srgbClr val="1F497D"/>
                </a:solidFill>
              </a:rPr>
              <a:t>yourname-hello.ml-capstone.cs.byu.edu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720840" y="6053328"/>
            <a:ext cx="1600200" cy="438912"/>
          </a:xfrm>
          <a:prstGeom prst="round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>
                <a:solidFill>
                  <a:srgbClr val="FFFFFF"/>
                </a:solidFill>
              </a:rPr>
              <a:t>USERS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26480" y="6473952"/>
            <a:ext cx="27889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850" b="0" i="0">
                <a:solidFill>
                  <a:srgbClr val="1F497D"/>
                </a:solidFill>
              </a:rPr>
              <a:t>browser, on the CS VPN</a:t>
            </a:r>
          </a:p>
        </p:txBody>
      </p:sp>
      <p:sp>
        <p:nvSpPr>
          <p:cNvPr id="43" name="Up Arrow 42"/>
          <p:cNvSpPr/>
          <p:nvPr/>
        </p:nvSpPr>
        <p:spPr>
          <a:xfrm>
            <a:off x="7370064" y="5742432"/>
            <a:ext cx="292608" cy="274320"/>
          </a:xfrm>
          <a:prstGeom prst="upArrow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ight Arrow 43"/>
          <p:cNvSpPr/>
          <p:nvPr/>
        </p:nvSpPr>
        <p:spPr>
          <a:xfrm>
            <a:off x="2734056" y="2304288"/>
            <a:ext cx="475488" cy="310896"/>
          </a:xfrm>
          <a:prstGeom prst="rightArrow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587752" y="2029968"/>
            <a:ext cx="768096" cy="23774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850" b="1" i="0">
                <a:solidFill>
                  <a:srgbClr val="1F497D"/>
                </a:solidFill>
              </a:rPr>
              <a:t>git push</a:t>
            </a:r>
          </a:p>
        </p:txBody>
      </p:sp>
      <p:sp>
        <p:nvSpPr>
          <p:cNvPr id="46" name="Right Arrow 45"/>
          <p:cNvSpPr/>
          <p:nvPr/>
        </p:nvSpPr>
        <p:spPr>
          <a:xfrm>
            <a:off x="5614416" y="2304288"/>
            <a:ext cx="475488" cy="310896"/>
          </a:xfrm>
          <a:prstGeom prst="rightArrow">
            <a:avLst/>
          </a:prstGeom>
          <a:solidFill>
            <a:srgbClr val="C0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31536" y="1956816"/>
            <a:ext cx="841248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800" b="1" i="0">
                <a:solidFill>
                  <a:srgbClr val="C0504D"/>
                </a:solidFill>
              </a:rPr>
              <a:t>deploy</a:t>
            </a:r>
          </a:p>
          <a:p>
            <a:pPr algn="ctr"/>
            <a:r>
              <a:rPr sz="800" b="1" i="0">
                <a:solidFill>
                  <a:srgbClr val="C0504D"/>
                </a:solidFill>
              </a:rPr>
              <a:t>webhook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Your Laptop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Docker Compose runs the same three services production runs</a:t>
            </a:r>
          </a:p>
          <a:p>
            <a:pPr lvl="1"/>
            <a:r>
              <a:rPr sz="1700">
                <a:solidFill>
                  <a:srgbClr val="404040"/>
                </a:solidFill>
              </a:rPr>
              <a:t>hello — your app, the only one users reach</a:t>
            </a:r>
          </a:p>
          <a:p>
            <a:pPr lvl="1"/>
            <a:r>
              <a:rPr sz="1700">
                <a:solidFill>
                  <a:srgbClr val="404040"/>
                </a:solidFill>
              </a:rPr>
              <a:t>time — a sidecar; stands in for a worker or model server</a:t>
            </a:r>
          </a:p>
          <a:p>
            <a:pPr lvl="1"/>
            <a:r>
              <a:rPr sz="1700">
                <a:solidFill>
                  <a:srgbClr val="404040"/>
                </a:solidFill>
              </a:rPr>
              <a:t>db — Postgres, your data</a:t>
            </a:r>
          </a:p>
          <a:p>
            <a:pPr/>
            <a:r>
              <a:rPr sz="2000"/>
              <a:t>If it does not work here, it will not work there</a:t>
            </a:r>
          </a:p>
          <a:p>
            <a:pPr/>
            <a:r>
              <a:rPr sz="2000"/>
              <a:t>Fast feedback: seconds, not a deploy cycle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GitHub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Holds the code — and the history of every change</a:t>
            </a:r>
          </a:p>
          <a:p>
            <a:pPr/>
            <a:r>
              <a:rPr sz="2000"/>
              <a:t>Two branches, two meanings:</a:t>
            </a:r>
          </a:p>
          <a:p>
            <a:pPr lvl="1"/>
            <a:r>
              <a:rPr sz="1700">
                <a:solidFill>
                  <a:srgbClr val="404040"/>
                </a:solidFill>
              </a:rPr>
              <a:t>staging — what you are trying</a:t>
            </a:r>
          </a:p>
          <a:p>
            <a:pPr lvl="1"/>
            <a:r>
              <a:rPr sz="1700">
                <a:solidFill>
                  <a:srgbClr val="404040"/>
                </a:solidFill>
              </a:rPr>
              <a:t>main — what users get</a:t>
            </a:r>
          </a:p>
          <a:p>
            <a:pPr/>
            <a:r>
              <a:rPr sz="2000"/>
              <a:t>GitHub Actions is a computer that runs your tests on every push</a:t>
            </a:r>
          </a:p>
          <a:p>
            <a:pPr/>
            <a:r>
              <a:rPr sz="2000"/>
              <a:t>It is the only thing allowed to trigger a deploy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Cloud Host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Coolify is a PaaS — a layer over Docker that manages deploys</a:t>
            </a:r>
          </a:p>
          <a:p>
            <a:pPr/>
            <a:r>
              <a:rPr sz="2000"/>
              <a:t>It clones your repo, builds the image, starts the containers</a:t>
            </a:r>
          </a:p>
          <a:p>
            <a:pPr/>
            <a:r>
              <a:rPr sz="2000"/>
              <a:t>Two environments, fully separate, including databases</a:t>
            </a:r>
          </a:p>
          <a:p>
            <a:pPr/>
            <a:r>
              <a:rPr sz="2000"/>
              <a:t>Traefik sits in front and routes by hostname</a:t>
            </a:r>
          </a:p>
          <a:p>
            <a:pPr lvl="1"/>
            <a:r>
              <a:rPr sz="1700">
                <a:solidFill>
                  <a:srgbClr val="404040"/>
                </a:solidFill>
              </a:rPr>
              <a:t>one machine, many students, no port collisions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They type a hostname — they never see containers</a:t>
            </a:r>
          </a:p>
          <a:p>
            <a:pPr/>
            <a:r>
              <a:rPr sz="2000"/>
              <a:t>Wildcard DNS: *.ml-capstone.cs.byu.edu → the class host</a:t>
            </a:r>
          </a:p>
          <a:p>
            <a:pPr/>
            <a:r>
              <a:rPr sz="2000"/>
              <a:t>Your repo name becomes your hostname</a:t>
            </a:r>
          </a:p>
          <a:p>
            <a:pPr/>
            <a:r>
              <a:rPr sz="2000"/>
              <a:t>On the CS VPN, because this is a classroom cluster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Two Environments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Production is what users see. It should be boring.</a:t>
            </a:r>
          </a:p>
          <a:p>
            <a:pPr/>
            <a:r>
              <a:rPr sz="2000"/>
              <a:t>Staging is where you find out you were wrong</a:t>
            </a:r>
          </a:p>
          <a:p>
            <a:pPr/>
            <a:r>
              <a:rPr sz="2000"/>
              <a:t>Same image, same compose file, different data and URL</a:t>
            </a:r>
          </a:p>
          <a:p>
            <a:pPr/>
            <a:r>
              <a:rPr sz="2000"/>
              <a:t>Nothing reaches production without passing through staging</a:t>
            </a:r>
          </a:p>
          <a:p>
            <a:pPr/>
            <a:r>
              <a:rPr sz="2000"/>
              <a:t>This is not a classroom invention — it is standard practice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Continuous Integration &amp; Continuous Deployment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What happens between 'git push' and a user seeing it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 and CD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Continuous Integration — every change is built and tested, automatically</a:t>
            </a:r>
          </a:p>
          <a:p>
            <a:pPr lvl="1"/>
            <a:r>
              <a:rPr sz="1700">
                <a:solidFill>
                  <a:srgbClr val="404040"/>
                </a:solidFill>
              </a:rPr>
              <a:t>catches the break in minutes, not next Tuesday</a:t>
            </a:r>
          </a:p>
          <a:p>
            <a:pPr/>
            <a:r>
              <a:rPr sz="2000"/>
              <a:t>Continuous Deployment — every change that passes goes live, automatically</a:t>
            </a:r>
          </a:p>
          <a:p>
            <a:pPr lvl="1"/>
            <a:r>
              <a:rPr sz="1700">
                <a:solidFill>
                  <a:srgbClr val="404040"/>
                </a:solidFill>
              </a:rPr>
              <a:t>the deploy is boring because it happens constantly</a:t>
            </a:r>
          </a:p>
          <a:p>
            <a:pPr/>
            <a:r>
              <a:rPr sz="2000"/>
              <a:t>The point is not speed. The point is that it is the same every time.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One Push, Step by Step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" y="1691640"/>
            <a:ext cx="1508760" cy="914400"/>
          </a:xfrm>
          <a:prstGeom prst="round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>
                <a:solidFill>
                  <a:srgbClr val="FFFFFF"/>
                </a:solidFill>
              </a:rPr>
              <a:t>1</a:t>
            </a:r>
          </a:p>
          <a:p>
            <a:pPr algn="ctr"/>
            <a:r>
              <a:rPr sz="1000" b="0">
                <a:solidFill>
                  <a:srgbClr val="FFFFFF"/>
                </a:solidFill>
              </a:rPr>
              <a:t>push to</a:t>
            </a:r>
          </a:p>
          <a:p>
            <a:pPr algn="ctr"/>
            <a:r>
              <a:rPr sz="1000" b="0">
                <a:solidFill>
                  <a:srgbClr val="FFFFFF"/>
                </a:solidFill>
              </a:rPr>
              <a:t>staging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11680" y="1691640"/>
            <a:ext cx="1508760" cy="914400"/>
          </a:xfrm>
          <a:prstGeom prst="roundRect">
            <a:avLst/>
          </a:prstGeom>
          <a:solidFill>
            <a:srgbClr val="806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>
                <a:solidFill>
                  <a:srgbClr val="FFFFFF"/>
                </a:solidFill>
              </a:rPr>
              <a:t>2</a:t>
            </a:r>
          </a:p>
          <a:p>
            <a:pPr algn="ctr"/>
            <a:r>
              <a:rPr sz="1000" b="0">
                <a:solidFill>
                  <a:srgbClr val="FFFFFF"/>
                </a:solidFill>
              </a:rPr>
              <a:t>Actions</a:t>
            </a:r>
          </a:p>
          <a:p>
            <a:pPr algn="ctr"/>
            <a:r>
              <a:rPr sz="1000" b="0">
                <a:solidFill>
                  <a:srgbClr val="FFFFFF"/>
                </a:solidFill>
              </a:rPr>
              <a:t>runs tests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703320" y="1691640"/>
            <a:ext cx="1508760" cy="914400"/>
          </a:xfrm>
          <a:prstGeom prst="roundRect">
            <a:avLst/>
          </a:prstGeom>
          <a:solidFill>
            <a:srgbClr val="C0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>
                <a:solidFill>
                  <a:srgbClr val="FFFFFF"/>
                </a:solidFill>
              </a:rPr>
              <a:t>3</a:t>
            </a:r>
          </a:p>
          <a:p>
            <a:pPr algn="ctr"/>
            <a:r>
              <a:rPr sz="1000" b="0">
                <a:solidFill>
                  <a:srgbClr val="FFFFFF"/>
                </a:solidFill>
              </a:rPr>
              <a:t>POST deploy</a:t>
            </a:r>
          </a:p>
          <a:p>
            <a:pPr algn="ctr"/>
            <a:r>
              <a:rPr sz="1000" b="0">
                <a:solidFill>
                  <a:srgbClr val="FFFFFF"/>
                </a:solidFill>
              </a:rPr>
              <a:t>webhook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94960" y="1691640"/>
            <a:ext cx="1508760" cy="914400"/>
          </a:xfrm>
          <a:prstGeom prst="roundRect">
            <a:avLst/>
          </a:prstGeom>
          <a:solidFill>
            <a:srgbClr val="4BAC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>
                <a:solidFill>
                  <a:srgbClr val="FFFFFF"/>
                </a:solidFill>
              </a:rPr>
              <a:t>4</a:t>
            </a:r>
          </a:p>
          <a:p>
            <a:pPr algn="ctr"/>
            <a:r>
              <a:rPr sz="1000" b="0">
                <a:solidFill>
                  <a:srgbClr val="FFFFFF"/>
                </a:solidFill>
              </a:rPr>
              <a:t>Coolify builds</a:t>
            </a:r>
          </a:p>
          <a:p>
            <a:pPr algn="ctr"/>
            <a:r>
              <a:rPr sz="1000" b="0">
                <a:solidFill>
                  <a:srgbClr val="FFFFFF"/>
                </a:solidFill>
              </a:rPr>
              <a:t>+ starts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86600" y="1691640"/>
            <a:ext cx="1508760" cy="914400"/>
          </a:xfrm>
          <a:prstGeom prst="roundRect">
            <a:avLst/>
          </a:prstGeom>
          <a:solidFill>
            <a:srgbClr val="F79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>
                <a:solidFill>
                  <a:srgbClr val="FFFFFF"/>
                </a:solidFill>
              </a:rPr>
              <a:t>5</a:t>
            </a:r>
          </a:p>
          <a:p>
            <a:pPr algn="ctr"/>
            <a:r>
              <a:rPr sz="1000" b="0">
                <a:solidFill>
                  <a:srgbClr val="FFFFFF"/>
                </a:solidFill>
              </a:rPr>
              <a:t>/health</a:t>
            </a:r>
          </a:p>
          <a:p>
            <a:pPr algn="ctr"/>
            <a:r>
              <a:rPr sz="1000" b="0">
                <a:solidFill>
                  <a:srgbClr val="FFFFFF"/>
                </a:solidFill>
              </a:rPr>
              <a:t>checks out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847088" y="2011680"/>
            <a:ext cx="146304" cy="274320"/>
          </a:xfrm>
          <a:prstGeom prst="rightArrow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ight Arrow 8"/>
          <p:cNvSpPr/>
          <p:nvPr/>
        </p:nvSpPr>
        <p:spPr>
          <a:xfrm>
            <a:off x="3538728" y="2011680"/>
            <a:ext cx="146304" cy="274320"/>
          </a:xfrm>
          <a:prstGeom prst="rightArrow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5230368" y="2011680"/>
            <a:ext cx="146304" cy="274320"/>
          </a:xfrm>
          <a:prstGeom prst="rightArrow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6922008" y="2011680"/>
            <a:ext cx="146304" cy="274320"/>
          </a:xfrm>
          <a:prstGeom prst="rightArrow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2697480"/>
            <a:ext cx="827532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200" b="1" i="0">
                <a:solidFill>
                  <a:srgbClr val="F79646"/>
                </a:solidFill>
              </a:rPr>
              <a:t>→  live at  yourname-hello-staging.ml-capstone.cs.byu.edu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" y="3154680"/>
            <a:ext cx="8275320" cy="566928"/>
          </a:xfrm>
          <a:prstGeom prst="roundRect">
            <a:avLst/>
          </a:prstGeom>
          <a:noFill/>
          <a:ln w="15875">
            <a:solidFill>
              <a:srgbClr val="C05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0">
                <a:solidFill>
                  <a:srgbClr val="C0504D"/>
                </a:solidFill>
              </a:rPr>
              <a:t>If the tests fail at step 2, steps 3–5 never run.  Nothing deploys.  The old container keeps serving.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" y="3931920"/>
            <a:ext cx="1508760" cy="914400"/>
          </a:xfrm>
          <a:prstGeom prst="round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>
                <a:solidFill>
                  <a:srgbClr val="FFFFFF"/>
                </a:solidFill>
              </a:rPr>
              <a:t>6</a:t>
            </a:r>
          </a:p>
          <a:p>
            <a:pPr algn="ctr"/>
            <a:r>
              <a:rPr sz="1000" b="0">
                <a:solidFill>
                  <a:srgbClr val="FFFFFF"/>
                </a:solidFill>
              </a:rPr>
              <a:t>open a PR</a:t>
            </a:r>
          </a:p>
          <a:p>
            <a:pPr algn="ctr"/>
            <a:r>
              <a:rPr sz="1000" b="0">
                <a:solidFill>
                  <a:srgbClr val="FFFFFF"/>
                </a:solidFill>
              </a:rPr>
              <a:t>staging → main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11680" y="3931920"/>
            <a:ext cx="1508760" cy="914400"/>
          </a:xfrm>
          <a:prstGeom prst="roundRect">
            <a:avLst/>
          </a:prstGeom>
          <a:solidFill>
            <a:srgbClr val="806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>
                <a:solidFill>
                  <a:srgbClr val="FFFFFF"/>
                </a:solidFill>
              </a:rPr>
              <a:t>7</a:t>
            </a:r>
          </a:p>
          <a:p>
            <a:pPr algn="ctr"/>
            <a:r>
              <a:rPr sz="1000" b="0">
                <a:solidFill>
                  <a:srgbClr val="FFFFFF"/>
                </a:solidFill>
              </a:rPr>
              <a:t>tests run</a:t>
            </a:r>
          </a:p>
          <a:p>
            <a:pPr algn="ctr"/>
            <a:r>
              <a:rPr sz="1000" b="0">
                <a:solidFill>
                  <a:srgbClr val="FFFFFF"/>
                </a:solidFill>
              </a:rPr>
              <a:t>again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03320" y="3931920"/>
            <a:ext cx="1508760" cy="914400"/>
          </a:xfrm>
          <a:prstGeom prst="roundRect">
            <a:avLst/>
          </a:prstGeom>
          <a:solidFill>
            <a:srgbClr val="9BB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>
                <a:solidFill>
                  <a:srgbClr val="FFFFFF"/>
                </a:solidFill>
              </a:rPr>
              <a:t>8</a:t>
            </a:r>
          </a:p>
          <a:p>
            <a:pPr algn="ctr"/>
            <a:r>
              <a:rPr sz="1000" b="0">
                <a:solidFill>
                  <a:srgbClr val="FFFFFF"/>
                </a:solidFill>
              </a:rPr>
              <a:t>merge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94960" y="3931920"/>
            <a:ext cx="1508760" cy="914400"/>
          </a:xfrm>
          <a:prstGeom prst="roundRect">
            <a:avLst/>
          </a:prstGeom>
          <a:solidFill>
            <a:srgbClr val="C0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>
                <a:solidFill>
                  <a:srgbClr val="FFFFFF"/>
                </a:solidFill>
              </a:rPr>
              <a:t>9</a:t>
            </a:r>
          </a:p>
          <a:p>
            <a:pPr algn="ctr"/>
            <a:r>
              <a:rPr sz="1000" b="0">
                <a:solidFill>
                  <a:srgbClr val="FFFFFF"/>
                </a:solidFill>
              </a:rPr>
              <a:t>same deploy,</a:t>
            </a:r>
          </a:p>
          <a:p>
            <a:pPr algn="ctr"/>
            <a:r>
              <a:rPr sz="1000" b="0">
                <a:solidFill>
                  <a:srgbClr val="FFFFFF"/>
                </a:solidFill>
              </a:rPr>
              <a:t>prod webhook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86600" y="3931920"/>
            <a:ext cx="1508760" cy="914400"/>
          </a:xfrm>
          <a:prstGeom prst="roundRect">
            <a:avLst/>
          </a:prstGeom>
          <a:solidFill>
            <a:srgbClr val="9BB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>
                <a:solidFill>
                  <a:srgbClr val="FFFFFF"/>
                </a:solidFill>
              </a:rPr>
              <a:t>10</a:t>
            </a:r>
          </a:p>
          <a:p>
            <a:pPr algn="ctr"/>
            <a:r>
              <a:rPr sz="1000" b="0">
                <a:solidFill>
                  <a:srgbClr val="FFFFFF"/>
                </a:solidFill>
              </a:rPr>
              <a:t>production</a:t>
            </a:r>
          </a:p>
          <a:p>
            <a:pPr algn="ctr"/>
            <a:r>
              <a:rPr sz="1000" b="0">
                <a:solidFill>
                  <a:srgbClr val="FFFFFF"/>
                </a:solidFill>
              </a:rPr>
              <a:t>swapped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1847088" y="4251960"/>
            <a:ext cx="146304" cy="274320"/>
          </a:xfrm>
          <a:prstGeom prst="rightArrow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ight Arrow 19"/>
          <p:cNvSpPr/>
          <p:nvPr/>
        </p:nvSpPr>
        <p:spPr>
          <a:xfrm>
            <a:off x="3538728" y="4251960"/>
            <a:ext cx="146304" cy="274320"/>
          </a:xfrm>
          <a:prstGeom prst="rightArrow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ight Arrow 20"/>
          <p:cNvSpPr/>
          <p:nvPr/>
        </p:nvSpPr>
        <p:spPr>
          <a:xfrm>
            <a:off x="5230368" y="4251960"/>
            <a:ext cx="146304" cy="274320"/>
          </a:xfrm>
          <a:prstGeom prst="rightArrow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ight Arrow 21"/>
          <p:cNvSpPr/>
          <p:nvPr/>
        </p:nvSpPr>
        <p:spPr>
          <a:xfrm>
            <a:off x="6922008" y="4251960"/>
            <a:ext cx="146304" cy="274320"/>
          </a:xfrm>
          <a:prstGeom prst="rightArrow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4937760"/>
            <a:ext cx="827532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200" b="1" i="0">
                <a:solidFill>
                  <a:srgbClr val="9BBB59"/>
                </a:solidFill>
              </a:rPr>
              <a:t>→  live at  yourname-hello.ml-capstone.cs.byu.edu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" y="5440680"/>
            <a:ext cx="8275320" cy="8229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200" b="0" i="1">
                <a:solidFill>
                  <a:srgbClr val="1F497D"/>
                </a:solidFill>
              </a:rPr>
              <a:t>You do steps 1, 6 and 8.  Everything else is automation you configured once.</a:t>
            </a:r>
          </a:p>
          <a:p>
            <a:pPr algn="ctr"/>
            <a:r>
              <a:rPr sz="1200" b="0" i="1">
                <a:solidFill>
                  <a:srgbClr val="1F497D"/>
                </a:solidFill>
              </a:rPr>
              <a:t>The review in step 6 is the last human checkpoint before users are affected.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Pipeline Is Three Jobs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test — runs on every push and every PR</a:t>
            </a:r>
          </a:p>
          <a:p>
            <a:pPr/>
            <a:r>
              <a:rPr sz="2000"/>
              <a:t>deploy-staging — only on a push to staging, only if tests passed</a:t>
            </a:r>
          </a:p>
          <a:p>
            <a:pPr/>
            <a:r>
              <a:rPr sz="2000"/>
              <a:t>deploy-prod — only on a push to main, only if tests passed</a:t>
            </a:r>
          </a:p>
          <a:p>
            <a:pPr/>
            <a:r>
              <a:rPr sz="2000"/>
              <a:t>Written once in .github/workflows/ci.yml, in your repo</a:t>
            </a:r>
          </a:p>
          <a:p>
            <a:pPr/>
            <a:r>
              <a:rPr sz="2000"/>
              <a:t>The branch decides which environment. Nothing else does.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That Looks Like in YAML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F497D"/>
                </a:solidFill>
                <a:latin typeface="Consolas"/>
              </a:rPr>
              <a:t>jobs:</a:t>
            </a:r>
          </a:p>
          <a:p>
            <a:r>
              <a:rPr sz="1300">
                <a:solidFill>
                  <a:srgbClr val="262626"/>
                </a:solidFill>
                <a:latin typeface="Consolas"/>
              </a:rPr>
              <a:t>  test:</a:t>
            </a:r>
          </a:p>
          <a:p>
            <a:r>
              <a:rPr sz="1300">
                <a:solidFill>
                  <a:srgbClr val="262626"/>
                </a:solidFill>
                <a:latin typeface="Consolas"/>
              </a:rPr>
              <a:t>    runs-on: ubuntu-latest</a:t>
            </a:r>
          </a:p>
          <a:p>
            <a:r>
              <a:rPr sz="1300">
                <a:solidFill>
                  <a:srgbClr val="262626"/>
                </a:solidFill>
                <a:latin typeface="Consolas"/>
              </a:rPr>
              <a:t>    steps: [ checkout, install deps, pytest ]</a:t>
            </a:r>
          </a:p>
          <a:p/>
          <a:p>
            <a:r>
              <a:rPr sz="1300">
                <a:solidFill>
                  <a:srgbClr val="262626"/>
                </a:solidFill>
                <a:latin typeface="Consolas"/>
              </a:rPr>
              <a:t>  deploy-staging:</a:t>
            </a:r>
          </a:p>
          <a:p>
            <a:r>
              <a:rPr sz="1300">
                <a:solidFill>
                  <a:srgbClr val="262626"/>
                </a:solidFill>
                <a:latin typeface="Consolas"/>
              </a:rPr>
              <a:t>    needs: test                                  # &lt;- the gate</a:t>
            </a:r>
          </a:p>
          <a:p>
            <a:r>
              <a:rPr sz="1300">
                <a:solidFill>
                  <a:srgbClr val="262626"/>
                </a:solidFill>
                <a:latin typeface="Consolas"/>
              </a:rPr>
              <a:t>    if: github.ref == 'refs/heads/staging'       # &lt;- the branch rule</a:t>
            </a:r>
          </a:p>
          <a:p>
            <a:r>
              <a:rPr sz="1300">
                <a:solidFill>
                  <a:srgbClr val="262626"/>
                </a:solidFill>
                <a:latin typeface="Consolas"/>
              </a:rPr>
              <a:t>    steps:</a:t>
            </a:r>
          </a:p>
          <a:p>
            <a:r>
              <a:rPr sz="1300">
                <a:solidFill>
                  <a:srgbClr val="262626"/>
                </a:solidFill>
                <a:latin typeface="Consolas"/>
              </a:rPr>
              <a:t>      - run: curl -X POST "${{ secrets.COOLIFY_DEPLOY_WEBHOOK_STAGING }}"</a:t>
            </a:r>
          </a:p>
          <a:p/>
          <a:p>
            <a:r>
              <a:rPr sz="1300">
                <a:solidFill>
                  <a:srgbClr val="262626"/>
                </a:solidFill>
                <a:latin typeface="Consolas"/>
              </a:rPr>
              <a:t>  deploy-prod:</a:t>
            </a:r>
          </a:p>
          <a:p>
            <a:r>
              <a:rPr sz="1300">
                <a:solidFill>
                  <a:srgbClr val="262626"/>
                </a:solidFill>
                <a:latin typeface="Consolas"/>
              </a:rPr>
              <a:t>    needs: test</a:t>
            </a:r>
          </a:p>
          <a:p>
            <a:r>
              <a:rPr sz="1300">
                <a:solidFill>
                  <a:srgbClr val="262626"/>
                </a:solidFill>
                <a:latin typeface="Consolas"/>
              </a:rPr>
              <a:t>    if: github.ref == 'refs/heads/main'</a:t>
            </a:r>
          </a:p>
          <a:p>
            <a:r>
              <a:rPr sz="1300">
                <a:solidFill>
                  <a:srgbClr val="262626"/>
                </a:solidFill>
                <a:latin typeface="Consolas"/>
              </a:rPr>
              <a:t>    steps:</a:t>
            </a:r>
          </a:p>
          <a:p>
            <a:r>
              <a:rPr sz="1300">
                <a:solidFill>
                  <a:srgbClr val="262626"/>
                </a:solidFill>
                <a:latin typeface="Consolas"/>
              </a:rPr>
              <a:t>      - run: curl -X POST "${{ secrets.COOLIFY_DEPLOY_WEBHOOK_PROD }}"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235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i="1">
                <a:solidFill>
                  <a:srgbClr val="1F497D"/>
                </a:solidFill>
              </a:rPr>
              <a:t>Two lines carry the whole policy: `needs: test` and the `if:` branch rule.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a Webhook and a Secret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GitHub has to tell Coolify 'deploy now' — over the public internet</a:t>
            </a:r>
          </a:p>
          <a:p>
            <a:pPr/>
            <a:r>
              <a:rPr sz="2000"/>
              <a:t>The webhook URL is the instruction; the token proves it is you</a:t>
            </a:r>
          </a:p>
          <a:p>
            <a:pPr/>
            <a:r>
              <a:rPr sz="2000"/>
              <a:t>Both live in GitHub repository secrets, never in the repo</a:t>
            </a:r>
          </a:p>
          <a:p>
            <a:pPr/>
            <a:r>
              <a:rPr sz="2000"/>
              <a:t>A secret in git is a secret you have given away</a:t>
            </a:r>
          </a:p>
          <a:p>
            <a:pPr lvl="1"/>
            <a:r>
              <a:rPr sz="1700">
                <a:solidFill>
                  <a:srgbClr val="404040"/>
                </a:solidFill>
              </a:rPr>
              <a:t>rotate it, do not hide it — history is forever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Deploy Is a Container Swap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Coolify builds a new image from your commit</a:t>
            </a:r>
          </a:p>
          <a:p>
            <a:pPr/>
            <a:r>
              <a:rPr sz="2000"/>
              <a:t>Starts new containers alongside the old ones</a:t>
            </a:r>
          </a:p>
          <a:p>
            <a:pPr/>
            <a:r>
              <a:rPr sz="2000"/>
              <a:t>Polls /health until it answers</a:t>
            </a:r>
          </a:p>
          <a:p>
            <a:pPr/>
            <a:r>
              <a:rPr sz="2000"/>
              <a:t>Only then does traffic move</a:t>
            </a:r>
          </a:p>
          <a:p>
            <a:pPr/>
            <a:r>
              <a:rPr sz="2000"/>
              <a:t>If /health never answers, the old container keeps serving</a:t>
            </a:r>
          </a:p>
          <a:p>
            <a:pPr/>
            <a:r>
              <a:rPr sz="2000"/>
              <a:t>That is your safety net, and you wrote it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Health Checks Earn Their Keep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/health is not decoration — it is the deploy gate</a:t>
            </a:r>
          </a:p>
          <a:p>
            <a:pPr/>
            <a:r>
              <a:rPr sz="2000"/>
              <a:t>A container that starts is not the same as an app that works</a:t>
            </a:r>
          </a:p>
          <a:p>
            <a:pPr/>
            <a:r>
              <a:rPr sz="2000"/>
              <a:t>Make it check what would actually break:</a:t>
            </a:r>
          </a:p>
          <a:p>
            <a:pPr lvl="1"/>
            <a:r>
              <a:rPr sz="1700">
                <a:solidFill>
                  <a:srgbClr val="404040"/>
                </a:solidFill>
              </a:rPr>
              <a:t>can I reach the database?</a:t>
            </a:r>
          </a:p>
          <a:p>
            <a:pPr lvl="1"/>
            <a:r>
              <a:rPr sz="1700">
                <a:solidFill>
                  <a:srgbClr val="404040"/>
                </a:solidFill>
              </a:rPr>
              <a:t>can I reach the service I depend on?</a:t>
            </a:r>
          </a:p>
          <a:p>
            <a:pPr/>
            <a:r>
              <a:rPr sz="2000"/>
              <a:t>Return non-200 and the bad build never takes over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 Places Things Get Tested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Before you push — ./smoke-test.sh on your laptop, seconds</a:t>
            </a:r>
          </a:p>
          <a:p>
            <a:pPr/>
            <a:r>
              <a:rPr sz="2000"/>
              <a:t>In CI — unit tests on every push, no infrastructure needed</a:t>
            </a:r>
          </a:p>
          <a:p>
            <a:pPr/>
            <a:r>
              <a:rPr sz="2000"/>
              <a:t>After deploy — /health against the real environment</a:t>
            </a:r>
          </a:p>
          <a:p>
            <a:pPr/>
            <a:r>
              <a:rPr sz="2000"/>
              <a:t>Each catches what the previous one cannot</a:t>
            </a:r>
          </a:p>
          <a:p>
            <a:pPr/>
            <a:r>
              <a:rPr sz="2000"/>
              <a:t>None of them is optional if you want to sleep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When It Breaks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Tests red → nothing deployed, fix and push again</a:t>
            </a:r>
          </a:p>
          <a:p>
            <a:pPr/>
            <a:r>
              <a:rPr sz="2000"/>
              <a:t>Deploy unhealthy → old container still serving, you have time</a:t>
            </a:r>
          </a:p>
          <a:p>
            <a:pPr/>
            <a:r>
              <a:rPr sz="2000"/>
              <a:t>Bad code already live → revert the commit and push</a:t>
            </a:r>
          </a:p>
          <a:p>
            <a:pPr lvl="1"/>
            <a:r>
              <a:rPr sz="1700">
                <a:solidFill>
                  <a:srgbClr val="404040"/>
                </a:solidFill>
              </a:rPr>
              <a:t>the pipeline that shipped it also un-ships it</a:t>
            </a:r>
          </a:p>
          <a:p>
            <a:pPr/>
            <a:r>
              <a:rPr sz="2000"/>
              <a:t>Every deploy is traceable to a commit, and every commit to a person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Infrastructure as Code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part where you stop clicking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We Got Here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Somebody had to create the project, the environments,</a:t>
            </a:r>
          </a:p>
          <a:p>
            <a:pPr/>
            <a:r>
              <a:rPr sz="2000"/>
              <a:t>the two applications, the domains, the webhooks, the secrets</a:t>
            </a:r>
          </a:p>
          <a:p>
            <a:pPr/>
            <a:r>
              <a:rPr sz="2000"/>
              <a:t>In a UI. Roughly thirty clicks.</a:t>
            </a:r>
          </a:p>
          <a:p>
            <a:pPr/>
            <a:r>
              <a:rPr sz="2000"/>
              <a:t>Now do it for thirty students. Then do it again next semester.</a:t>
            </a:r>
          </a:p>
          <a:p>
            <a:pPr/>
            <a:r>
              <a:rPr sz="2000"/>
              <a:t>Then try to remember exactly what you clicked.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Infrastructure as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Managing and provisioning infrastructure — servers, networks, databases —</a:t>
            </a:r>
          </a:p>
          <a:p>
            <a:pPr/>
            <a:r>
              <a:rPr sz="2000"/>
              <a:t>using machine-readable definition files rather than manual configuration</a:t>
            </a:r>
          </a:p>
          <a:p>
            <a:pPr/>
            <a:r>
              <a:rPr sz="2000"/>
              <a:t>Infrastructure becomes something you can review, version, and re-run</a:t>
            </a:r>
          </a:p>
          <a:p>
            <a:pPr/>
            <a:r>
              <a:rPr sz="2000"/>
              <a:t>Same tools you already use for code: git, pull requests, diffs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It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Reproducible — the same file gives the same result, every time</a:t>
            </a:r>
          </a:p>
          <a:p>
            <a:pPr/>
            <a:r>
              <a:rPr sz="2000"/>
              <a:t>Reviewable — a change to infrastructure shows up in a diff</a:t>
            </a:r>
          </a:p>
          <a:p>
            <a:pPr/>
            <a:r>
              <a:rPr sz="2000"/>
              <a:t>Recoverable — the environment is described, so it can be rebuilt</a:t>
            </a:r>
          </a:p>
          <a:p>
            <a:pPr/>
            <a:r>
              <a:rPr sz="2000"/>
              <a:t>Documented — the file IS the documentation, and it cannot go stale</a:t>
            </a:r>
          </a:p>
          <a:p>
            <a:pPr/>
            <a:r>
              <a:rPr sz="2000"/>
              <a:t>Scalable — thirty students is the same effort as one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Imperative vs Declarative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Imperative: do this, then that, then this other thing</a:t>
            </a:r>
          </a:p>
          <a:p>
            <a:pPr lvl="1"/>
            <a:r>
              <a:rPr sz="1700">
                <a:solidFill>
                  <a:srgbClr val="404040"/>
                </a:solidFill>
              </a:rPr>
              <a:t>a script. Run it twice and you get two of everything.</a:t>
            </a:r>
          </a:p>
          <a:p>
            <a:pPr/>
            <a:r>
              <a:rPr sz="2000"/>
              <a:t>Declarative: here is what should exist</a:t>
            </a:r>
          </a:p>
          <a:p>
            <a:pPr lvl="1"/>
            <a:r>
              <a:rPr sz="1700">
                <a:solidFill>
                  <a:srgbClr val="404040"/>
                </a:solidFill>
              </a:rPr>
              <a:t>the tool compares, then changes only what differs</a:t>
            </a:r>
          </a:p>
          <a:p>
            <a:pPr/>
            <a:r>
              <a:rPr sz="2000"/>
              <a:t>Run it twice and nothing happens the second time</a:t>
            </a:r>
          </a:p>
          <a:p>
            <a:pPr/>
            <a:r>
              <a:rPr sz="2000"/>
              <a:t>That property has a name: idempotent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Terraform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A general-purpose engine for declarative infrastructure</a:t>
            </a:r>
          </a:p>
          <a:p>
            <a:pPr/>
            <a:r>
              <a:rPr sz="2000"/>
              <a:t>You describe resources; it figures out how to get there</a:t>
            </a:r>
          </a:p>
          <a:p>
            <a:pPr/>
            <a:r>
              <a:rPr sz="2000"/>
              <a:t>Providers translate your description into API calls</a:t>
            </a:r>
          </a:p>
          <a:p>
            <a:pPr lvl="1"/>
            <a:r>
              <a:rPr sz="1700">
                <a:solidFill>
                  <a:srgbClr val="404040"/>
                </a:solidFill>
              </a:rPr>
              <a:t>AWS, GCP, Azure, GitHub, Cloudflare, Coolify, Docker…</a:t>
            </a:r>
          </a:p>
          <a:p>
            <a:pPr/>
            <a:r>
              <a:rPr sz="2000"/>
              <a:t>Same workflow no matter what is underneath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Terraform's Four Ideas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645920"/>
            <a:ext cx="1965960" cy="475488"/>
          </a:xfrm>
          <a:prstGeom prst="round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1">
                <a:solidFill>
                  <a:srgbClr val="FFFFFF"/>
                </a:solidFill>
              </a:rPr>
              <a:t>PROVIDER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2176272"/>
            <a:ext cx="1965960" cy="1051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>
                <a:solidFill>
                  <a:srgbClr val="262626"/>
                </a:solidFill>
              </a:rPr>
              <a:t>the plugin that knows</a:t>
            </a:r>
          </a:p>
          <a:p>
            <a:pPr algn="ctr"/>
            <a:r>
              <a:rPr sz="1000" b="0">
                <a:solidFill>
                  <a:srgbClr val="262626"/>
                </a:solidFill>
              </a:rPr>
              <a:t>how to talk to a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14600" y="1645920"/>
            <a:ext cx="1965960" cy="475488"/>
          </a:xfrm>
          <a:prstGeom prst="roundRect">
            <a:avLst/>
          </a:prstGeom>
          <a:solidFill>
            <a:srgbClr val="9BB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1">
                <a:solidFill>
                  <a:srgbClr val="FFFFFF"/>
                </a:solidFill>
              </a:rPr>
              <a:t>RESOURCE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14600" y="2176272"/>
            <a:ext cx="1965960" cy="1051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9BBB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>
                <a:solidFill>
                  <a:srgbClr val="262626"/>
                </a:solidFill>
              </a:rPr>
              <a:t>one thing that should exist</a:t>
            </a:r>
          </a:p>
          <a:p>
            <a:pPr algn="ctr"/>
            <a:r>
              <a:rPr sz="1000" b="0">
                <a:solidFill>
                  <a:srgbClr val="262626"/>
                </a:solidFill>
              </a:rPr>
              <a:t>— a project, an app, a secret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645920"/>
            <a:ext cx="1965960" cy="475488"/>
          </a:xfrm>
          <a:prstGeom prst="roundRect">
            <a:avLst/>
          </a:prstGeom>
          <a:solidFill>
            <a:srgbClr val="F79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1">
                <a:solidFill>
                  <a:srgbClr val="FFFFFF"/>
                </a:solidFill>
              </a:rPr>
              <a:t>STATE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2176272"/>
            <a:ext cx="1965960" cy="1051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79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>
                <a:solidFill>
                  <a:srgbClr val="262626"/>
                </a:solidFill>
              </a:rPr>
              <a:t>what Terraform believes</a:t>
            </a:r>
          </a:p>
          <a:p>
            <a:pPr algn="ctr"/>
            <a:r>
              <a:rPr sz="1000" b="0">
                <a:solidFill>
                  <a:srgbClr val="262626"/>
                </a:solidFill>
              </a:rPr>
              <a:t>it already created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12280" y="1645920"/>
            <a:ext cx="1965960" cy="475488"/>
          </a:xfrm>
          <a:prstGeom prst="roundRect">
            <a:avLst/>
          </a:prstGeom>
          <a:solidFill>
            <a:srgbClr val="C0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1">
                <a:solidFill>
                  <a:srgbClr val="FFFFFF"/>
                </a:solidFill>
              </a:rPr>
              <a:t>PLAN → APPLY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12280" y="2176272"/>
            <a:ext cx="1965960" cy="1051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05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>
                <a:solidFill>
                  <a:srgbClr val="262626"/>
                </a:solidFill>
              </a:rPr>
              <a:t>compare desired vs actual,</a:t>
            </a:r>
          </a:p>
          <a:p>
            <a:pPr algn="ctr"/>
            <a:r>
              <a:rPr sz="1000" b="0">
                <a:solidFill>
                  <a:srgbClr val="262626"/>
                </a:solidFill>
              </a:rPr>
              <a:t>then change only the difference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429000"/>
            <a:ext cx="827532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300" b="1" i="0">
                <a:solidFill>
                  <a:srgbClr val="1F497D"/>
                </a:solidFill>
              </a:rPr>
              <a:t>Your .tf files describe the desired state.  State records the actual state.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720" y="3931920"/>
            <a:ext cx="2103120" cy="566928"/>
          </a:xfrm>
          <a:prstGeom prst="roundRect">
            <a:avLst/>
          </a:prstGeom>
          <a:solidFill>
            <a:srgbClr val="9BB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</a:rPr>
              <a:t>your .tf files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(desired)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429000" y="4096512"/>
            <a:ext cx="502920" cy="256032"/>
          </a:xfrm>
          <a:prstGeom prst="rightArrow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069080" y="3931920"/>
            <a:ext cx="1920240" cy="566928"/>
          </a:xfrm>
          <a:prstGeom prst="roundRect">
            <a:avLst/>
          </a:prstGeom>
          <a:solidFill>
            <a:srgbClr val="C0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</a:rPr>
              <a:t>terraform plan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126480" y="4096512"/>
            <a:ext cx="502920" cy="256032"/>
          </a:xfrm>
          <a:prstGeom prst="rightArrow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766560" y="3931920"/>
            <a:ext cx="2103120" cy="566928"/>
          </a:xfrm>
          <a:prstGeom prst="roundRect">
            <a:avLst/>
          </a:prstGeom>
          <a:solidFill>
            <a:srgbClr val="F79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</a:rPr>
              <a:t>the platform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(actual)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709160"/>
            <a:ext cx="8275320" cy="8686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300" b="0" i="1">
                <a:solidFill>
                  <a:srgbClr val="1F497D"/>
                </a:solidFill>
              </a:rPr>
              <a:t>plan tells you what would change, before anything changes.</a:t>
            </a:r>
          </a:p>
          <a:p>
            <a:pPr algn="ctr"/>
            <a:r>
              <a:rPr sz="1300" b="0" i="1">
                <a:solidFill>
                  <a:srgbClr val="1F497D"/>
                </a:solidFill>
              </a:rPr>
              <a:t>Reading the plan is the habit that separates confident from lucky.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terraform init — download the providers named in your config</a:t>
            </a:r>
          </a:p>
          <a:p>
            <a:pPr/>
            <a:r>
              <a:rPr sz="2000"/>
              <a:t>terraform plan — show me what you would do</a:t>
            </a:r>
          </a:p>
          <a:p>
            <a:pPr/>
            <a:r>
              <a:rPr sz="2000"/>
              <a:t>terraform apply — do it</a:t>
            </a:r>
          </a:p>
          <a:p>
            <a:pPr/>
            <a:r>
              <a:rPr sz="2000"/>
              <a:t>terraform destroy — remove everything this config created</a:t>
            </a:r>
          </a:p>
          <a:p>
            <a:pPr/>
            <a:r>
              <a:rPr sz="2000"/>
              <a:t>You will run plan far more often than apply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Your main.tf — the Provider Block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F497D"/>
                </a:solidFill>
                <a:latin typeface="Consolas"/>
              </a:rPr>
              <a:t>terraform {</a:t>
            </a:r>
          </a:p>
          <a:p>
            <a:r>
              <a:rPr sz="1300">
                <a:solidFill>
                  <a:srgbClr val="262626"/>
                </a:solidFill>
                <a:latin typeface="Consolas"/>
              </a:rPr>
              <a:t>  required_providers {</a:t>
            </a:r>
          </a:p>
          <a:p>
            <a:r>
              <a:rPr sz="1300">
                <a:solidFill>
                  <a:srgbClr val="262626"/>
                </a:solidFill>
                <a:latin typeface="Consolas"/>
              </a:rPr>
              <a:t>    coolify = { source = "bindtech-xyz/coolify", version = "~&gt; 0.1.0" }</a:t>
            </a:r>
          </a:p>
          <a:p>
            <a:r>
              <a:rPr sz="1300">
                <a:solidFill>
                  <a:srgbClr val="262626"/>
                </a:solidFill>
                <a:latin typeface="Consolas"/>
              </a:rPr>
              <a:t>    github  = { source = "integrations/github",  version = "~&gt; 6.0"  }</a:t>
            </a:r>
          </a:p>
          <a:p>
            <a:r>
              <a:rPr sz="1300">
                <a:solidFill>
                  <a:srgbClr val="262626"/>
                </a:solidFill>
                <a:latin typeface="Consolas"/>
              </a:rPr>
              <a:t>  }</a:t>
            </a:r>
          </a:p>
          <a:p>
            <a:r>
              <a:rPr sz="1300">
                <a:solidFill>
                  <a:srgbClr val="1F497D"/>
                </a:solidFill>
                <a:latin typeface="Consolas"/>
              </a:rPr>
              <a:t>}</a:t>
            </a:r>
          </a:p>
          <a:p/>
          <a:p>
            <a:r>
              <a:rPr sz="1300">
                <a:solidFill>
                  <a:srgbClr val="1F497D"/>
                </a:solidFill>
                <a:latin typeface="Consolas"/>
              </a:rPr>
              <a:t>provider "coolify" {</a:t>
            </a:r>
          </a:p>
          <a:p>
            <a:r>
              <a:rPr sz="1300">
                <a:solidFill>
                  <a:srgbClr val="262626"/>
                </a:solidFill>
                <a:latin typeface="Consolas"/>
              </a:rPr>
              <a:t>  endpoint = var.coolify_endpoint</a:t>
            </a:r>
          </a:p>
          <a:p>
            <a:r>
              <a:rPr sz="1300">
                <a:solidFill>
                  <a:srgbClr val="262626"/>
                </a:solidFill>
                <a:latin typeface="Consolas"/>
              </a:rPr>
              <a:t>  token    = var.coolify_token      # never a literal token</a:t>
            </a:r>
          </a:p>
          <a:p>
            <a:r>
              <a:rPr sz="1300">
                <a:solidFill>
                  <a:srgbClr val="1F497D"/>
                </a:solidFill>
                <a:latin typeface="Consolas"/>
              </a:rPr>
              <a:t>}</a:t>
            </a:r>
          </a:p>
          <a:p/>
          <a:p>
            <a:r>
              <a:rPr sz="1300">
                <a:solidFill>
                  <a:srgbClr val="1F497D"/>
                </a:solidFill>
                <a:latin typeface="Consolas"/>
              </a:rPr>
              <a:t>provider "github" {</a:t>
            </a:r>
          </a:p>
          <a:p>
            <a:r>
              <a:rPr sz="1300">
                <a:solidFill>
                  <a:srgbClr val="262626"/>
                </a:solidFill>
                <a:latin typeface="Consolas"/>
              </a:rPr>
              <a:t>  owner = var.github_org</a:t>
            </a:r>
          </a:p>
          <a:p>
            <a:r>
              <a:rPr sz="1300">
                <a:solidFill>
                  <a:srgbClr val="262626"/>
                </a:solidFill>
                <a:latin typeface="Consolas"/>
              </a:rPr>
              <a:t>  token = var.github_token</a:t>
            </a:r>
          </a:p>
          <a:p>
            <a:r>
              <a:rPr sz="1300">
                <a:solidFill>
                  <a:srgbClr val="1F497D"/>
                </a:solidFill>
                <a:latin typeface="Consolas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235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i="1">
                <a:solidFill>
                  <a:srgbClr val="1F497D"/>
                </a:solidFill>
              </a:rPr>
              <a:t>Two providers, because this deploy touches two platforms. Versions are pinned so everyone gets the same behavior.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Variables — the Inputs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F497D"/>
                </a:solidFill>
                <a:latin typeface="Consolas"/>
              </a:rPr>
              <a:t>variable "coolify_server_uuid" {</a:t>
            </a:r>
          </a:p>
          <a:p>
            <a:r>
              <a:rPr sz="1300">
                <a:solidFill>
                  <a:srgbClr val="262626"/>
                </a:solidFill>
                <a:latin typeface="Consolas"/>
              </a:rPr>
              <a:t>  description = "UUID of YOUR team's Coolify server. Each team has its own."</a:t>
            </a:r>
          </a:p>
          <a:p>
            <a:r>
              <a:rPr sz="1300">
                <a:solidFill>
                  <a:srgbClr val="262626"/>
                </a:solidFill>
                <a:latin typeface="Consolas"/>
              </a:rPr>
              <a:t>  type        = string</a:t>
            </a:r>
          </a:p>
          <a:p/>
          <a:p>
            <a:r>
              <a:rPr sz="1300">
                <a:solidFill>
                  <a:srgbClr val="262626"/>
                </a:solidFill>
                <a:latin typeface="Consolas"/>
              </a:rPr>
              <a:t>  validation {</a:t>
            </a:r>
          </a:p>
          <a:p>
            <a:r>
              <a:rPr sz="1300">
                <a:solidFill>
                  <a:srgbClr val="262626"/>
                </a:solidFill>
                <a:latin typeface="Consolas"/>
              </a:rPr>
              <a:t>    condition     = length(trimspace(var.coolify_server_uuid)) &gt; 0</a:t>
            </a:r>
          </a:p>
          <a:p>
            <a:r>
              <a:rPr sz="1300">
                <a:solidFill>
                  <a:srgbClr val="262626"/>
                </a:solidFill>
                <a:latin typeface="Consolas"/>
              </a:rPr>
              <a:t>    error_message = "Required. Look it up: curl .../api/v1/servers"</a:t>
            </a:r>
          </a:p>
          <a:p>
            <a:r>
              <a:rPr sz="1300">
                <a:solidFill>
                  <a:srgbClr val="262626"/>
                </a:solidFill>
                <a:latin typeface="Consolas"/>
              </a:rPr>
              <a:t>  }</a:t>
            </a:r>
          </a:p>
          <a:p>
            <a:r>
              <a:rPr sz="1300">
                <a:solidFill>
                  <a:srgbClr val="1F497D"/>
                </a:solidFill>
                <a:latin typeface="Consolas"/>
              </a:rPr>
              <a:t>}</a:t>
            </a:r>
          </a:p>
          <a:p/>
          <a:p>
            <a:r>
              <a:rPr sz="1300">
                <a:solidFill>
                  <a:srgbClr val="1F497D"/>
                </a:solidFill>
                <a:latin typeface="Consolas"/>
              </a:rPr>
              <a:t>variable "repo_name" {</a:t>
            </a:r>
          </a:p>
          <a:p>
            <a:r>
              <a:rPr sz="1300">
                <a:solidFill>
                  <a:srgbClr val="262626"/>
                </a:solidFill>
                <a:latin typeface="Consolas"/>
              </a:rPr>
              <a:t>  description = "Just the repo name, not the org prefix"</a:t>
            </a:r>
          </a:p>
          <a:p>
            <a:r>
              <a:rPr sz="1300">
                <a:solidFill>
                  <a:srgbClr val="262626"/>
                </a:solidFill>
                <a:latin typeface="Consolas"/>
              </a:rPr>
              <a:t>  type        = string</a:t>
            </a:r>
          </a:p>
          <a:p>
            <a:r>
              <a:rPr sz="1300">
                <a:solidFill>
                  <a:srgbClr val="1F497D"/>
                </a:solidFill>
                <a:latin typeface="Consolas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235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i="1">
                <a:solidFill>
                  <a:srgbClr val="1F497D"/>
                </a:solidFill>
              </a:rPr>
              <a:t>Variables are the parameters of your infrastructure. Validation turns a confusing API error into a sentence that tells you what to do.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Resources — the Things That Should Exist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F497D"/>
                </a:solidFill>
                <a:latin typeface="Consolas"/>
              </a:rPr>
              <a:t>resource "coolify_project" "app" {</a:t>
            </a:r>
          </a:p>
          <a:p>
            <a:r>
              <a:rPr sz="1250">
                <a:solidFill>
                  <a:srgbClr val="262626"/>
                </a:solidFill>
                <a:latin typeface="Consolas"/>
              </a:rPr>
              <a:t>  name = var.repo_name</a:t>
            </a:r>
          </a:p>
          <a:p>
            <a:r>
              <a:rPr sz="1250">
                <a:solidFill>
                  <a:srgbClr val="1F497D"/>
                </a:solidFill>
                <a:latin typeface="Consolas"/>
              </a:rPr>
              <a:t>}</a:t>
            </a:r>
          </a:p>
          <a:p/>
          <a:p>
            <a:r>
              <a:rPr sz="1250">
                <a:solidFill>
                  <a:srgbClr val="1F497D"/>
                </a:solidFill>
                <a:latin typeface="Consolas"/>
              </a:rPr>
              <a:t>resource "coolify_environment" "staging" {</a:t>
            </a:r>
          </a:p>
          <a:p>
            <a:r>
              <a:rPr sz="1250">
                <a:solidFill>
                  <a:srgbClr val="262626"/>
                </a:solidFill>
                <a:latin typeface="Consolas"/>
              </a:rPr>
              <a:t>  project_uuid = coolify_project.app.uuid      # &lt;- reference, not a copy</a:t>
            </a:r>
          </a:p>
          <a:p>
            <a:r>
              <a:rPr sz="1250">
                <a:solidFill>
                  <a:srgbClr val="262626"/>
                </a:solidFill>
                <a:latin typeface="Consolas"/>
              </a:rPr>
              <a:t>  name         = "staging"</a:t>
            </a:r>
          </a:p>
          <a:p>
            <a:r>
              <a:rPr sz="1250">
                <a:solidFill>
                  <a:srgbClr val="1F497D"/>
                </a:solidFill>
                <a:latin typeface="Consolas"/>
              </a:rPr>
              <a:t>}</a:t>
            </a:r>
          </a:p>
          <a:p/>
          <a:p>
            <a:r>
              <a:rPr sz="1250">
                <a:solidFill>
                  <a:srgbClr val="1F497D"/>
                </a:solidFill>
                <a:latin typeface="Consolas"/>
              </a:rPr>
              <a:t>resource "coolify_application" "staging" {</a:t>
            </a:r>
          </a:p>
          <a:p>
            <a:r>
              <a:rPr sz="1250">
                <a:solidFill>
                  <a:srgbClr val="262626"/>
                </a:solidFill>
                <a:latin typeface="Consolas"/>
              </a:rPr>
              <a:t>  environment_uuid       = coolify_environment.staging.uuid</a:t>
            </a:r>
          </a:p>
          <a:p>
            <a:r>
              <a:rPr sz="1250">
                <a:solidFill>
                  <a:srgbClr val="262626"/>
                </a:solidFill>
                <a:latin typeface="Consolas"/>
              </a:rPr>
              <a:t>  git_repository         = "${var.github_org}/${var.repo_name}"</a:t>
            </a:r>
          </a:p>
          <a:p>
            <a:r>
              <a:rPr sz="1250">
                <a:solidFill>
                  <a:srgbClr val="262626"/>
                </a:solidFill>
                <a:latin typeface="Consolas"/>
              </a:rPr>
              <a:t>  git_branch             = "staging"</a:t>
            </a:r>
          </a:p>
          <a:p>
            <a:r>
              <a:rPr sz="1250">
                <a:solidFill>
                  <a:srgbClr val="262626"/>
                </a:solidFill>
                <a:latin typeface="Consolas"/>
              </a:rPr>
              <a:t>  build_pack             = "dockercompose"</a:t>
            </a:r>
          </a:p>
          <a:p>
            <a:r>
              <a:rPr sz="1250">
                <a:solidFill>
                  <a:srgbClr val="262626"/>
                </a:solidFill>
                <a:latin typeface="Consolas"/>
              </a:rPr>
              <a:t>  is_auto_deploy_enabled = false                # GitHub Actions deploys</a:t>
            </a:r>
          </a:p>
          <a:p>
            <a:r>
              <a:rPr sz="1250">
                <a:solidFill>
                  <a:srgbClr val="1F497D"/>
                </a:solidFill>
                <a:latin typeface="Consolas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235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i="1">
                <a:solidFill>
                  <a:srgbClr val="1F497D"/>
                </a:solidFill>
              </a:rPr>
              <a:t>Each resource references the one it needs. Those references are what let Terraform work out the order by itself.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 Never Write the Order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520440" y="1600200"/>
            <a:ext cx="2103120" cy="502920"/>
          </a:xfrm>
          <a:prstGeom prst="round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</a:rPr>
              <a:t>coolify_project</a:t>
            </a:r>
          </a:p>
        </p:txBody>
      </p:sp>
      <p:sp>
        <p:nvSpPr>
          <p:cNvPr id="4" name="Down Arrow 3"/>
          <p:cNvSpPr/>
          <p:nvPr/>
        </p:nvSpPr>
        <p:spPr>
          <a:xfrm>
            <a:off x="4434840" y="2148840"/>
            <a:ext cx="274320" cy="274320"/>
          </a:xfrm>
          <a:prstGeom prst="downArrow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011680" y="2487168"/>
            <a:ext cx="2103120" cy="502920"/>
          </a:xfrm>
          <a:prstGeom prst="roundRect">
            <a:avLst/>
          </a:prstGeom>
          <a:solidFill>
            <a:srgbClr val="F79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>
                <a:solidFill>
                  <a:srgbClr val="FFFFFF"/>
                </a:solidFill>
              </a:rPr>
              <a:t>environment</a:t>
            </a:r>
          </a:p>
          <a:p>
            <a:pPr algn="ctr"/>
            <a:r>
              <a:rPr sz="1000" b="0">
                <a:solidFill>
                  <a:srgbClr val="FFFFFF"/>
                </a:solidFill>
              </a:rPr>
              <a:t>staging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2487168"/>
            <a:ext cx="2103120" cy="502920"/>
          </a:xfrm>
          <a:prstGeom prst="roundRect">
            <a:avLst/>
          </a:prstGeom>
          <a:solidFill>
            <a:srgbClr val="9BB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>
                <a:solidFill>
                  <a:srgbClr val="FFFFFF"/>
                </a:solidFill>
              </a:rPr>
              <a:t>environment</a:t>
            </a:r>
          </a:p>
          <a:p>
            <a:pPr algn="ctr"/>
            <a:r>
              <a:rPr sz="1000" b="0">
                <a:solidFill>
                  <a:srgbClr val="FFFFFF"/>
                </a:solidFill>
              </a:rPr>
              <a:t>production</a:t>
            </a:r>
          </a:p>
        </p:txBody>
      </p:sp>
      <p:sp>
        <p:nvSpPr>
          <p:cNvPr id="7" name="Down Arrow 6"/>
          <p:cNvSpPr/>
          <p:nvPr/>
        </p:nvSpPr>
        <p:spPr>
          <a:xfrm>
            <a:off x="2926080" y="3035808"/>
            <a:ext cx="274320" cy="274320"/>
          </a:xfrm>
          <a:prstGeom prst="downArrow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own Arrow 7"/>
          <p:cNvSpPr/>
          <p:nvPr/>
        </p:nvSpPr>
        <p:spPr>
          <a:xfrm>
            <a:off x="5943600" y="3035808"/>
            <a:ext cx="274320" cy="274320"/>
          </a:xfrm>
          <a:prstGeom prst="downArrow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011680" y="3374136"/>
            <a:ext cx="2103120" cy="502920"/>
          </a:xfrm>
          <a:prstGeom prst="roundRect">
            <a:avLst/>
          </a:prstGeom>
          <a:solidFill>
            <a:srgbClr val="F79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>
                <a:solidFill>
                  <a:srgbClr val="FFFFFF"/>
                </a:solidFill>
              </a:rPr>
              <a:t>application</a:t>
            </a:r>
          </a:p>
          <a:p>
            <a:pPr algn="ctr"/>
            <a:r>
              <a:rPr sz="1000" b="0">
                <a:solidFill>
                  <a:srgbClr val="FFFFFF"/>
                </a:solidFill>
              </a:rPr>
              <a:t>staging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3374136"/>
            <a:ext cx="2103120" cy="502920"/>
          </a:xfrm>
          <a:prstGeom prst="roundRect">
            <a:avLst/>
          </a:prstGeom>
          <a:solidFill>
            <a:srgbClr val="9BB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>
                <a:solidFill>
                  <a:srgbClr val="FFFFFF"/>
                </a:solidFill>
              </a:rPr>
              <a:t>application</a:t>
            </a:r>
          </a:p>
          <a:p>
            <a:pPr algn="ctr"/>
            <a:r>
              <a:rPr sz="1000" b="0">
                <a:solidFill>
                  <a:srgbClr val="FFFFFF"/>
                </a:solidFill>
              </a:rPr>
              <a:t>production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2926080" y="3922776"/>
            <a:ext cx="274320" cy="274320"/>
          </a:xfrm>
          <a:prstGeom prst="downArrow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own Arrow 11"/>
          <p:cNvSpPr/>
          <p:nvPr/>
        </p:nvSpPr>
        <p:spPr>
          <a:xfrm>
            <a:off x="5943600" y="3922776"/>
            <a:ext cx="274320" cy="274320"/>
          </a:xfrm>
          <a:prstGeom prst="downArrow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463040" y="4261104"/>
            <a:ext cx="3200400" cy="502920"/>
          </a:xfrm>
          <a:prstGeom prst="roundRect">
            <a:avLst/>
          </a:prstGeom>
          <a:solidFill>
            <a:srgbClr val="806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>
                <a:solidFill>
                  <a:srgbClr val="FFFFFF"/>
                </a:solidFill>
              </a:rPr>
              <a:t>github secret: staging webhook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0" y="4261104"/>
            <a:ext cx="3200400" cy="502920"/>
          </a:xfrm>
          <a:prstGeom prst="roundRect">
            <a:avLst/>
          </a:prstGeom>
          <a:solidFill>
            <a:srgbClr val="806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>
                <a:solidFill>
                  <a:srgbClr val="FFFFFF"/>
                </a:solidFill>
              </a:rPr>
              <a:t>github secret: prod webhook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983480"/>
            <a:ext cx="8275320" cy="10058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300" b="0" i="0">
                <a:solidFill>
                  <a:srgbClr val="1F497D"/>
                </a:solidFill>
              </a:rPr>
              <a:t>Terraform reads the references between resources and builds a graph.</a:t>
            </a:r>
          </a:p>
          <a:p>
            <a:pPr algn="ctr"/>
            <a:r>
              <a:rPr sz="1300" b="0" i="0">
                <a:solidFill>
                  <a:srgbClr val="1F497D"/>
                </a:solidFill>
              </a:rPr>
              <a:t>It creates the project first because everything else needs its UUID —</a:t>
            </a:r>
          </a:p>
          <a:p>
            <a:pPr algn="ctr"/>
            <a:r>
              <a:rPr sz="1300" b="0" i="0">
                <a:solidFill>
                  <a:srgbClr val="1F497D"/>
                </a:solidFill>
              </a:rPr>
              <a:t>not because you listed it first.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Outputs — What You Get 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F497D"/>
                </a:solidFill>
                <a:latin typeface="Consolas"/>
              </a:rPr>
              <a:t>output "staging_url" {</a:t>
            </a:r>
          </a:p>
          <a:p>
            <a:r>
              <a:rPr sz="1300">
                <a:solidFill>
                  <a:srgbClr val="262626"/>
                </a:solidFill>
                <a:latin typeface="Consolas"/>
              </a:rPr>
              <a:t>  value = "http://${var.repo_name}-staging.${var.app_domain_base}"</a:t>
            </a:r>
          </a:p>
          <a:p>
            <a:r>
              <a:rPr sz="1300">
                <a:solidFill>
                  <a:srgbClr val="1F497D"/>
                </a:solidFill>
                <a:latin typeface="Consolas"/>
              </a:rPr>
              <a:t>}</a:t>
            </a:r>
          </a:p>
          <a:p/>
          <a:p>
            <a:r>
              <a:rPr sz="1300">
                <a:solidFill>
                  <a:srgbClr val="1F497D"/>
                </a:solidFill>
                <a:latin typeface="Consolas"/>
              </a:rPr>
              <a:t>output "production_app_uuid" {</a:t>
            </a:r>
          </a:p>
          <a:p>
            <a:r>
              <a:rPr sz="1300">
                <a:solidFill>
                  <a:srgbClr val="262626"/>
                </a:solidFill>
                <a:latin typeface="Consolas"/>
              </a:rPr>
              <a:t>  value = coolify_application.production.uuid</a:t>
            </a:r>
          </a:p>
          <a:p>
            <a:r>
              <a:rPr sz="1300">
                <a:solidFill>
                  <a:srgbClr val="1F497D"/>
                </a:solidFill>
                <a:latin typeface="Consolas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235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i="1">
                <a:solidFill>
                  <a:srgbClr val="1F497D"/>
                </a:solidFill>
              </a:rPr>
              <a:t>Outputs are the return values of your infrastructure — the facts you did not know until it existed.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State: the Part People Trip Over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terraform.tfstate maps your resources to real IDs</a:t>
            </a:r>
          </a:p>
          <a:p>
            <a:pPr/>
            <a:r>
              <a:rPr sz="2000"/>
              <a:t>It is how Terraform knows 'I already made that'</a:t>
            </a:r>
          </a:p>
          <a:p>
            <a:pPr/>
            <a:r>
              <a:rPr sz="2000"/>
              <a:t>Delete it and Terraform forgets — then tries to create duplicates</a:t>
            </a:r>
          </a:p>
          <a:p>
            <a:pPr/>
            <a:r>
              <a:rPr sz="2000"/>
              <a:t>It can contain secrets. It is gitignored for a reason.</a:t>
            </a:r>
          </a:p>
          <a:p>
            <a:pPr/>
            <a:r>
              <a:rPr sz="2000"/>
              <a:t>Teams keep it in shared remote storage. You will keep it local.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It Cannot 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Terraform is only as capable as its provider</a:t>
            </a:r>
          </a:p>
          <a:p>
            <a:pPr/>
            <a:r>
              <a:rPr sz="2000"/>
              <a:t>Our provider cannot set a per-service domain on a compose app</a:t>
            </a:r>
          </a:p>
          <a:p>
            <a:pPr/>
            <a:r>
              <a:rPr sz="2000"/>
              <a:t>So that one step stays manual — and is documented as manual</a:t>
            </a:r>
          </a:p>
          <a:p>
            <a:pPr/>
            <a:r>
              <a:rPr sz="2000"/>
              <a:t>Honest IaC: automate 90%, write down the 10%</a:t>
            </a:r>
          </a:p>
          <a:p>
            <a:pPr/>
            <a:r>
              <a:rPr sz="2000"/>
              <a:t>A fragile automation that fights the tool is worse than a checklist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Moving to a Different Provider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600200"/>
            <a:ext cx="3931920" cy="457200"/>
          </a:xfrm>
          <a:prstGeom prst="roundRect">
            <a:avLst/>
          </a:prstGeom>
          <a:solidFill>
            <a:srgbClr val="C0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>
                <a:solidFill>
                  <a:srgbClr val="FFFFFF"/>
                </a:solidFill>
              </a:rPr>
              <a:t>WHAT CHANGES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846320" y="1600200"/>
            <a:ext cx="3931920" cy="457200"/>
          </a:xfrm>
          <a:prstGeom prst="roundRect">
            <a:avLst/>
          </a:prstGeom>
          <a:solidFill>
            <a:srgbClr val="9BB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>
                <a:solidFill>
                  <a:srgbClr val="FFFFFF"/>
                </a:solidFill>
              </a:rPr>
              <a:t>WHAT DOES NOT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176272"/>
            <a:ext cx="3931920" cy="47548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05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262626"/>
                </a:solidFill>
              </a:rPr>
              <a:t>the provider block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743200"/>
            <a:ext cx="3931920" cy="47548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05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262626"/>
                </a:solidFill>
              </a:rPr>
              <a:t>resource type names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3310128"/>
            <a:ext cx="3931920" cy="47548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05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262626"/>
                </a:solidFill>
              </a:rPr>
              <a:t>resource-specific arguments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3877056"/>
            <a:ext cx="3931920" cy="47548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05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262626"/>
                </a:solidFill>
              </a:rPr>
              <a:t>the credentials you supply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0" y="2176272"/>
            <a:ext cx="3931920" cy="47548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9BBB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262626"/>
                </a:solidFill>
              </a:rPr>
              <a:t>your application code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0" y="2743200"/>
            <a:ext cx="3931920" cy="47548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9BBB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262626"/>
                </a:solidFill>
              </a:rPr>
              <a:t>your Dockerfile and compose file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46320" y="3310128"/>
            <a:ext cx="3931920" cy="47548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9BBB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262626"/>
                </a:solidFill>
              </a:rPr>
              <a:t>the CI workflow and its gates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46320" y="3877056"/>
            <a:ext cx="3931920" cy="47548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9BBB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262626"/>
                </a:solidFill>
              </a:rPr>
              <a:t>variables, outputs, structure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46320" y="4443983"/>
            <a:ext cx="3931920" cy="47548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9BBB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262626"/>
                </a:solidFill>
              </a:rPr>
              <a:t>init → plan → apply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46320" y="5010912"/>
            <a:ext cx="3931920" cy="47548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9BBB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262626"/>
                </a:solidFill>
              </a:rPr>
              <a:t>how you think about 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760720"/>
            <a:ext cx="841248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400" b="1" i="0">
                <a:solidFill>
                  <a:srgbClr val="1F497D"/>
                </a:solidFill>
              </a:rPr>
              <a:t>You are not learning Coolify. You are learning a shape that AWS, GCP and Azure also have.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Same Idea, Somewhere Else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708090"/>
                </a:solidFill>
                <a:latin typeface="Consolas"/>
              </a:rPr>
              <a:t># today — Coolify on the class cluster</a:t>
            </a:r>
          </a:p>
          <a:p>
            <a:r>
              <a:rPr sz="1250">
                <a:solidFill>
                  <a:srgbClr val="1F497D"/>
                </a:solidFill>
                <a:latin typeface="Consolas"/>
              </a:rPr>
              <a:t>resource "coolify_application" "production" {</a:t>
            </a:r>
          </a:p>
          <a:p>
            <a:r>
              <a:rPr sz="1250">
                <a:solidFill>
                  <a:srgbClr val="262626"/>
                </a:solidFill>
                <a:latin typeface="Consolas"/>
              </a:rPr>
              <a:t>  environment_uuid = coolify_environment.production.uuid</a:t>
            </a:r>
          </a:p>
          <a:p>
            <a:r>
              <a:rPr sz="1250">
                <a:solidFill>
                  <a:srgbClr val="262626"/>
                </a:solidFill>
                <a:latin typeface="Consolas"/>
              </a:rPr>
              <a:t>  git_repository   = "${var.github_org}/${var.repo_name}"</a:t>
            </a:r>
          </a:p>
          <a:p>
            <a:r>
              <a:rPr sz="1250">
                <a:solidFill>
                  <a:srgbClr val="262626"/>
                </a:solidFill>
                <a:latin typeface="Consolas"/>
              </a:rPr>
              <a:t>  git_branch       = "main"</a:t>
            </a:r>
          </a:p>
          <a:p>
            <a:r>
              <a:rPr sz="1250">
                <a:solidFill>
                  <a:srgbClr val="1F497D"/>
                </a:solidFill>
                <a:latin typeface="Consolas"/>
              </a:rPr>
              <a:t>}</a:t>
            </a:r>
          </a:p>
          <a:p/>
          <a:p>
            <a:r>
              <a:rPr sz="1250">
                <a:solidFill>
                  <a:srgbClr val="708090"/>
                </a:solidFill>
                <a:latin typeface="Consolas"/>
              </a:rPr>
              <a:t># tomorrow — AWS App Runner, same position in the same graph</a:t>
            </a:r>
          </a:p>
          <a:p>
            <a:r>
              <a:rPr sz="1250">
                <a:solidFill>
                  <a:srgbClr val="1F497D"/>
                </a:solidFill>
                <a:latin typeface="Consolas"/>
              </a:rPr>
              <a:t>resource "aws_apprunner_service" "production" {</a:t>
            </a:r>
          </a:p>
          <a:p>
            <a:r>
              <a:rPr sz="1250">
                <a:solidFill>
                  <a:srgbClr val="262626"/>
                </a:solidFill>
                <a:latin typeface="Consolas"/>
              </a:rPr>
              <a:t>  service_name = "${var.repo_name}-prod"</a:t>
            </a:r>
          </a:p>
          <a:p>
            <a:r>
              <a:rPr sz="1250">
                <a:solidFill>
                  <a:srgbClr val="262626"/>
                </a:solidFill>
                <a:latin typeface="Consolas"/>
              </a:rPr>
              <a:t>  source_configuration {</a:t>
            </a:r>
          </a:p>
          <a:p>
            <a:r>
              <a:rPr sz="1250">
                <a:solidFill>
                  <a:srgbClr val="262626"/>
                </a:solidFill>
                <a:latin typeface="Consolas"/>
              </a:rPr>
              <a:t>    image_repository { image_identifier = var.image_uri }</a:t>
            </a:r>
          </a:p>
          <a:p>
            <a:r>
              <a:rPr sz="1250">
                <a:solidFill>
                  <a:srgbClr val="262626"/>
                </a:solidFill>
                <a:latin typeface="Consolas"/>
              </a:rPr>
              <a:t>  }</a:t>
            </a:r>
          </a:p>
          <a:p>
            <a:r>
              <a:rPr sz="1250">
                <a:solidFill>
                  <a:srgbClr val="1F497D"/>
                </a:solidFill>
                <a:latin typeface="Consolas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235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i="1">
                <a:solidFill>
                  <a:srgbClr val="1F497D"/>
                </a:solidFill>
              </a:rPr>
              <a:t>Different nouns, identical workflow. The GitHub resources and the whole CI pipeline do not move at all.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Other Tools in This Space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AWS: CloudFormation, CDK</a:t>
            </a:r>
          </a:p>
          <a:p>
            <a:pPr/>
            <a:r>
              <a:rPr sz="2000"/>
              <a:t>Azure: ARM templates, Bicep</a:t>
            </a:r>
          </a:p>
          <a:p>
            <a:pPr/>
            <a:r>
              <a:rPr sz="2000"/>
              <a:t>GCP: Deployment Manager</a:t>
            </a:r>
          </a:p>
          <a:p>
            <a:pPr/>
            <a:r>
              <a:rPr sz="2000"/>
              <a:t>Kubernetes: manifests, Helm</a:t>
            </a:r>
          </a:p>
          <a:p>
            <a:pPr/>
            <a:r>
              <a:rPr sz="2000"/>
              <a:t>Pulumi: same idea, real programming languages</a:t>
            </a:r>
          </a:p>
          <a:p>
            <a:pPr/>
            <a:r>
              <a:rPr sz="2000"/>
              <a:t>OpenTofu: the open-source fork of Terraform — drop-in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Docker Compose Is IaC Too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Declarative file describing services, networks, volumes</a:t>
            </a:r>
          </a:p>
          <a:p>
            <a:pPr/>
            <a:r>
              <a:rPr sz="2000"/>
              <a:t>compose up converges to the described state</a:t>
            </a:r>
          </a:p>
          <a:p>
            <a:pPr/>
            <a:r>
              <a:rPr sz="2000"/>
              <a:t>Same mental model, one machine instead of a cloud</a:t>
            </a:r>
          </a:p>
          <a:p>
            <a:pPr/>
            <a:r>
              <a:rPr sz="2000"/>
              <a:t>You have been writing IaC since the first lab</a:t>
            </a:r>
          </a:p>
          <a:p>
            <a:pPr/>
            <a:r>
              <a:rPr sz="2000"/>
              <a:t>Terraform does for the cloud what compose does for your laptop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You Will Actually 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Use Claude / Codex / opencode to generate your .tf files</a:t>
            </a:r>
          </a:p>
          <a:p>
            <a:pPr/>
            <a:r>
              <a:rPr sz="2000"/>
              <a:t>That is fine — and it is why understanding the pieces matters</a:t>
            </a:r>
          </a:p>
          <a:p>
            <a:pPr/>
            <a:r>
              <a:rPr sz="2000"/>
              <a:t>You have to be able to read the plan and know if it is right</a:t>
            </a:r>
          </a:p>
          <a:p>
            <a:pPr/>
            <a:r>
              <a:rPr sz="2000"/>
              <a:t>You have to know which variable is wrong when it fails</a:t>
            </a:r>
          </a:p>
          <a:p>
            <a:pPr/>
            <a:r>
              <a:rPr sz="2000"/>
              <a:t>Generated code you cannot evaluate is a liability, not a shortcut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Questions to Ask Your Generated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Which providers, and are the versions pinned?</a:t>
            </a:r>
          </a:p>
          <a:p>
            <a:pPr/>
            <a:r>
              <a:rPr sz="2000"/>
              <a:t>What resources does it create, and do I want all of them?</a:t>
            </a:r>
          </a:p>
          <a:p>
            <a:pPr/>
            <a:r>
              <a:rPr sz="2000"/>
              <a:t>What does each resource reference — is the graph right?</a:t>
            </a:r>
          </a:p>
          <a:p>
            <a:pPr/>
            <a:r>
              <a:rPr sz="2000"/>
              <a:t>Are any secrets hard-coded instead of variables?</a:t>
            </a:r>
          </a:p>
          <a:p>
            <a:pPr/>
            <a:r>
              <a:rPr sz="2000"/>
              <a:t>Does terraform plan show exactly what I expect, and nothing else?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Local Docker → GitHub → CI → Coolify → staging → production → users</a:t>
            </a:r>
          </a:p>
          <a:p>
            <a:pPr/>
            <a:r>
              <a:rPr sz="2000"/>
              <a:t>Tests gate every deploy; health checks gate every swap</a:t>
            </a:r>
          </a:p>
          <a:p>
            <a:pPr/>
            <a:r>
              <a:rPr sz="2000"/>
              <a:t>Branch decides environment; nothing deploys by hand</a:t>
            </a:r>
          </a:p>
          <a:p>
            <a:pPr/>
            <a:r>
              <a:rPr sz="2000"/>
              <a:t>Infrastructure is described in a file, reviewed like code</a:t>
            </a:r>
          </a:p>
          <a:p>
            <a:pPr/>
            <a:r>
              <a:rPr sz="2000"/>
              <a:t>The provider changes. The shape does not.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Questions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Then: build 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1574</TotalTime>
  <Words>2106</Words>
  <Application>Microsoft Macintosh PowerPoint</Application>
  <PresentationFormat>On-screen Show (4:3)</PresentationFormat>
  <Paragraphs>347</Paragraphs>
  <Slides>46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1" baseType="lpstr">
      <vt:lpstr>.AppleSystemUIFont</vt:lpstr>
      <vt:lpstr>Arial</vt:lpstr>
      <vt:lpstr>Calibri</vt:lpstr>
      <vt:lpstr>Courier New</vt:lpstr>
      <vt:lpstr>Office Theme</vt:lpstr>
      <vt:lpstr>MLOps Mini-Course</vt:lpstr>
      <vt:lpstr>From ML Scripts to Systems</vt:lpstr>
      <vt:lpstr>Typical ML Coursework</vt:lpstr>
      <vt:lpstr>What Happens After the Notebook?</vt:lpstr>
      <vt:lpstr>Reality: ML in Production</vt:lpstr>
      <vt:lpstr>ML Product Lifecycle</vt:lpstr>
      <vt:lpstr>Sample Project Timeline</vt:lpstr>
      <vt:lpstr>Designing a Production System</vt:lpstr>
      <vt:lpstr>Answers to (some of) our Questions</vt:lpstr>
      <vt:lpstr>Sample Architecture</vt:lpstr>
      <vt:lpstr>Why Production ML Fails</vt:lpstr>
      <vt:lpstr>Enter Containers</vt:lpstr>
      <vt:lpstr>Containers Provide</vt:lpstr>
      <vt:lpstr>Why Containers for ML Systems</vt:lpstr>
      <vt:lpstr>Images vs Containers</vt:lpstr>
      <vt:lpstr>LAB 1a</vt:lpstr>
      <vt:lpstr>Unzip lab1.zip</vt:lpstr>
      <vt:lpstr>Lab 1a: Containers &amp; Hello World</vt:lpstr>
      <vt:lpstr>Hello Web Architecture</vt:lpstr>
      <vt:lpstr>Dockerfile Basics</vt:lpstr>
      <vt:lpstr>Dockerfile (hands-on)</vt:lpstr>
      <vt:lpstr>Key Commands</vt:lpstr>
      <vt:lpstr>Additional Docker Commands</vt:lpstr>
      <vt:lpstr>Common Issues</vt:lpstr>
      <vt:lpstr>LAB 1b</vt:lpstr>
      <vt:lpstr>Lab 1b: IAC (local)</vt:lpstr>
      <vt:lpstr>Architecture Development</vt:lpstr>
      <vt:lpstr>Infrastructure as Code (IAC)</vt:lpstr>
      <vt:lpstr>Why Infrastructure as Code?</vt:lpstr>
      <vt:lpstr>Imperative vs Declarative</vt:lpstr>
      <vt:lpstr>Terraform</vt:lpstr>
      <vt:lpstr>Terraform Mental Model</vt:lpstr>
      <vt:lpstr>Local Terraform Demo</vt:lpstr>
      <vt:lpstr>Terraform Demo: Workflow</vt:lpstr>
      <vt:lpstr>Mapping to the Cloud</vt:lpstr>
      <vt:lpstr>Terraform Alterneratives</vt:lpstr>
      <vt:lpstr>Kubernetes: Production-Scale Container Orchestration</vt:lpstr>
      <vt:lpstr>From Cloud to Local</vt:lpstr>
      <vt:lpstr>Docker Compose as Local IaC</vt:lpstr>
      <vt:lpstr>docker-compose.yml Anatomy</vt:lpstr>
      <vt:lpstr>docker-compose.yml (hands-on)</vt:lpstr>
      <vt:lpstr>Service Lifecycle</vt:lpstr>
      <vt:lpstr>Hello Web with Compose</vt:lpstr>
      <vt:lpstr>Docker Compose Commands</vt:lpstr>
      <vt:lpstr>Compose Recap</vt:lpstr>
      <vt:lpstr>Why This Is (local) IaC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Mike P Jones</cp:lastModifiedBy>
  <cp:revision>16</cp:revision>
  <dcterms:created xsi:type="dcterms:W3CDTF">2013-01-27T09:14:16Z</dcterms:created>
  <dcterms:modified xsi:type="dcterms:W3CDTF">2026-02-20T00:53:31Z</dcterms:modified>
  <cp:category/>
</cp:coreProperties>
</file>