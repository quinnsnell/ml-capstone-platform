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7"/>
    <p:sldId id="257" r:id="rId8"/>
    <p:sldId id="258" r:id="rId9"/>
    <p:sldId id="300" r:id="rId3"/>
    <p:sldId id="297" r:id="rId6"/>
    <p:sldId id="298" r:id="rId5"/>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55"/>
    <p:restoredTop sz="85714"/>
  </p:normalViewPr>
  <p:slideViewPr>
    <p:cSldViewPr snapToGrid="0" snapToObjects="1">
      <p:cViewPr varScale="1">
        <p:scale>
          <a:sx n="104" d="100"/>
          <a:sy n="104" d="100"/>
        </p:scale>
        <p:origin x="744"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45.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034621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start, have these open: the deck, the architecture slide (slide 5) on a second screen if you can, a terminal on the CS VPN, hello-test-qsnell on the GitHub Actions tab, Coolify on the demo project, and both live URLs in browser tabs.</a:t>
            </a:r>
          </a:p>
          <a:p/>
          <a:p>
            <a:r>
              <a:t>Rough timing: ~15 min architecture, ~25 min CI/CD, ~30 min IaC/Terraform, plus demos.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leave Mike's session able to build, run, and push. They can make software run on their own machine. This lecture is the bridge to making it run for other people, and to doing that so routinely that it stops being an event.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drive the lecture, in order:</a:t>
            </a:r>
          </a:p>
          <a:p>
            <a:r>
              <a:t>1. Where does everything sit?</a:t>
            </a:r>
          </a:p>
          <a:p>
            <a:r>
              <a:t>2. What happens between git push and a user seeing the change?</a:t>
            </a:r>
          </a:p>
          <a:p>
            <a:r>
              <a:t>3. Who created all that infrastructure, and how do we stop doing it by hand?</a:t>
            </a:r>
          </a:p>
          <a:p/>
          <a:p>
            <a:r>
              <a:t>The through-line: describe it, don't do it. A Dockerfile describes an image. A compose file describes a system. A workflow describes a pipeline. A .tf file describes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tree, bottom left: build: ./frontend points at a FOLDER. Compose looks for a file called Dockerfile inside it, and that file holds the build steps. The folder is also the build context, so a COPY in that Dockerfile sees only what's in frontend/. The backend has no folder because it uses image: postgres:16, a ready-made image pulled from Docker Hub. build: means "make my own"; image: means "use someone else's".</a:t>
            </a:r>
          </a:p>
          <a:p/>
          <a:p>
            <a:r>
              <a:t>The compose file on the right is the whole system description. Point out:</a:t>
            </a:r>
          </a:p>
          <a:p>
            <a:r>
              <a:t>- three services, and Compose runs each one as its own container;</a:t>
            </a:r>
          </a:p>
          <a:p>
            <a:r>
              <a:t>- the frontend reaches the others by service name (http://service, backend:5432) over the network Compose creates;</a:t>
            </a:r>
          </a:p>
          <a:p>
            <a:r>
              <a:t>- only the frontend will get a public hostname;</a:t>
            </a:r>
          </a:p>
          <a:p>
            <a:r>
              <a:t>- the password comes from an environment variable, not the file;</a:t>
            </a:r>
          </a:p>
          <a:p>
            <a:r>
              <a:t>- the named volume is what keeps the data when containers are replaced.</a:t>
            </a:r>
          </a:p>
          <a:p/>
          <a:p>
            <a:r>
              <a:t>This same file runs on the laptop, in staging and in production. The next slide shows where.</a:t>
            </a:r>
          </a:p>
          <a:p/>
          <a:p>
            <a:r>
              <a:t>"Simplifications labelled" is a promise to keep. Twice in this lecture we stop and say "here is where a real company does more": the deploy itself ("What Production Platforms Add") and how images are built ("Build Once, Promote"). Students should leave knowing where the training wheels 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 repo every student starts from. Walk it top to bottom:</a:t>
            </a:r>
          </a:p>
          <a:p/>
          <a:p>
            <a:r>
              <a:t>- docker-compose.yaml: the whole system. Next slide.</a:t>
            </a:r>
          </a:p>
          <a:p>
            <a:r>
              <a:t>- docker-compose.override.yml: Compose merges it automatically when you run docker compose up locally. It adds a host port so you can open localhost:8000. Coolify runs with -f docker-compose.yaml only, so production never sees it. That's per-environment config in its simplest form.</a:t>
            </a:r>
          </a:p>
          <a:p>
            <a:r>
              <a:t>- .github/workflows/ci.yml: the pipeline. Tests, then the deploy webhooks.</a:t>
            </a:r>
          </a:p>
          <a:p>
            <a:r>
              <a:t>- smoke-test.sh: with no argument it starts the stack locally and hits every endpoint; with a URL it tests a live deploy.</a:t>
            </a:r>
          </a:p>
          <a:p>
            <a:r>
              <a:t>- hello/ and time/: one folder per service we BUILD, each with its own Dockerfile. That's what build: ./hello points at.</a:t>
            </a:r>
          </a:p>
          <a:p>
            <a:r>
              <a:t>- hello/tests/: what CI runs on every push.</a:t>
            </a:r>
          </a:p>
          <a:p>
            <a:r>
              <a:t>- hello/migrations/: the app creates its own database tables at startup. The database container knows nothing about the schema.</a:t>
            </a:r>
          </a:p>
          <a:p>
            <a:r>
              <a:t>- terraform/: the Infrastructure as Code we'll get to later today.</a:t>
            </a:r>
          </a:p>
          <a:p/>
          <a:p>
            <a:r>
              <a:t>There is no db/ folder, because db uses a stock postgres image. image: instead of build:.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template's actual docker-compose.yaml with the comments removed and two healthchecks collapsed. The real file is heavily commented. Point students at it, since the comments explain every one of these choices.</a:t>
            </a:r>
          </a:p>
          <a:p/>
          <a:p>
            <a:r>
              <a:t>Mapping to the last slide: hello = frontend, time = service, db = backend.</a:t>
            </a:r>
          </a:p>
          <a:p/>
          <a:p>
            <a:r>
              <a:t>1. expose, not ports. The container's port is NOT published on the host. On a shared server, only one container can own a host port, so thirty apps using ports: 8000 would collide. Traefik reaches the container over Coolify's internal Docker network instead. (Locally, docker-compose.override.yml adds a ports: mapping so you can hit localhost:8000; Coolify never reads the override.)</a:t>
            </a:r>
          </a:p>
          <a:p/>
          <a:p>
            <a:r>
              <a:t>3. ${SERVICE_FQDN_HELLO} is Coolify-specific. Just referencing it tells Coolify: fill in this app's domain, put the service on the coolify network, and generate the Traefik routing labels. The name follows the service name. time and db don't reference one, so they get no route. That's the "only the frontend has a hostname" point.</a:t>
            </a:r>
          </a:p>
          <a:p/>
          <a:p>
            <a:r>
              <a:t>2. DATABASE_URL ...@db:5432: services find each other by service name. Compose gives each service a DNS name on the project's network.</a:t>
            </a:r>
          </a:p>
          <a:p/>
          <a:p>
            <a:r>
              <a:t>4. depends_on with condition: service_healthy. hello doesn't start until time and db report healthy. Plain depends_on only waits for "started", which for Postgres is not the same as "ready".</a:t>
            </a:r>
          </a:p>
          <a:p/>
          <a:p>
            <a:r>
              <a:t>5. The healthcheck calls /health. start_interval: 2s makes a new container go healthy within seconds; interval: 5m keeps it quiet afterwards. This is what Traefik uses to decide whether to send traffic.</a:t>
            </a:r>
          </a:p>
          <a:p/>
          <a:p>
            <a:r>
              <a:t>6. restart: unless-stopped. If the process crashes, Docker restarts it. Cheap self-healing.</a:t>
            </a:r>
          </a:p>
          <a:p/>
          <a:p>
            <a:r>
              <a:t>7. image: instead of build:. db is stock Postgres; nobody writes a Dockerfile for it.</a:t>
            </a:r>
          </a:p>
          <a:p/>
          <a:p>
            <a:r>
              <a:t>8. apppass is sitting in the file. Fine for a demo whose data doesn't matter; not fine for anything real. Compare slide 4, where the password comes from ${DB_PASSWORD}. In Coolify you'd set it as an environment variable per environment.</a:t>
            </a:r>
          </a:p>
          <a:p/>
          <a:p>
            <a:r>
              <a:t>9. The named volume db-data is what keeps the data across redeploys. Coolify gives staging and production separate volumes. Only docker compose down -v (or deleting with "delete volumes") wipes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real time here. Everything later refers back to it.</a:t>
            </a:r>
          </a:p>
          <a:p/>
          <a:p>
            <a:r>
              <a:t>Walk it in the direction the code moves: laptop → GitHub → cloud → users. Three things students get wrong, so say them out loud:</a:t>
            </a:r>
          </a:p>
          <a:p>
            <a:r>
              <a:t>- The same three services run in all three places. The compose file on their laptop is the compose file production uses — the same file, not a similar one.</a:t>
            </a:r>
          </a:p>
          <a:p>
            <a:r>
              <a:t>- GitHub is not just storage. Actions is a computer that runs their tests.</a:t>
            </a:r>
          </a:p>
          <a:p>
            <a:r>
              <a:t>- Staging and production do not share a database. Separate volumes. Wiping staging data is safe; that is what it is for.</a:t>
            </a:r>
          </a:p>
          <a:p/>
          <a:p>
            <a:r>
              <a:t>Worth naming: the frontend is the only service users can reach. The other service and the backend have no public route at all. That isn't a firewall rule; they simply have no hostname.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left two panels of the diagram.</a:t>
            </a:r>
          </a:p>
          <a:p/>
          <a:p>
            <a:r>
              <a:t>Laptop: the same compose file runs here as in production. docker-compose.override.yml adds a host port locally so they can hit localhost:8000; Coolify runs with -f docker-compose.yaml only, so the override never reaches production. That's a small, real example of per-environment config.</a:t>
            </a:r>
          </a:p>
          <a:p/>
          <a:p>
            <a:r>
              <a:t>GitHub: Coolify's own auto-deploy-on-push is deliberately turned off (is_auto_deploy_enabled = false in the Terraform). CI is the single source of "when to deploy". If both were on, every push would deploy twice, and one of those deploys would skip the tests.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PaaS sits between two extremes. With raw servers (IaaS) you install and run everything yourself. With SaaS you use someone else's finished app. A PaaS runs YOUR app without you managing the machine. Industry equivalents: Heroku, Render, Fly.io, Railway, Google Cloud Run, AWS ECS. Coolify is the self-hosted version.</a:t>
            </a:r>
          </a:p>
          <a:p/>
          <a:p>
            <a:r>
              <a:t>Traefik is pronounced "traffic"; the name is a pun. A reverse proxy receives every incoming request and passes it to whichever container should answer. Without it every app would need its own port (rigel:8001, rigel:8002…). Nginx and cloud load balancers do the same job elsewhere.</a:t>
            </a:r>
          </a:p>
          <a:p/>
          <a:p>
            <a:r>
              <a:t>Wildcard DNS means every name under ml-capstone.cs.byu.edu resolves to the same machine; Traefik reads the Host header and picks the container. That is why thirty students share one machine without colliding.</a:t>
            </a:r>
          </a:p>
          <a:p/>
          <a:p>
            <a:r>
              <a:t>Two environments is not a classroom invention; every serious team does this. Be careful not to say "same image": Coolify builds staging from the staging branch and production from main, so they are two separate builds. "Build Once, Promote" comes back to this.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Industry uses both CD terms, and students will hear them used loosely. Our setup is continuous deployment to staging and continuous delivery to production. The human merge is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red band is the slide. Everything above and below it is mechanics; the red band is the policy. Ask them: what is the longest a broken commit can be live? It never is. It doesn't get that far.</a:t>
            </a:r>
          </a:p>
          <a:p/>
          <a:p>
            <a:r>
              <a:t>Orange boxes are the only things a human does: steps 1, 6 and 8. Everything blue was configured once and now happens whether anyone is watching or not.</a:t>
            </a:r>
          </a:p>
          <a:p/>
          <a:p>
            <a:r>
              <a:t>DEMO: bump APP_VERSION in hello/greetings.py, push to staging, and put three windows up: the Actions run, Coolify's deployment log, and</a:t>
            </a:r>
          </a:p>
          <a:p>
            <a:r>
              <a:t>  watch -n2 'curl -s http://hello-test-qsnell-staging.ml-capstone.cs.byu.edu/health'</a:t>
            </a:r>
          </a:p>
          <a:p>
            <a:r>
              <a:t>Then show production is still on the old version.</a:t>
            </a:r>
          </a:p>
          <a:p/>
          <a:p>
            <a:r>
              <a:t>FAILURE DEMO (better than the success demo): break a test, push, and let them watch deploy-staging never start. The live URL keeps serving throughout.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deploy jobs have two lines that carry the whole policy: needs: test (don't start unless tests passed) and an if: that checks the branch. Everything else in the file is plumbing. Show the real ci.yml in the demo repo if there are questions.</a:t>
            </a:r>
          </a:p>
          <a:p/>
          <a:p>
            <a:r>
              <a:t>The commands on the right are the whole developer loop. Point at the two git push lines: those are the only two things that trigger a deploy, and which one runs depends only on the branch.</a:t>
            </a:r>
          </a:p>
          <a:p/>
          <a:p>
            <a:r>
              <a:t>Between the two pushes: watch the Actions run go green, then check the staging URL (or run ./smoke-test.sh &lt;staging URL&gt;) before touching main.</a:t>
            </a:r>
          </a:p>
          <a:p/>
          <a:p>
            <a:r>
              <a:t>The last four lines merge locally and push main. Once branch protection is on (next slide), GitHub refuses that direct push to main, and the same step becomes a pull request: gh pr create --base main --head staging, then review and merge on GitHub. The deploy that follows is identical.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only the second half of the loop changes. Everything up to and including git push to staging is identical.</a:t>
            </a:r>
          </a:p>
          <a:p/>
          <a:p>
            <a:r>
              <a:t>gh is GitHub's command-line tool (brew install gh, then gh auth login). The same thing can be done in the browser: GitHub shows a "Compare &amp; pull request" button after you push staging. gh pr create --fill uses the commit messages for the title and body. Run it from the staging branch; gh pr merge with no number merges the PR for the current branch.</a:t>
            </a:r>
          </a:p>
          <a:p/>
          <a:p>
            <a:r>
              <a:t>The deploy that follows is identical: the merge IS a push to main, so test → deploy-prod runs as before.</a:t>
            </a:r>
          </a:p>
          <a:p/>
          <a:p>
            <a:r>
              <a:t>Right: branch protection is what makes the PR mandatory. Without it, "don't push straight to main" is only a promise; with it, GitHub refuses the push. It complements ci.yml: the pipeline controls what happens AFTER code lands on a branch; branch protection controls what may land on main at all.</a:t>
            </a:r>
          </a:p>
          <a:p/>
          <a:p>
            <a:r>
              <a:t>Where: repo Settings → Rules → Rulesets (or the older Branches → Branch protection rules). Target main. Turn on "Require a pull request before merging" and "Require status checks to pass", and pick the test job.</a:t>
            </a:r>
          </a:p>
          <a:p/>
          <a:p>
            <a:r>
              <a:t>Before class, check the byu-ml-capstone org plan: rulesets on PRIVATE repos need GitHub Team or Enterprise (GitHub Education can provide Team for free). On public repos they work on any plan.</a:t>
            </a:r>
          </a:p>
          <a:p/>
          <a:p>
            <a:r>
              <a:t>Worth a sentence: the deploy token CI uses lives in GitHub's encrypted repository secrets, never in the code. A secret committed to git is a secret given away. History is forever, so you rotate it, not just delete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here. It's a better lesson than pretending.</a:t>
            </a:r>
          </a:p>
          <a:p/>
          <a:p>
            <a:r>
              <a:t>Our apps use Coolify's Docker Compose build pack. For compose apps, Coolify runs docker compose up. It does NOT do a rolling update (Coolify's docs say so explicitly). So:</a:t>
            </a:r>
          </a:p>
          <a:p>
            <a:r>
              <a:t>- The old containers are stopped and the new ones started. There are a few seconds when nothing answers.</a:t>
            </a:r>
          </a:p>
          <a:p>
            <a:r>
              <a:t>- Docker runs the healthcheck defined in docker-compose.yaml (it curls /health).</a:t>
            </a:r>
          </a:p>
          <a:p>
            <a:r>
              <a:t>- Traefik won't route to a container that is "starting" or "unhealthy".</a:t>
            </a:r>
          </a:p>
          <a:p>
            <a:r>
              <a:t>- If the new build never goes healthy, users get an error page, NOT the old version. The old version is already gone.</a:t>
            </a:r>
          </a:p>
          <a:p/>
          <a:p>
            <a:r>
              <a:t>So /health keeps a broken container away from users, but it does not bring the old one back. That is exactly why staging exists: you want this failure to happen where nobody is watching.</a:t>
            </a:r>
          </a:p>
          <a:p/>
          <a:p>
            <a:r>
              <a:t>One more trap: CI's deploy job goes green as soon as Coolify ACCEPTS the request. The build and start happen afterwards. Whether it worked shows up in Coolify's deployment log and at /health. That's why the demo has three windows open.</a:t>
            </a:r>
          </a:p>
          <a:p/>
          <a:p>
            <a:r>
              <a:t>Next slide: what production platforms do instead.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"teach the gap" slide. Rolling / blue-green deploys start the new version ALONGSIDE the old, wait for the health check, then move traffic. If the new version never goes healthy, it's thrown away and the old version keeps serving. No downtime, and the failure is invisible to users.</a:t>
            </a:r>
          </a:p>
          <a:p/>
          <a:p>
            <a:r>
              <a:t>Where they will meet it: Kubernetes Deployments (rolling update by default), AWS ECS, Google Cloud Run revisions, Fly.io, Render. Coolify itself does this for Dockerfile / Nixpacks apps. It just can't for compose apps.</a:t>
            </a:r>
          </a:p>
          <a:p/>
          <a:p>
            <a:r>
              <a:t>The key point for students: the /health endpoint they write this semester is exactly what those platforms ask for. The habit transfers even though our deploy is simpler.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template's compose file, the frontend's healthcheck runs every 2 seconds during start-up (start_interval) and every 5 minutes once healthy. It also depends_on the other services being healthy, so a broken database stops the frontend from even starting.</a:t>
            </a:r>
          </a:p>
          <a:p/>
          <a:p>
            <a:r>
              <a:t>Push them to make /health honest. A /health that returns {"ok": true} no matter what is worse than useless: it tells every platform that a broken app is fine.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smoke-test.sh has two modes. With no argument it brings up the full compose stack locally. With a URL it skips Docker and hits /, /health, /time and /notes on the deployed app. Running it against staging after every deploy is the cheap version of the post-deploy verification that industry pipelines automate.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Revert, don't hot-fix on the server. git revert makes a new commit that undoes the bad one, and it goes through the same tests and the same deploy. Nobody SSHes into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second labelled simplification. Coolify builds staging from the staging branch and production from main: two builds. If a base image or a dependency changed between them, production runs something staging never tested.</a:t>
            </a:r>
          </a:p>
          <a:p/>
          <a:p>
            <a:r>
              <a:t>Industry pattern: CI builds the image once, tags it with the commit SHA, and pushes it to a registry (GitHub Container Registry, ghcr.io, is free for them). Staging deploys that tag. Promotion to production deploys the SAME tag. What was tested is byte-for-byte what ships.</a:t>
            </a:r>
          </a:p>
          <a:p/>
          <a:p>
            <a:r>
              <a:t>Why we skip it: a registry is one more thing to build and operate, and it needs public networking. CI has to push to it and the cluster has to pull from it, and our cluster sits behind the CS VPN. Why they should know it: Cloud Run, ECS and Kubernetes deploy images, not repos. "The Same Idea, Somewhere Else" shows that.</a:t>
            </a:r>
          </a:p>
          <a:p/>
          <a:p>
            <a:r>
              <a:t>Good stretch goal for a strong team.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concrete and a little rueful: creating the setup by hand is about thirty clicks across two websites, and a mistake anywhere is silent until someone's deploy fails. This is a real story, not a hypothetical.</a:t>
            </a:r>
          </a:p>
          <a:p/>
          <a:p>
            <a:r>
              <a:t>The five words, briefly:</a:t>
            </a:r>
          </a:p>
          <a:p>
            <a:r>
              <a:t>- Reproducible: the same file gives the same result every time.</a:t>
            </a:r>
          </a:p>
          <a:p>
            <a:r>
              <a:t>- Reviewable: a change to infrastructure shows up in a diff and can go through a PR.</a:t>
            </a:r>
          </a:p>
          <a:p>
            <a:r>
              <a:t>- Recoverable: the environment is described, so it can be rebuilt.</a:t>
            </a:r>
          </a:p>
          <a:p>
            <a:r>
              <a:t>- Self-documenting: the file IS the documentation, and it can't go stale.</a:t>
            </a:r>
          </a:p>
          <a:p>
            <a:r>
              <a:t>- Scalable: thirty servers is the same effort as 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for declarative: run it twice, get the same result. A shell script that creates a project creates two projects. terraform apply run twice does nothing the second time. That property is idempotence, and it's why the whole approach works.</a:t>
            </a:r>
          </a:p>
          <a:p/>
          <a:p>
            <a:r>
              <a:t>Terraform is the de-facto industry standard. Google Cloud's own IaC service (Infrastructure Manager) runs Terraform under the hood. OpenTofu is the open-source fork with the same language, and a drop-in replacement for what they'll do here.</a:t>
            </a:r>
          </a:p>
          <a:p/>
          <a:p>
            <a:r>
              <a:t>They've already seen a declarative tool: docker compose up converges to what the compose file describes.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words and one loop.</a:t>
            </a:r>
          </a:p>
          <a:p/>
          <a:p>
            <a:r>
              <a:t>The diagram: plan reads three things: your .tf files (what should exist), the state file (what Terraform made last time), and the real platform (what is actually there now). It prints the difference as + create / ~ change / - destroy. apply does exactly that difference and nothing else.</a:t>
            </a:r>
          </a:p>
          <a:p/>
          <a:p>
            <a:r>
              <a:t>Reading the plan is the skill. Most real incidents with IaC are someone applying a plan they didn't read.</a:t>
            </a:r>
          </a:p>
          <a:p/>
          <a:p>
            <a:r>
              <a:t>DEMO: terraform plan against the demo project prints "No changes. Your infrastructure matches the configuration." That's the most convincing possible demonstration of what declarative means. To show a real plan, change a variable default and re-plan.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coolify_server_uuid validation is a good example. Every team has a different server UUID, so no default works, and the validation turns a baffling API error into an instruction.</a:t>
            </a:r>
          </a:p>
          <a:p/>
          <a:p>
            <a:r>
              <a:t>sensitive = true keeps the token out of plan output and logs. It is still stored in the state file in plain text, which is one reason tfstate is gitignored (see the State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coolify_project.app.uuid appearing inside the environment resource. That reference is the whole trick: it's a value that doesn't exist until the project is created.</a:t>
            </a:r>
          </a:p>
          <a:p/>
          <a:p>
            <a:r>
              <a:t>Abridged: the real file also passes project_uuid, server_uuid, github_app_uuid and ports_exposes. The production application doesn't declare an environment resource at all. Coolify creates "production" automatically, so it's referenced by name.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of the references, Terraform builds this graph and works out the order itself. They never write "create the project first".</a:t>
            </a:r>
          </a:p>
          <a:p/>
          <a:p>
            <a:r>
              <a:t>Two things worth pointing at:</a:t>
            </a:r>
          </a:p>
          <a:p>
            <a:r>
              <a:t>- The dashed box: Coolify creates the production environment automatically, so it isn't a Terraform resource. The production app refers to it by name.</a:t>
            </a:r>
          </a:p>
          <a:p>
            <a:r>
              <a:t>- COOLIFY_API_TOKEN depends on nothing but a variable, so Terraform creates it in parallel with everything else. Independent branches of the graph run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next_steps is a nice touch to point out. The one manual step (pasting the domain into Coolify) is printed by Terraform with the student's actual values filled in. That's "document the 10%" done well.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 that confuses everyone. If a student deletes their state, the fix is terraform import (or deleting the resources in the UI and re-applying). It's worth knowing the word "import" exists.</a:t>
            </a:r>
          </a:p>
          <a:p/>
          <a:p>
            <a:r>
              <a:t>Remote state also gives teams locking, so two people can't apply at once. With one repo per team and local state, only one teammate should run apply.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skip this one. The lesson is professional rather than technical.</a:t>
            </a:r>
          </a:p>
          <a:p/>
          <a:p>
            <a:r>
              <a:t>The real reason is a three-deep chain: the provider only has a flat domains field; Coolify's API rejects that for compose apps and wants docker_compose_domains; that field needs the compose file loaded, which only happens on first deploy or via a UI button. So: one UI paste per app, printed for them by the next_steps output.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payoff, and the answer to "why learn Coolify, I'll never use it again."</a:t>
            </a:r>
          </a:p>
          <a:p/>
          <a:p>
            <a:r>
              <a:t>What changes: the provider block, the resource type names, and their arguments. What doesn't: their app, Dockerfile, compose file, CI pipeline, variables, outputs, structure, and how they think about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nouns, identical position in an identical graph.</a:t>
            </a:r>
          </a:p>
          <a:p/>
          <a:p>
            <a:r>
              <a:t>Note the comment: Cloud Run deploys an IMAGE, not a git repo. That ties back to "Build Once, Promote". Moving off Coolify would mean adding a build-and-push step to CI, and that's the only real change to the pipeline.</a:t>
            </a:r>
          </a:p>
          <a:p/>
          <a:p>
            <a:r>
              <a:t>(The previous version of this slide used AWS App Runner. AWS closed App Runner to new customers on 30 April 2026 and points people to ECS Express Mode, so it's a poor example to hand students now.)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shape, lower-level pieces. Kubernetes doesn't build code or read compose files. You describe each piece yourself.</a:t>
            </a:r>
          </a:p>
          <a:p/>
          <a:p>
            <a:r>
              <a:t>Walk the rows:</a:t>
            </a:r>
          </a:p>
          <a:p>
            <a:r>
              <a:t>- Provider: hashicorp/kubernetes, configured with a kubeconfig instead of an endpoint + token.</a:t>
            </a:r>
          </a:p>
          <a:p>
            <a:r>
              <a:t>- Project + environment become a namespace per environment (myapp-staging, myapp-production).</a:t>
            </a:r>
          </a:p>
          <a:p>
            <a:r>
              <a:t>- One coolify_application becomes, per service, a Deployment (runs the containers) and a Service (a stable internal name). Only the frontend gets an Ingress, so the others stay internal, just like today.</a:t>
            </a:r>
          </a:p>
          <a:p>
            <a:r>
              <a:t>- The database becomes a StatefulSet with a persistent volume, or, more often in industry, a managed database outside the cluster.</a:t>
            </a:r>
          </a:p>
          <a:p>
            <a:r>
              <a:t>- The Ingress resource carries the hostname, so the manual domain step from "What It Cannot Do" disappears. Traefik is the default ingress controller in k3s, so the "front door" idea carries straight over.</a:t>
            </a:r>
          </a:p>
          <a:p>
            <a:r>
              <a:t>- The compose healthcheck becomes a readinessProbe, and Deployments do rolling updates by default. The gap from "What Production Platforms Add" closes.</a:t>
            </a:r>
          </a:p>
          <a:p/>
          <a:p>
            <a:r>
              <a:t>The catch, and the takeaway: Kubernetes runs images, not repos. CI must build, tag and push to a registry, so "Build Once, Promote" stops being optional. A deploy becomes "change the image tag and apply" (terraform apply -var, kubectl set image, or a GitOps tool like Argo CD).</a:t>
            </a:r>
          </a:p>
          <a:p/>
          <a:p>
            <a:r>
              <a:t>Industry note: many teams use Terraform for the cluster, namespaces and databases, and Helm or plain manifests for the app's Deployments. Both are the same declarative idea.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Cloud Deployment Manager (on the old version of this slide) reached end of support on 31 March 2026 and shuts down in 2027. Its replacement, Infrastructure Manager, is managed Terraform. That makes a good point: even a cloud vendor's own tool standardised on the language they're learning.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will generate these files with AI tools, and that's fine. It's exactly why the pieces matter. The next slide is the checklist for interrogating what comes back.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setup lab in student-guide.md Part B. At the fork they choose Path A (Terraform) or Path B (Coolify UI). Both end in the same place, and both set their two domains by hand. Step 10 walks them through their first real deploy, including a deliberately failing test so they watch the gate work.</a:t>
            </a:r>
          </a:p>
          <a:p/>
          <a:p>
            <a:r>
              <a:t>Everything is documented at https://quinnsnell.github.io/ml-capstone-platform/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words students mix up. Say it slowly, left to right.</a:t>
            </a:r>
          </a:p>
          <a:p/>
          <a:p>
            <a:r>
              <a:t>DOCKERFILE: a text file in your repo. A recipe. Nothing runs yet.</a:t>
            </a:r>
          </a:p>
          <a:p/>
          <a:p>
            <a:r>
              <a:t>IMAGE: what docker build produces from the recipe. A frozen, read-only snapshot: a small Linux userland, Python, your pip packages and your code, stacked in layers. Layers are cached, so rebuilding after a code change only redoes the top layer, which is why the second build is fast.</a:t>
            </a:r>
          </a:p>
          <a:p/>
          <a:p>
            <a:r>
              <a:t>CONTAINER: what docker run starts from an image. A running process with its own filesystem and network. You can start as many containers from one image as you like, and throwing one away doesn't touch the image.</a:t>
            </a:r>
          </a:p>
          <a:p/>
          <a:p>
            <a:r>
              <a:t>For CS students, the analogy that lands: an image is a class, a container is an object. docker run is "new".</a:t>
            </a:r>
          </a:p>
          <a:p/>
          <a:p>
            <a:r>
              <a:t>REGISTRY: where images are shared. docker push uploads one; docker pull downloads one. Nobody builds Postgres. The compose file says image: postgres:16 and Docker pulls it from Docker Hub.</a:t>
            </a:r>
          </a:p>
          <a:p/>
          <a:p>
            <a:r>
              <a:t>Common confusion to name out loud: "I changed my code but the container didn't change." Right: the container runs the OLD image. You have to rebuild the image and start a new container. (docker compose up --build does both.)</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Compose doesn't replace Docker. It's a tool that reads one file and does the docker build / docker run work for every service, plus the wiring you'd otherwise do by hand.</a:t>
            </a:r>
          </a:p>
          <a:p/>
          <a:p>
            <a:r>
              <a:t>What docker compose up does, in order:</a:t>
            </a:r>
          </a:p>
          <a:p>
            <a:r>
              <a:t>1. builds an image for each service that has build: (pulls the ones with image:);</a:t>
            </a:r>
          </a:p>
          <a:p>
            <a:r>
              <a:t>2. creates a private network for the project;</a:t>
            </a:r>
          </a:p>
          <a:p>
            <a:r>
              <a:t>3. creates any named volumes;</a:t>
            </a:r>
          </a:p>
          <a:p>
            <a:r>
              <a:t>4. starts one container per service, in depends_on order.</a:t>
            </a:r>
          </a:p>
          <a:p/>
          <a:p>
            <a:r>
              <a:t>On that network, each service's name is its hostname. That's why the frontend connects to backend:5432, not an IP address.</a:t>
            </a:r>
          </a:p>
          <a:p/>
          <a:p>
            <a:r>
              <a:t>The volume lives OUTSIDE the container. Replace the backend container (new version, redeploy, docker compose down / up) and the data is still there. Only docker compose down -v deletes it.</a:t>
            </a:r>
          </a:p>
          <a:p/>
          <a:p>
            <a:r>
              <a:t>Only ports you publish are reachable from outside. Locally, the override file publishes the frontend on localhost:8000; on the server, Traefik reaches it instead. The service and backend are never published.</a:t>
            </a:r>
          </a:p>
          <a:p/>
          <a:p>
            <a:r>
              <a:t>Where the containers actually run: containers share the host's Linux kernel. That's why they start in a second and are much lighter than virtual machines. On a Mac or Windows laptop there's no Linux kernel, so Docker Desktop quietly runs one small Linux VM and all your containers live inside it. On the server (rigel), Docker runs directly on Linux. Same images, same compose file, either place.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pictures, left to right. The point of all three: where does the operating system KERNEL come from?</a:t>
            </a:r>
          </a:p>
          <a:p/>
          <a:p>
            <a:r>
              <a:t>1. A VIRTUAL MACHINE on your laptop (VirtualBox, Parallels, VMware). The VM is just another application, sitting at the same level as your browser and editor. Inside it, though, is a complete guest operating system with its own kernel. That's why a VM is gigabytes and takes a minute to boot.</a:t>
            </a:r>
          </a:p>
          <a:p/>
          <a:p>
            <a:r>
              <a:t>2. DOCKER ON LINUX (the class server). A container is NOT a little VM. It's an ordinary process, again at the same level as other programs, that the Linux kernel fences off: its own files, its own network, its own process list. Every container shares the host's one Linux kernel. Nothing to boot, so it starts in about a second and is megabytes, not gigabytes.</a:t>
            </a:r>
          </a:p>
          <a:p/>
          <a:p>
            <a:r>
              <a:t>3. DOCKER ON A MAC OR WINDOWS LAPTOP. Container images are built for LINUX, and macOS and Windows don't have a Linux kernel. So Docker Desktop quietly starts ONE small Linux VM in the background (Apple's Virtualization framework on a Mac, WSL 2 on Windows) and runs all your containers inside it, sharing that VM's kernel. It's one VM for all containers, not one per container, so you still get the speed.</a:t>
            </a:r>
          </a:p>
          <a:p/>
          <a:p>
            <a:r>
              <a:t>This is why "Docker Desktop is using 4 GB of memory" is normal: that's the Linux VM.</a:t>
            </a:r>
          </a:p>
          <a:p/>
          <a:p>
            <a:r>
              <a:t>The payoff: the image never knows which of these it's on. It sees a Linux kernel either way, so the same image behaves the same on your Mac, your teammate's Windows laptop and the Linux server. "Works on my machine" becomes "works on every machine with Docker."</a:t>
            </a:r>
          </a:p>
          <a:p/>
          <a:p>
            <a:r>
              <a:t>Honest footnote if asked: "the same" assumes the same CPU type. An image built on an Apple-silicon Mac (ARM) may not run on an Intel server unless it's built for both. Official images like postgres are built for both.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CI/CD, the Cloud, and Infrastructure as Code</a:t>
            </a:r>
          </a:p>
        </p:txBody>
      </p:sp>
      <p:sp>
        <p:nvSpPr>
          <p:cNvPr id="3" name="Subtitle 2"/>
          <p:cNvSpPr>
            <a:spLocks noGrp="1"/>
          </p:cNvSpPr>
          <p:nvPr>
            <p:ph type="subTitle" idx="1"/>
          </p:nvPr>
        </p:nvSpPr>
        <p:spPr/>
        <p:txBody>
          <a:bodyPr/>
          <a:lstStyle/>
          <a:p>
            <a:r>
              <a:t>ML Capstone · Lecture 2</a:t>
            </a:r>
          </a:p>
          <a:p>
            <a:r>
              <a:t>From a container on your laptop to a URL users can visit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Where You Are Now</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You can build an image and run a container</a:t>
            </a:r>
          </a:p>
          <a:p>
            <a:pPr>
              <a:spcBef>
                <a:spcPts val="1000"/>
              </a:spcBef>
            </a:pPr>
            <a:r>
              <a:rPr sz="2400"/>
              <a:t>You can push code to GitHub</a:t>
            </a:r>
          </a:p>
          <a:p>
            <a:pPr>
              <a:spcBef>
                <a:spcPts val="1000"/>
              </a:spcBef>
            </a:pPr>
            <a:r>
              <a:rPr sz="2400"/>
              <a:t>Your app runs — on your machine</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Missing: how does it get to a user?</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The Gap</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“It works on my machine” is solved</a:t>
            </a:r>
          </a:p>
          <a:p>
            <a:pPr>
              <a:spcBef>
                <a:spcPts val="1000"/>
              </a:spcBef>
            </a:pPr>
            <a:r>
              <a:rPr sz="2400"/>
              <a:t>“It works for users” is a different problem. Someone has to:</a:t>
            </a:r>
          </a:p>
          <a:p>
            <a:pPr lvl="1">
              <a:spcBef>
                <a:spcPts val="200"/>
              </a:spcBef>
            </a:pPr>
            <a:r>
              <a:rPr sz="2000">
                <a:solidFill>
                  <a:srgbClr val="404040"/>
                </a:solidFill>
              </a:rPr>
              <a:t>build it — every time, the same way</a:t>
            </a:r>
          </a:p>
          <a:p>
            <a:pPr lvl="1">
              <a:spcBef>
                <a:spcPts val="200"/>
              </a:spcBef>
            </a:pPr>
            <a:r>
              <a:rPr sz="2000">
                <a:solidFill>
                  <a:srgbClr val="404040"/>
                </a:solidFill>
              </a:rPr>
              <a:t>run it — somewhere that is always on</a:t>
            </a:r>
          </a:p>
          <a:p>
            <a:pPr lvl="1">
              <a:spcBef>
                <a:spcPts val="200"/>
              </a:spcBef>
            </a:pPr>
            <a:r>
              <a:rPr sz="2000">
                <a:solidFill>
                  <a:srgbClr val="404040"/>
                </a:solidFill>
              </a:rPr>
              <a:t>decide it is safe to replace what is live</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Doing that by hand does not survive contact with a semester.</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Docker: Dockerfile → Image → Container</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5</a:t>
            </a:r>
          </a:p>
        </p:txBody>
      </p:sp>
      <p:sp>
        <p:nvSpPr>
          <p:cNvPr id="4" name="TextBox 3"/>
          <p:cNvSpPr txBox="1"/>
          <p:nvPr/>
        </p:nvSpPr>
        <p:spPr>
          <a:xfrm>
            <a:off x="274320" y="1188720"/>
            <a:ext cx="2468880" cy="320040"/>
          </a:xfrm>
          <a:prstGeom prst="rect">
            <a:avLst/>
          </a:prstGeom>
          <a:noFill/>
        </p:spPr>
        <p:txBody>
          <a:bodyPr wrap="square" anchor="t" lIns="27432" rIns="27432" tIns="18288" bIns="18288">
            <a:spAutoFit/>
          </a:bodyPr>
          <a:lstStyle/>
          <a:p>
            <a:pPr algn="ctr"/>
            <a:r>
              <a:rPr sz="1500" b="1" i="0">
                <a:solidFill>
                  <a:srgbClr val="1F497D"/>
                </a:solidFill>
              </a:rPr>
              <a:t>DOCKERFILE</a:t>
            </a:r>
          </a:p>
        </p:txBody>
      </p:sp>
      <p:sp>
        <p:nvSpPr>
          <p:cNvPr id="5" name="Rounded Rectangle 4"/>
          <p:cNvSpPr/>
          <p:nvPr/>
        </p:nvSpPr>
        <p:spPr>
          <a:xfrm>
            <a:off x="274320" y="1536192"/>
            <a:ext cx="2468880" cy="1874519"/>
          </a:xfrm>
          <a:prstGeom prst="roundRect">
            <a:avLst>
              <a:gd name="adj" fmla="val 3902"/>
            </a:avLst>
          </a:prstGeom>
          <a:solidFill>
            <a:srgbClr val="F5F7FA"/>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6" name="TextBox 5"/>
          <p:cNvSpPr txBox="1"/>
          <p:nvPr/>
        </p:nvSpPr>
        <p:spPr>
          <a:xfrm>
            <a:off x="365760" y="1645920"/>
            <a:ext cx="2331720" cy="1691640"/>
          </a:xfrm>
          <a:prstGeom prst="rect">
            <a:avLst/>
          </a:prstGeom>
          <a:noFill/>
        </p:spPr>
        <p:txBody>
          <a:bodyPr wrap="square" anchor="t" lIns="27432" rIns="27432" tIns="18288" bIns="18288">
            <a:spAutoFit/>
          </a:bodyPr>
          <a:lstStyle/>
          <a:p>
            <a:pPr algn="l"/>
            <a:r>
              <a:rPr sz="1150" b="0" i="0">
                <a:solidFill>
                  <a:srgbClr val="262626"/>
                </a:solidFill>
                <a:latin typeface="Consolas"/>
              </a:rPr>
              <a:t>FROM python:3.12</a:t>
            </a:r>
          </a:p>
          <a:p>
            <a:pPr algn="l"/>
            <a:r>
              <a:rPr sz="1150" b="0" i="0">
                <a:solidFill>
                  <a:srgbClr val="262626"/>
                </a:solidFill>
                <a:latin typeface="Consolas"/>
              </a:rPr>
              <a:t>COPY requirements.txt .</a:t>
            </a:r>
          </a:p>
          <a:p>
            <a:pPr algn="l"/>
            <a:r>
              <a:rPr sz="1150" b="0" i="0">
                <a:solidFill>
                  <a:srgbClr val="262626"/>
                </a:solidFill>
                <a:latin typeface="Consolas"/>
              </a:rPr>
              <a:t>RUN pip install -r …</a:t>
            </a:r>
          </a:p>
          <a:p>
            <a:pPr algn="l"/>
            <a:r>
              <a:rPr sz="1150" b="0" i="0">
                <a:solidFill>
                  <a:srgbClr val="262626"/>
                </a:solidFill>
                <a:latin typeface="Consolas"/>
              </a:rPr>
              <a:t>COPY . /app</a:t>
            </a:r>
          </a:p>
          <a:p>
            <a:pPr algn="l"/>
            <a:r>
              <a:rPr sz="1150" b="0" i="0">
                <a:solidFill>
                  <a:srgbClr val="262626"/>
                </a:solidFill>
                <a:latin typeface="Consolas"/>
              </a:rPr>
              <a:t>CMD python main.py</a:t>
            </a:r>
          </a:p>
        </p:txBody>
      </p:sp>
      <p:sp>
        <p:nvSpPr>
          <p:cNvPr id="7" name="Right Arrow 6"/>
          <p:cNvSpPr/>
          <p:nvPr/>
        </p:nvSpPr>
        <p:spPr>
          <a:xfrm>
            <a:off x="2788920" y="2286000"/>
            <a:ext cx="548640" cy="36576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97480" y="1828800"/>
            <a:ext cx="731520" cy="457200"/>
          </a:xfrm>
          <a:prstGeom prst="rect">
            <a:avLst/>
          </a:prstGeom>
          <a:noFill/>
        </p:spPr>
        <p:txBody>
          <a:bodyPr wrap="square" anchor="t" lIns="27432" rIns="27432" tIns="18288" bIns="18288">
            <a:spAutoFit/>
          </a:bodyPr>
          <a:lstStyle/>
          <a:p>
            <a:pPr algn="ctr"/>
            <a:r>
              <a:rPr sz="1200" b="1" i="0">
                <a:solidFill>
                  <a:srgbClr val="1F497D"/>
                </a:solidFill>
              </a:rPr>
              <a:t>docker</a:t>
            </a:r>
          </a:p>
          <a:p>
            <a:pPr algn="ctr"/>
            <a:r>
              <a:rPr sz="1200" b="1" i="0">
                <a:solidFill>
                  <a:srgbClr val="1F497D"/>
                </a:solidFill>
              </a:rPr>
              <a:t>build</a:t>
            </a:r>
          </a:p>
        </p:txBody>
      </p:sp>
      <p:sp>
        <p:nvSpPr>
          <p:cNvPr id="9" name="TextBox 8"/>
          <p:cNvSpPr txBox="1"/>
          <p:nvPr/>
        </p:nvSpPr>
        <p:spPr>
          <a:xfrm>
            <a:off x="3383280" y="1188720"/>
            <a:ext cx="2377440" cy="320040"/>
          </a:xfrm>
          <a:prstGeom prst="rect">
            <a:avLst/>
          </a:prstGeom>
          <a:noFill/>
        </p:spPr>
        <p:txBody>
          <a:bodyPr wrap="square" anchor="t" lIns="27432" rIns="27432" tIns="18288" bIns="18288">
            <a:spAutoFit/>
          </a:bodyPr>
          <a:lstStyle/>
          <a:p>
            <a:pPr algn="ctr"/>
            <a:r>
              <a:rPr sz="1500" b="1" i="0">
                <a:solidFill>
                  <a:srgbClr val="8064A2"/>
                </a:solidFill>
              </a:rPr>
              <a:t>IMAGE</a:t>
            </a:r>
          </a:p>
        </p:txBody>
      </p:sp>
      <p:sp>
        <p:nvSpPr>
          <p:cNvPr id="10" name="Rounded Rectangle 9"/>
          <p:cNvSpPr/>
          <p:nvPr/>
        </p:nvSpPr>
        <p:spPr>
          <a:xfrm>
            <a:off x="3383280" y="1536192"/>
            <a:ext cx="2377440" cy="1874519"/>
          </a:xfrm>
          <a:prstGeom prst="roundRect">
            <a:avLst>
              <a:gd name="adj" fmla="val 3902"/>
            </a:avLst>
          </a:prstGeom>
          <a:solidFill>
            <a:srgbClr val="FFFFFF"/>
          </a:solidFill>
          <a:ln w="25400">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11" name="Rectangle 10"/>
          <p:cNvSpPr/>
          <p:nvPr/>
        </p:nvSpPr>
        <p:spPr>
          <a:xfrm>
            <a:off x="3520440" y="1645920"/>
            <a:ext cx="2103120" cy="36576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your code</a:t>
            </a:r>
          </a:p>
        </p:txBody>
      </p:sp>
      <p:sp>
        <p:nvSpPr>
          <p:cNvPr id="12" name="Rectangle 11"/>
          <p:cNvSpPr/>
          <p:nvPr/>
        </p:nvSpPr>
        <p:spPr>
          <a:xfrm>
            <a:off x="3520440" y="2075688"/>
            <a:ext cx="2103120" cy="365760"/>
          </a:xfrm>
          <a:prstGeom prst="rect">
            <a:avLst/>
          </a:prstGeom>
          <a:solidFill>
            <a:srgbClr val="9C86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pip packages</a:t>
            </a:r>
          </a:p>
        </p:txBody>
      </p:sp>
      <p:sp>
        <p:nvSpPr>
          <p:cNvPr id="13" name="Rectangle 12"/>
          <p:cNvSpPr/>
          <p:nvPr/>
        </p:nvSpPr>
        <p:spPr>
          <a:xfrm>
            <a:off x="3520440" y="2505456"/>
            <a:ext cx="2103120" cy="365760"/>
          </a:xfrm>
          <a:prstGeom prst="rect">
            <a:avLst/>
          </a:prstGeom>
          <a:solidFill>
            <a:srgbClr val="B8A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1F497D"/>
                </a:solidFill>
              </a:rPr>
              <a:t>python 3.12</a:t>
            </a:r>
          </a:p>
        </p:txBody>
      </p:sp>
      <p:sp>
        <p:nvSpPr>
          <p:cNvPr id="14" name="Rectangle 13"/>
          <p:cNvSpPr/>
          <p:nvPr/>
        </p:nvSpPr>
        <p:spPr>
          <a:xfrm>
            <a:off x="3520440" y="2935224"/>
            <a:ext cx="2103120" cy="365760"/>
          </a:xfrm>
          <a:prstGeom prst="rect">
            <a:avLst/>
          </a:prstGeom>
          <a:solidFill>
            <a:srgbClr val="D4C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1F497D"/>
                </a:solidFill>
              </a:rPr>
              <a:t>Linux base</a:t>
            </a:r>
          </a:p>
        </p:txBody>
      </p:sp>
      <p:sp>
        <p:nvSpPr>
          <p:cNvPr id="15" name="Right Arrow 14"/>
          <p:cNvSpPr/>
          <p:nvPr/>
        </p:nvSpPr>
        <p:spPr>
          <a:xfrm>
            <a:off x="5806440" y="2286000"/>
            <a:ext cx="548640" cy="36576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5000" y="1828800"/>
            <a:ext cx="731520" cy="457200"/>
          </a:xfrm>
          <a:prstGeom prst="rect">
            <a:avLst/>
          </a:prstGeom>
          <a:noFill/>
        </p:spPr>
        <p:txBody>
          <a:bodyPr wrap="square" anchor="t" lIns="27432" rIns="27432" tIns="18288" bIns="18288">
            <a:spAutoFit/>
          </a:bodyPr>
          <a:lstStyle/>
          <a:p>
            <a:pPr algn="ctr"/>
            <a:r>
              <a:rPr sz="1200" b="1" i="0">
                <a:solidFill>
                  <a:srgbClr val="1F497D"/>
                </a:solidFill>
              </a:rPr>
              <a:t>docker</a:t>
            </a:r>
          </a:p>
          <a:p>
            <a:pPr algn="ctr"/>
            <a:r>
              <a:rPr sz="1200" b="1" i="0">
                <a:solidFill>
                  <a:srgbClr val="1F497D"/>
                </a:solidFill>
              </a:rPr>
              <a:t>run</a:t>
            </a:r>
          </a:p>
        </p:txBody>
      </p:sp>
      <p:sp>
        <p:nvSpPr>
          <p:cNvPr id="17" name="TextBox 16"/>
          <p:cNvSpPr txBox="1"/>
          <p:nvPr/>
        </p:nvSpPr>
        <p:spPr>
          <a:xfrm>
            <a:off x="6400800" y="1188720"/>
            <a:ext cx="2468880" cy="320040"/>
          </a:xfrm>
          <a:prstGeom prst="rect">
            <a:avLst/>
          </a:prstGeom>
          <a:noFill/>
        </p:spPr>
        <p:txBody>
          <a:bodyPr wrap="square" anchor="t" lIns="27432" rIns="27432" tIns="18288" bIns="18288">
            <a:spAutoFit/>
          </a:bodyPr>
          <a:lstStyle/>
          <a:p>
            <a:pPr algn="ctr"/>
            <a:r>
              <a:rPr sz="1500" b="1" i="0">
                <a:solidFill>
                  <a:srgbClr val="4F81BD"/>
                </a:solidFill>
              </a:rPr>
              <a:t>CONTAINERS</a:t>
            </a:r>
          </a:p>
        </p:txBody>
      </p:sp>
      <p:sp>
        <p:nvSpPr>
          <p:cNvPr id="18" name="Rounded Rectangle 17"/>
          <p:cNvSpPr/>
          <p:nvPr/>
        </p:nvSpPr>
        <p:spPr>
          <a:xfrm>
            <a:off x="6400800" y="1536192"/>
            <a:ext cx="2468880" cy="548640"/>
          </a:xfrm>
          <a:prstGeom prst="roundRect">
            <a:avLst>
              <a:gd name="adj" fmla="val 13333"/>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container 1  ·  running</a:t>
            </a:r>
          </a:p>
        </p:txBody>
      </p:sp>
      <p:sp>
        <p:nvSpPr>
          <p:cNvPr id="19" name="Rounded Rectangle 18"/>
          <p:cNvSpPr/>
          <p:nvPr/>
        </p:nvSpPr>
        <p:spPr>
          <a:xfrm>
            <a:off x="6400800" y="2176272"/>
            <a:ext cx="2468880" cy="548640"/>
          </a:xfrm>
          <a:prstGeom prst="roundRect">
            <a:avLst>
              <a:gd name="adj" fmla="val 13333"/>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container 2  ·  running</a:t>
            </a:r>
          </a:p>
        </p:txBody>
      </p:sp>
      <p:sp>
        <p:nvSpPr>
          <p:cNvPr id="20" name="Rounded Rectangle 19"/>
          <p:cNvSpPr/>
          <p:nvPr/>
        </p:nvSpPr>
        <p:spPr>
          <a:xfrm>
            <a:off x="6400800" y="2816352"/>
            <a:ext cx="2468880" cy="548640"/>
          </a:xfrm>
          <a:prstGeom prst="roundRect">
            <a:avLst>
              <a:gd name="adj" fmla="val 13333"/>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container 3  ·  running</a:t>
            </a:r>
          </a:p>
        </p:txBody>
      </p:sp>
      <p:sp>
        <p:nvSpPr>
          <p:cNvPr id="21" name="TextBox 20"/>
          <p:cNvSpPr txBox="1"/>
          <p:nvPr/>
        </p:nvSpPr>
        <p:spPr>
          <a:xfrm>
            <a:off x="274320" y="3474720"/>
            <a:ext cx="2468880" cy="548640"/>
          </a:xfrm>
          <a:prstGeom prst="rect">
            <a:avLst/>
          </a:prstGeom>
          <a:noFill/>
        </p:spPr>
        <p:txBody>
          <a:bodyPr wrap="square" anchor="t" lIns="27432" rIns="27432" tIns="18288" bIns="18288">
            <a:spAutoFit/>
          </a:bodyPr>
          <a:lstStyle/>
          <a:p>
            <a:pPr algn="ctr"/>
            <a:r>
              <a:rPr sz="1200" b="0" i="1">
                <a:solidFill>
                  <a:srgbClr val="404040"/>
                </a:solidFill>
              </a:rPr>
              <a:t>the recipe</a:t>
            </a:r>
          </a:p>
          <a:p>
            <a:pPr algn="ctr"/>
            <a:r>
              <a:rPr sz="1200" b="0" i="1">
                <a:solidFill>
                  <a:srgbClr val="404040"/>
                </a:solidFill>
              </a:rPr>
              <a:t>text in your repo</a:t>
            </a:r>
          </a:p>
        </p:txBody>
      </p:sp>
      <p:sp>
        <p:nvSpPr>
          <p:cNvPr id="22" name="TextBox 21"/>
          <p:cNvSpPr txBox="1"/>
          <p:nvPr/>
        </p:nvSpPr>
        <p:spPr>
          <a:xfrm>
            <a:off x="3383280" y="3474720"/>
            <a:ext cx="2377440" cy="548640"/>
          </a:xfrm>
          <a:prstGeom prst="rect">
            <a:avLst/>
          </a:prstGeom>
          <a:noFill/>
        </p:spPr>
        <p:txBody>
          <a:bodyPr wrap="square" anchor="t" lIns="27432" rIns="27432" tIns="18288" bIns="18288">
            <a:spAutoFit/>
          </a:bodyPr>
          <a:lstStyle/>
          <a:p>
            <a:pPr algn="ctr"/>
            <a:r>
              <a:rPr sz="1200" b="0" i="1">
                <a:solidFill>
                  <a:srgbClr val="404040"/>
                </a:solidFill>
              </a:rPr>
              <a:t>a frozen, read-only snapshot</a:t>
            </a:r>
          </a:p>
          <a:p>
            <a:pPr algn="ctr"/>
            <a:r>
              <a:rPr sz="1200" b="0" i="1">
                <a:solidFill>
                  <a:srgbClr val="404040"/>
                </a:solidFill>
              </a:rPr>
              <a:t>built in layers</a:t>
            </a:r>
          </a:p>
        </p:txBody>
      </p:sp>
      <p:sp>
        <p:nvSpPr>
          <p:cNvPr id="23" name="TextBox 22"/>
          <p:cNvSpPr txBox="1"/>
          <p:nvPr/>
        </p:nvSpPr>
        <p:spPr>
          <a:xfrm>
            <a:off x="6400800" y="3474720"/>
            <a:ext cx="2468880" cy="548640"/>
          </a:xfrm>
          <a:prstGeom prst="rect">
            <a:avLst/>
          </a:prstGeom>
          <a:noFill/>
        </p:spPr>
        <p:txBody>
          <a:bodyPr wrap="square" anchor="t" lIns="27432" rIns="27432" tIns="18288" bIns="18288">
            <a:spAutoFit/>
          </a:bodyPr>
          <a:lstStyle/>
          <a:p>
            <a:pPr algn="ctr"/>
            <a:r>
              <a:rPr sz="1200" b="0" i="1">
                <a:solidFill>
                  <a:srgbClr val="404040"/>
                </a:solidFill>
              </a:rPr>
              <a:t>running processes</a:t>
            </a:r>
          </a:p>
          <a:p>
            <a:pPr algn="ctr"/>
            <a:r>
              <a:rPr sz="1200" b="0" i="1">
                <a:solidFill>
                  <a:srgbClr val="404040"/>
                </a:solidFill>
              </a:rPr>
              <a:t>start · stop · throw away</a:t>
            </a:r>
          </a:p>
        </p:txBody>
      </p:sp>
      <p:sp>
        <p:nvSpPr>
          <p:cNvPr id="24" name="Down Arrow 23"/>
          <p:cNvSpPr/>
          <p:nvPr/>
        </p:nvSpPr>
        <p:spPr>
          <a:xfrm>
            <a:off x="4160520" y="4050791"/>
            <a:ext cx="274320" cy="384048"/>
          </a:xfrm>
          <a:prstGeom prst="downArrow">
            <a:avLst/>
          </a:prstGeom>
          <a:solidFill>
            <a:srgbClr val="3186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Up Arrow 24"/>
          <p:cNvSpPr/>
          <p:nvPr/>
        </p:nvSpPr>
        <p:spPr>
          <a:xfrm>
            <a:off x="4709160" y="4050791"/>
            <a:ext cx="274320" cy="384048"/>
          </a:xfrm>
          <a:prstGeom prst="upArrow">
            <a:avLst/>
          </a:prstGeom>
          <a:solidFill>
            <a:srgbClr val="3186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7520" y="4087368"/>
            <a:ext cx="1097280" cy="320040"/>
          </a:xfrm>
          <a:prstGeom prst="rect">
            <a:avLst/>
          </a:prstGeom>
          <a:noFill/>
        </p:spPr>
        <p:txBody>
          <a:bodyPr wrap="square" anchor="t" lIns="27432" rIns="27432" tIns="18288" bIns="18288">
            <a:spAutoFit/>
          </a:bodyPr>
          <a:lstStyle/>
          <a:p>
            <a:pPr algn="r"/>
            <a:r>
              <a:rPr sz="1100" b="0" i="0">
                <a:solidFill>
                  <a:srgbClr val="31869E"/>
                </a:solidFill>
              </a:rPr>
              <a:t>docker push</a:t>
            </a:r>
          </a:p>
        </p:txBody>
      </p:sp>
      <p:sp>
        <p:nvSpPr>
          <p:cNvPr id="27" name="TextBox 26"/>
          <p:cNvSpPr txBox="1"/>
          <p:nvPr/>
        </p:nvSpPr>
        <p:spPr>
          <a:xfrm>
            <a:off x="5029200" y="4087368"/>
            <a:ext cx="1097280" cy="320040"/>
          </a:xfrm>
          <a:prstGeom prst="rect">
            <a:avLst/>
          </a:prstGeom>
          <a:noFill/>
        </p:spPr>
        <p:txBody>
          <a:bodyPr wrap="square" anchor="t" lIns="27432" rIns="27432" tIns="18288" bIns="18288">
            <a:spAutoFit/>
          </a:bodyPr>
          <a:lstStyle/>
          <a:p>
            <a:pPr algn="l"/>
            <a:r>
              <a:rPr sz="1100" b="0" i="0">
                <a:solidFill>
                  <a:srgbClr val="31869E"/>
                </a:solidFill>
              </a:rPr>
              <a:t>docker pull</a:t>
            </a:r>
          </a:p>
        </p:txBody>
      </p:sp>
      <p:sp>
        <p:nvSpPr>
          <p:cNvPr id="28" name="Rounded Rectangle 27"/>
          <p:cNvSpPr/>
          <p:nvPr/>
        </p:nvSpPr>
        <p:spPr>
          <a:xfrm>
            <a:off x="3108960" y="4480560"/>
            <a:ext cx="2926080" cy="502920"/>
          </a:xfrm>
          <a:prstGeom prst="roundRect">
            <a:avLst>
              <a:gd name="adj" fmla="val 14545"/>
            </a:avLst>
          </a:prstGeom>
          <a:solidFill>
            <a:srgbClr val="3186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1">
                <a:solidFill>
                  <a:srgbClr val="FFFFFF"/>
                </a:solidFill>
              </a:rPr>
              <a:t>REGISTRY — Docker Hub, ghcr.io</a:t>
            </a:r>
          </a:p>
        </p:txBody>
      </p:sp>
      <p:sp>
        <p:nvSpPr>
          <p:cNvPr id="29" name="TextBox 28"/>
          <p:cNvSpPr txBox="1"/>
          <p:nvPr/>
        </p:nvSpPr>
        <p:spPr>
          <a:xfrm>
            <a:off x="6172200" y="4480560"/>
            <a:ext cx="2743200" cy="548640"/>
          </a:xfrm>
          <a:prstGeom prst="rect">
            <a:avLst/>
          </a:prstGeom>
          <a:noFill/>
        </p:spPr>
        <p:txBody>
          <a:bodyPr wrap="square" anchor="t" lIns="27432" rIns="27432" tIns="18288" bIns="18288">
            <a:spAutoFit/>
          </a:bodyPr>
          <a:lstStyle/>
          <a:p>
            <a:pPr algn="l"/>
            <a:r>
              <a:rPr sz="1200" b="0" i="1">
                <a:solidFill>
                  <a:srgbClr val="404040"/>
                </a:solidFill>
              </a:rPr>
              <a:t>image: postgres:16 is pulled</a:t>
            </a:r>
          </a:p>
          <a:p>
            <a:pPr algn="l"/>
            <a:r>
              <a:rPr sz="1200" b="0" i="1">
                <a:solidFill>
                  <a:srgbClr val="404040"/>
                </a:solidFill>
              </a:rPr>
              <a:t>from here — nobody builds it</a:t>
            </a:r>
          </a:p>
        </p:txBody>
      </p:sp>
      <p:sp>
        <p:nvSpPr>
          <p:cNvPr id="30" name="Rectangle 29"/>
          <p:cNvSpPr/>
          <p:nvPr/>
        </p:nvSpPr>
        <p:spPr>
          <a:xfrm>
            <a:off x="548640" y="534924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349240"/>
            <a:ext cx="7863840" cy="731520"/>
          </a:xfrm>
          <a:prstGeom prst="rect">
            <a:avLst/>
          </a:prstGeom>
          <a:noFill/>
        </p:spPr>
        <p:txBody>
          <a:bodyPr wrap="square" anchor="ctr" lIns="27432" rIns="27432" tIns="18288" bIns="18288">
            <a:spAutoFit/>
          </a:bodyPr>
          <a:lstStyle/>
          <a:p>
            <a:pPr algn="l"/>
            <a:r>
              <a:rPr sz="2100" b="1" i="0">
                <a:solidFill>
                  <a:srgbClr val="1F497D"/>
                </a:solidFill>
              </a:rPr>
              <a:t>An image is a class; a container is an object.</a:t>
            </a:r>
          </a:p>
          <a:p>
            <a:pPr algn="l"/>
            <a:r>
              <a:rPr sz="2100" b="1" i="0">
                <a:solidFill>
                  <a:srgbClr val="1F497D"/>
                </a:solidFill>
              </a:rPr>
              <a:t>One image → as many containers as you like.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Docker Compose: One File, Many Containers</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6</a:t>
            </a:r>
          </a:p>
        </p:txBody>
      </p:sp>
      <p:sp>
        <p:nvSpPr>
          <p:cNvPr id="4" name="TextBox 3"/>
          <p:cNvSpPr txBox="1"/>
          <p:nvPr/>
        </p:nvSpPr>
        <p:spPr>
          <a:xfrm>
            <a:off x="274320" y="1188720"/>
            <a:ext cx="2651760" cy="320040"/>
          </a:xfrm>
          <a:prstGeom prst="rect">
            <a:avLst/>
          </a:prstGeom>
          <a:noFill/>
        </p:spPr>
        <p:txBody>
          <a:bodyPr wrap="square" anchor="t" lIns="27432" rIns="27432" tIns="18288" bIns="18288">
            <a:spAutoFit/>
          </a:bodyPr>
          <a:lstStyle/>
          <a:p>
            <a:pPr algn="l"/>
            <a:r>
              <a:rPr sz="1400" b="1" i="0">
                <a:solidFill>
                  <a:srgbClr val="1F497D"/>
                </a:solidFill>
                <a:latin typeface="Consolas"/>
              </a:rPr>
              <a:t>docker-compose.yaml</a:t>
            </a:r>
          </a:p>
        </p:txBody>
      </p:sp>
      <p:sp>
        <p:nvSpPr>
          <p:cNvPr id="5" name="Rectangle 4"/>
          <p:cNvSpPr/>
          <p:nvPr/>
        </p:nvSpPr>
        <p:spPr>
          <a:xfrm>
            <a:off x="274320" y="1536192"/>
            <a:ext cx="2651760" cy="1463040"/>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6" name="TextBox 5"/>
          <p:cNvSpPr txBox="1"/>
          <p:nvPr/>
        </p:nvSpPr>
        <p:spPr>
          <a:xfrm>
            <a:off x="384048" y="1627632"/>
            <a:ext cx="2514600" cy="1325880"/>
          </a:xfrm>
          <a:prstGeom prst="rect">
            <a:avLst/>
          </a:prstGeom>
          <a:noFill/>
        </p:spPr>
        <p:txBody>
          <a:bodyPr wrap="square" anchor="t" lIns="27432" rIns="27432" tIns="18288" bIns="18288">
            <a:spAutoFit/>
          </a:bodyPr>
          <a:lstStyle/>
          <a:p>
            <a:pPr algn="l"/>
            <a:r>
              <a:rPr sz="1250" b="0" i="0">
                <a:solidFill>
                  <a:srgbClr val="262626"/>
                </a:solidFill>
                <a:latin typeface="Consolas"/>
              </a:rPr>
              <a:t>services:</a:t>
            </a:r>
          </a:p>
          <a:p>
            <a:pPr algn="l"/>
            <a:r>
              <a:rPr sz="1250" b="0" i="0">
                <a:solidFill>
                  <a:srgbClr val="262626"/>
                </a:solidFill>
                <a:latin typeface="Consolas"/>
              </a:rPr>
              <a:t>  frontend: …</a:t>
            </a:r>
          </a:p>
          <a:p>
            <a:pPr algn="l"/>
            <a:r>
              <a:rPr sz="1250" b="0" i="0">
                <a:solidFill>
                  <a:srgbClr val="262626"/>
                </a:solidFill>
                <a:latin typeface="Consolas"/>
              </a:rPr>
              <a:t>  service: …</a:t>
            </a:r>
          </a:p>
          <a:p>
            <a:pPr algn="l"/>
            <a:r>
              <a:rPr sz="1250" b="0" i="0">
                <a:solidFill>
                  <a:srgbClr val="262626"/>
                </a:solidFill>
                <a:latin typeface="Consolas"/>
              </a:rPr>
              <a:t>  backend: …</a:t>
            </a:r>
          </a:p>
          <a:p>
            <a:pPr algn="l"/>
            <a:r>
              <a:rPr sz="1250" b="0" i="0">
                <a:solidFill>
                  <a:srgbClr val="262626"/>
                </a:solidFill>
                <a:latin typeface="Consolas"/>
              </a:rPr>
              <a:t>volumes:</a:t>
            </a:r>
          </a:p>
          <a:p>
            <a:pPr algn="l"/>
            <a:r>
              <a:rPr sz="1250" b="0" i="0">
                <a:solidFill>
                  <a:srgbClr val="262626"/>
                </a:solidFill>
                <a:latin typeface="Consolas"/>
              </a:rPr>
              <a:t>  db-data:</a:t>
            </a:r>
          </a:p>
        </p:txBody>
      </p:sp>
      <p:sp>
        <p:nvSpPr>
          <p:cNvPr id="7" name="TextBox 6"/>
          <p:cNvSpPr txBox="1"/>
          <p:nvPr/>
        </p:nvSpPr>
        <p:spPr>
          <a:xfrm>
            <a:off x="274320" y="3154680"/>
            <a:ext cx="2697480" cy="2103120"/>
          </a:xfrm>
          <a:prstGeom prst="rect">
            <a:avLst/>
          </a:prstGeom>
          <a:noFill/>
        </p:spPr>
        <p:txBody>
          <a:bodyPr wrap="square" anchor="t" lIns="27432" rIns="27432" tIns="18288" bIns="18288">
            <a:spAutoFit/>
          </a:bodyPr>
          <a:lstStyle/>
          <a:p>
            <a:pPr algn="l"/>
            <a:r>
              <a:rPr sz="1300" b="1" i="0">
                <a:solidFill>
                  <a:srgbClr val="1F497D"/>
                </a:solidFill>
              </a:rPr>
              <a:t>compose up:</a:t>
            </a:r>
          </a:p>
          <a:p>
            <a:pPr algn="l"/>
            <a:r>
              <a:rPr sz="1300" b="0" i="0">
                <a:solidFill>
                  <a:srgbClr val="262626"/>
                </a:solidFill>
              </a:rPr>
              <a:t>• builds or pulls each image</a:t>
            </a:r>
          </a:p>
          <a:p>
            <a:pPr algn="l"/>
            <a:r>
              <a:rPr sz="1300" b="0" i="0">
                <a:solidFill>
                  <a:srgbClr val="262626"/>
                </a:solidFill>
              </a:rPr>
              <a:t>• creates a private network</a:t>
            </a:r>
          </a:p>
          <a:p>
            <a:pPr algn="l"/>
            <a:r>
              <a:rPr sz="1300" b="0" i="0">
                <a:solidFill>
                  <a:srgbClr val="262626"/>
                </a:solidFill>
              </a:rPr>
              <a:t>• creates the volumes</a:t>
            </a:r>
          </a:p>
          <a:p>
            <a:pPr algn="l"/>
            <a:r>
              <a:rPr sz="1300" b="0" i="0">
                <a:solidFill>
                  <a:srgbClr val="262626"/>
                </a:solidFill>
              </a:rPr>
              <a:t>• starts one container per service</a:t>
            </a:r>
          </a:p>
        </p:txBody>
      </p:sp>
      <p:sp>
        <p:nvSpPr>
          <p:cNvPr id="8" name="Right Arrow 7"/>
          <p:cNvSpPr/>
          <p:nvPr/>
        </p:nvSpPr>
        <p:spPr>
          <a:xfrm>
            <a:off x="3017520" y="2084831"/>
            <a:ext cx="502920" cy="36576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11880" y="1188720"/>
            <a:ext cx="5257800" cy="3977639"/>
          </a:xfrm>
          <a:prstGeom prst="rect">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10" name="TextBox 9"/>
          <p:cNvSpPr txBox="1"/>
          <p:nvPr/>
        </p:nvSpPr>
        <p:spPr>
          <a:xfrm>
            <a:off x="3611880" y="1243584"/>
            <a:ext cx="5257800" cy="274320"/>
          </a:xfrm>
          <a:prstGeom prst="rect">
            <a:avLst/>
          </a:prstGeom>
          <a:noFill/>
        </p:spPr>
        <p:txBody>
          <a:bodyPr wrap="square" anchor="t" lIns="27432" rIns="27432" tIns="18288" bIns="18288">
            <a:spAutoFit/>
          </a:bodyPr>
          <a:lstStyle/>
          <a:p>
            <a:pPr algn="ctr"/>
            <a:r>
              <a:rPr sz="1400" b="1" i="0">
                <a:solidFill>
                  <a:srgbClr val="1F497D"/>
                </a:solidFill>
              </a:rPr>
              <a:t>YOUR LAPTOP  (or the server — same thing)</a:t>
            </a:r>
          </a:p>
        </p:txBody>
      </p:sp>
      <p:sp>
        <p:nvSpPr>
          <p:cNvPr id="11" name="Rectangle 10"/>
          <p:cNvSpPr/>
          <p:nvPr/>
        </p:nvSpPr>
        <p:spPr>
          <a:xfrm>
            <a:off x="3749040" y="1572768"/>
            <a:ext cx="4983480" cy="347472"/>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rPr>
              <a:t>Docker Engine</a:t>
            </a:r>
          </a:p>
        </p:txBody>
      </p:sp>
      <p:sp>
        <p:nvSpPr>
          <p:cNvPr id="12" name="Rounded Rectangle 11"/>
          <p:cNvSpPr/>
          <p:nvPr/>
        </p:nvSpPr>
        <p:spPr>
          <a:xfrm>
            <a:off x="3840480" y="2103120"/>
            <a:ext cx="4800600" cy="1600200"/>
          </a:xfrm>
          <a:prstGeom prst="roundRect">
            <a:avLst>
              <a:gd name="adj" fmla="val 4571"/>
            </a:avLst>
          </a:prstGeom>
          <a:solidFill>
            <a:srgbClr val="FFFFFF"/>
          </a:solidFill>
          <a:ln w="2222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13" name="TextBox 12"/>
          <p:cNvSpPr txBox="1"/>
          <p:nvPr/>
        </p:nvSpPr>
        <p:spPr>
          <a:xfrm>
            <a:off x="3840480" y="2139696"/>
            <a:ext cx="4800600" cy="256032"/>
          </a:xfrm>
          <a:prstGeom prst="rect">
            <a:avLst/>
          </a:prstGeom>
          <a:noFill/>
        </p:spPr>
        <p:txBody>
          <a:bodyPr wrap="square" anchor="t" lIns="27432" rIns="27432" tIns="18288" bIns="18288">
            <a:spAutoFit/>
          </a:bodyPr>
          <a:lstStyle/>
          <a:p>
            <a:pPr algn="ctr"/>
            <a:r>
              <a:rPr sz="1150" b="0" i="1">
                <a:solidFill>
                  <a:srgbClr val="4F81BD"/>
                </a:solidFill>
              </a:rPr>
              <a:t>private network — services find each other by name</a:t>
            </a:r>
          </a:p>
        </p:txBody>
      </p:sp>
      <p:sp>
        <p:nvSpPr>
          <p:cNvPr id="14" name="Rounded Rectangle 13"/>
          <p:cNvSpPr/>
          <p:nvPr/>
        </p:nvSpPr>
        <p:spPr>
          <a:xfrm>
            <a:off x="3977639" y="2606039"/>
            <a:ext cx="1417320" cy="548640"/>
          </a:xfrm>
          <a:prstGeom prst="roundRect">
            <a:avLst>
              <a:gd name="adj" fmla="val 13333"/>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frontend</a:t>
            </a:r>
          </a:p>
        </p:txBody>
      </p:sp>
      <p:sp>
        <p:nvSpPr>
          <p:cNvPr id="15" name="Rounded Rectangle 14"/>
          <p:cNvSpPr/>
          <p:nvPr/>
        </p:nvSpPr>
        <p:spPr>
          <a:xfrm>
            <a:off x="5532120" y="2606039"/>
            <a:ext cx="1417320" cy="548640"/>
          </a:xfrm>
          <a:prstGeom prst="roundRect">
            <a:avLst>
              <a:gd name="adj" fmla="val 13333"/>
            </a:avLst>
          </a:prstGeom>
          <a:solidFill>
            <a:srgbClr val="FFFFFF"/>
          </a:solidFill>
          <a:ln w="2540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4F81BD"/>
                </a:solidFill>
              </a:rPr>
              <a:t>service</a:t>
            </a:r>
          </a:p>
        </p:txBody>
      </p:sp>
      <p:sp>
        <p:nvSpPr>
          <p:cNvPr id="16" name="Rounded Rectangle 15"/>
          <p:cNvSpPr/>
          <p:nvPr/>
        </p:nvSpPr>
        <p:spPr>
          <a:xfrm>
            <a:off x="7086600" y="2606039"/>
            <a:ext cx="1417320" cy="548640"/>
          </a:xfrm>
          <a:prstGeom prst="roundRect">
            <a:avLst>
              <a:gd name="adj" fmla="val 13333"/>
            </a:avLst>
          </a:prstGeom>
          <a:solidFill>
            <a:srgbClr val="FFFFFF"/>
          </a:solidFill>
          <a:ln w="2540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4F81BD"/>
                </a:solidFill>
              </a:rPr>
              <a:t>backend</a:t>
            </a:r>
          </a:p>
        </p:txBody>
      </p:sp>
      <p:sp>
        <p:nvSpPr>
          <p:cNvPr id="17" name="TextBox 16"/>
          <p:cNvSpPr txBox="1"/>
          <p:nvPr/>
        </p:nvSpPr>
        <p:spPr>
          <a:xfrm>
            <a:off x="4069079" y="3200400"/>
            <a:ext cx="2926080" cy="457200"/>
          </a:xfrm>
          <a:prstGeom prst="rect">
            <a:avLst/>
          </a:prstGeom>
          <a:noFill/>
        </p:spPr>
        <p:txBody>
          <a:bodyPr wrap="square" anchor="t" lIns="27432" rIns="27432" tIns="18288" bIns="18288">
            <a:spAutoFit/>
          </a:bodyPr>
          <a:lstStyle/>
          <a:p>
            <a:pPr algn="l"/>
            <a:r>
              <a:rPr sz="1100" b="0" i="0">
                <a:solidFill>
                  <a:srgbClr val="7F7F7F"/>
                </a:solidFill>
                <a:latin typeface="Consolas"/>
              </a:rPr>
              <a:t>frontend → http://service</a:t>
            </a:r>
          </a:p>
          <a:p>
            <a:pPr algn="l"/>
            <a:r>
              <a:rPr sz="1100" b="0" i="0">
                <a:solidFill>
                  <a:srgbClr val="7F7F7F"/>
                </a:solidFill>
                <a:latin typeface="Consolas"/>
              </a:rPr>
              <a:t>frontend → backend:5432</a:t>
            </a:r>
          </a:p>
        </p:txBody>
      </p:sp>
      <p:sp>
        <p:nvSpPr>
          <p:cNvPr id="18" name="Can 17"/>
          <p:cNvSpPr/>
          <p:nvPr/>
        </p:nvSpPr>
        <p:spPr>
          <a:xfrm>
            <a:off x="7269480" y="3931920"/>
            <a:ext cx="1051560" cy="685800"/>
          </a:xfrm>
          <a:prstGeom prst="can">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1200" b="1">
                <a:solidFill>
                  <a:srgbClr val="FFFFFF"/>
                </a:solidFill>
              </a:rPr>
              <a:t>db-data</a:t>
            </a:r>
          </a:p>
        </p:txBody>
      </p:sp>
      <p:cxnSp>
        <p:nvCxnSpPr>
          <p:cNvPr id="19" name="Connector 18"/>
          <p:cNvCxnSpPr/>
          <p:nvPr/>
        </p:nvCxnSpPr>
        <p:spPr>
          <a:xfrm>
            <a:off x="7795260" y="3154679"/>
            <a:ext cx="0" cy="777241"/>
          </a:xfrm>
          <a:prstGeom prst="line">
            <a:avLst/>
          </a:prstGeom>
          <a:ln w="25400">
            <a:solidFill>
              <a:srgbClr val="E37B2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349240" y="4069080"/>
            <a:ext cx="1783080" cy="502920"/>
          </a:xfrm>
          <a:prstGeom prst="rect">
            <a:avLst/>
          </a:prstGeom>
          <a:noFill/>
        </p:spPr>
        <p:txBody>
          <a:bodyPr wrap="square" anchor="t" lIns="27432" rIns="27432" tIns="18288" bIns="18288">
            <a:spAutoFit/>
          </a:bodyPr>
          <a:lstStyle/>
          <a:p>
            <a:pPr algn="r"/>
            <a:r>
              <a:rPr sz="1150" b="0" i="1">
                <a:solidFill>
                  <a:srgbClr val="E37B22"/>
                </a:solidFill>
              </a:rPr>
              <a:t>volume — outlives</a:t>
            </a:r>
          </a:p>
          <a:p>
            <a:pPr algn="r"/>
            <a:r>
              <a:rPr sz="1150" b="0" i="1">
                <a:solidFill>
                  <a:srgbClr val="E37B22"/>
                </a:solidFill>
              </a:rPr>
              <a:t>the container</a:t>
            </a:r>
          </a:p>
        </p:txBody>
      </p:sp>
      <p:sp>
        <p:nvSpPr>
          <p:cNvPr id="21" name="Up Arrow 20"/>
          <p:cNvSpPr/>
          <p:nvPr/>
        </p:nvSpPr>
        <p:spPr>
          <a:xfrm>
            <a:off x="4549140" y="3730752"/>
            <a:ext cx="274320" cy="411480"/>
          </a:xfrm>
          <a:prstGeom prst="up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0" y="4160520"/>
            <a:ext cx="2194560" cy="274320"/>
          </a:xfrm>
          <a:prstGeom prst="rect">
            <a:avLst/>
          </a:prstGeom>
          <a:noFill/>
        </p:spPr>
        <p:txBody>
          <a:bodyPr wrap="square" anchor="t" lIns="27432" rIns="27432" tIns="18288" bIns="18288">
            <a:spAutoFit/>
          </a:bodyPr>
          <a:lstStyle/>
          <a:p>
            <a:pPr algn="l"/>
            <a:r>
              <a:rPr sz="1150" b="1" i="0">
                <a:solidFill>
                  <a:srgbClr val="1F497D"/>
                </a:solidFill>
              </a:rPr>
              <a:t>localhost:8000 (published)</a:t>
            </a:r>
          </a:p>
        </p:txBody>
      </p:sp>
      <p:sp>
        <p:nvSpPr>
          <p:cNvPr id="23" name="Rectangle 22"/>
          <p:cNvSpPr/>
          <p:nvPr/>
        </p:nvSpPr>
        <p:spPr>
          <a:xfrm>
            <a:off x="3749040" y="4681728"/>
            <a:ext cx="4983480" cy="384048"/>
          </a:xfrm>
          <a:prstGeom prst="rect">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0">
                <a:solidFill>
                  <a:srgbClr val="404040"/>
                </a:solidFill>
              </a:rPr>
              <a:t>shared Linux kernel  ·  on a Mac, Docker Desktop runs a small Linux VM</a:t>
            </a:r>
          </a:p>
        </p:txBody>
      </p:sp>
      <p:sp>
        <p:nvSpPr>
          <p:cNvPr id="24" name="Rectangle 23"/>
          <p:cNvSpPr/>
          <p:nvPr/>
        </p:nvSpPr>
        <p:spPr>
          <a:xfrm>
            <a:off x="548640" y="534924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349240"/>
            <a:ext cx="7863840" cy="731520"/>
          </a:xfrm>
          <a:prstGeom prst="rect">
            <a:avLst/>
          </a:prstGeom>
          <a:noFill/>
        </p:spPr>
        <p:txBody>
          <a:bodyPr wrap="square" anchor="ctr" lIns="27432" rIns="27432" tIns="18288" bIns="18288">
            <a:spAutoFit/>
          </a:bodyPr>
          <a:lstStyle/>
          <a:p>
            <a:pPr algn="l"/>
            <a:r>
              <a:rPr sz="2100" b="1" i="0">
                <a:solidFill>
                  <a:srgbClr val="1F497D"/>
                </a:solidFill>
              </a:rPr>
              <a:t>Compose doesn't replace Docker —</a:t>
            </a:r>
          </a:p>
          <a:p>
            <a:pPr algn="l"/>
            <a:r>
              <a:rPr sz="2100" b="1" i="0">
                <a:solidFill>
                  <a:srgbClr val="1F497D"/>
                </a:solidFill>
              </a:rPr>
              <a:t>it runs many containers from one 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What We Are Building</a:t>
            </a:r>
          </a:p>
        </p:txBody>
      </p:sp>
      <p:sp>
        <p:nvSpPr>
          <p:cNvPr id="3" name="Content Placeholder 2"/>
          <p:cNvSpPr>
            <a:spLocks noGrp="1"/>
          </p:cNvSpPr>
          <p:nvPr>
            <p:ph idx="1"/>
          </p:nvPr>
        </p:nvSpPr>
        <p:spPr>
          <a:xfrm>
            <a:off x="548640" y="1280160"/>
            <a:ext cx="3566160" cy="3017520"/>
          </a:xfrm>
        </p:spPr>
        <p:txBody>
          <a:bodyPr wrap="square"/>
          <a:lstStyle/>
          <a:p>
            <a:pPr>
              <a:spcBef>
                <a:spcPts val="1000"/>
              </a:spcBef>
            </a:pPr>
            <a:r>
              <a:rPr sz="1800"/>
              <a:t>One repo, two live environments: staging and production</a:t>
            </a:r>
          </a:p>
          <a:p>
            <a:pPr>
              <a:spcBef>
                <a:spcPts val="1000"/>
              </a:spcBef>
            </a:pPr>
            <a:r>
              <a:rPr sz="1800"/>
              <a:t>Three services, one container each</a:t>
            </a:r>
          </a:p>
          <a:p>
            <a:pPr>
              <a:spcBef>
                <a:spcPts val="1000"/>
              </a:spcBef>
            </a:pPr>
            <a:r>
              <a:rPr sz="1800"/>
              <a:t>Push → tests run → app deploys → users see it</a:t>
            </a:r>
          </a:p>
          <a:p>
            <a:pPr>
              <a:spcBef>
                <a:spcPts val="1000"/>
              </a:spcBef>
            </a:pPr>
            <a:r>
              <a:rPr sz="1800"/>
              <a:t>Nobody clicks anything to deploy</a:t>
            </a:r>
          </a:p>
        </p:txBody>
      </p:sp>
      <p:sp>
        <p:nvSpPr>
          <p:cNvPr id="4" name="TextBox 3"/>
          <p:cNvSpPr txBox="1"/>
          <p:nvPr/>
        </p:nvSpPr>
        <p:spPr>
          <a:xfrm>
            <a:off x="8138160" y="6473952"/>
            <a:ext cx="822960" cy="274320"/>
          </a:xfrm>
          <a:prstGeom prst="rect">
            <a:avLst/>
          </a:prstGeom>
          <a:noFill/>
        </p:spPr>
        <p:txBody>
          <a:bodyPr wrap="none">
            <a:spAutoFit/>
          </a:bodyPr>
          <a:lstStyle/>
          <a:p>
            <a:pPr algn="r"/>
            <a:r>
              <a:rPr sz="1100">
                <a:solidFill>
                  <a:srgbClr val="7F7F7F"/>
                </a:solidFill>
              </a:rPr>
              <a:t>7</a:t>
            </a:r>
          </a:p>
        </p:txBody>
      </p:sp>
      <p:sp>
        <p:nvSpPr>
          <p:cNvPr id="5" name="TextBox 4"/>
          <p:cNvSpPr txBox="1"/>
          <p:nvPr/>
        </p:nvSpPr>
        <p:spPr>
          <a:xfrm>
            <a:off x="4206240" y="1280160"/>
            <a:ext cx="4663440" cy="320040"/>
          </a:xfrm>
          <a:prstGeom prst="rect">
            <a:avLst/>
          </a:prstGeom>
          <a:noFill/>
        </p:spPr>
        <p:txBody>
          <a:bodyPr wrap="square" anchor="t" lIns="27432" rIns="27432" tIns="18288" bIns="18288">
            <a:spAutoFit/>
          </a:bodyPr>
          <a:lstStyle/>
          <a:p>
            <a:pPr algn="l"/>
            <a:r>
              <a:rPr sz="1300" b="1" i="0">
                <a:solidFill>
                  <a:srgbClr val="1F497D"/>
                </a:solidFill>
                <a:latin typeface="Consolas"/>
              </a:rPr>
              <a:t>docker-compose.yaml</a:t>
            </a:r>
          </a:p>
        </p:txBody>
      </p:sp>
      <p:sp>
        <p:nvSpPr>
          <p:cNvPr id="6" name="Rectangle 5"/>
          <p:cNvSpPr/>
          <p:nvPr/>
        </p:nvSpPr>
        <p:spPr>
          <a:xfrm>
            <a:off x="4206240" y="1627632"/>
            <a:ext cx="4663440" cy="3717645"/>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7" name="TextBox 6"/>
          <p:cNvSpPr txBox="1"/>
          <p:nvPr/>
        </p:nvSpPr>
        <p:spPr>
          <a:xfrm>
            <a:off x="4315968" y="1719072"/>
            <a:ext cx="4526280" cy="3534765"/>
          </a:xfrm>
          <a:prstGeom prst="rect">
            <a:avLst/>
          </a:prstGeom>
          <a:noFill/>
        </p:spPr>
        <p:txBody>
          <a:bodyPr wrap="square">
            <a:spAutoFit/>
          </a:bodyPr>
          <a:lstStyle/>
          <a:p>
            <a:r>
              <a:rPr sz="1300">
                <a:solidFill>
                  <a:srgbClr val="1F497D"/>
                </a:solidFill>
                <a:latin typeface="Consolas"/>
              </a:rPr>
              <a:t>services:</a:t>
            </a:r>
          </a:p>
          <a:p>
            <a:r>
              <a:rPr sz="1300">
                <a:solidFill>
                  <a:srgbClr val="262626"/>
                </a:solidFill>
                <a:latin typeface="Consolas"/>
              </a:rPr>
              <a:t>  frontend:          </a:t>
            </a:r>
            <a:r>
              <a:rPr sz="1300">
                <a:solidFill>
                  <a:srgbClr val="6A737D"/>
                </a:solidFill>
                <a:latin typeface="Consolas"/>
              </a:rPr>
              <a:t># public</a:t>
            </a:r>
          </a:p>
          <a:p>
            <a:r>
              <a:rPr sz="1300">
                <a:solidFill>
                  <a:srgbClr val="262626"/>
                </a:solidFill>
                <a:latin typeface="Consolas"/>
              </a:rPr>
              <a:t>    build: ./frontend</a:t>
            </a:r>
          </a:p>
          <a:p>
            <a:r>
              <a:rPr sz="1300">
                <a:solidFill>
                  <a:srgbClr val="262626"/>
                </a:solidFill>
                <a:latin typeface="Consolas"/>
              </a:rPr>
              <a:t>    depends_on: [service, backend]</a:t>
            </a:r>
          </a:p>
          <a:p>
            <a:r>
              <a:rPr sz="780"/>
              <a:t> </a:t>
            </a:r>
          </a:p>
          <a:p>
            <a:r>
              <a:rPr sz="1300">
                <a:solidFill>
                  <a:srgbClr val="262626"/>
                </a:solidFill>
                <a:latin typeface="Consolas"/>
              </a:rPr>
              <a:t>  service:           </a:t>
            </a:r>
            <a:r>
              <a:rPr sz="1300">
                <a:solidFill>
                  <a:srgbClr val="6A737D"/>
                </a:solidFill>
                <a:latin typeface="Consolas"/>
              </a:rPr>
              <a:t># model, worker</a:t>
            </a:r>
          </a:p>
          <a:p>
            <a:r>
              <a:rPr sz="1300">
                <a:solidFill>
                  <a:srgbClr val="262626"/>
                </a:solidFill>
                <a:latin typeface="Consolas"/>
              </a:rPr>
              <a:t>    build: ./service</a:t>
            </a:r>
          </a:p>
          <a:p>
            <a:r>
              <a:rPr sz="780"/>
              <a:t> </a:t>
            </a:r>
          </a:p>
          <a:p>
            <a:r>
              <a:rPr sz="1300">
                <a:solidFill>
                  <a:srgbClr val="262626"/>
                </a:solidFill>
                <a:latin typeface="Consolas"/>
              </a:rPr>
              <a:t>  backend:           </a:t>
            </a:r>
            <a:r>
              <a:rPr sz="1300">
                <a:solidFill>
                  <a:srgbClr val="6A737D"/>
                </a:solidFill>
                <a:latin typeface="Consolas"/>
              </a:rPr>
              <a:t># database</a:t>
            </a:r>
          </a:p>
          <a:p>
            <a:r>
              <a:rPr sz="1300">
                <a:solidFill>
                  <a:srgbClr val="262626"/>
                </a:solidFill>
                <a:latin typeface="Consolas"/>
              </a:rPr>
              <a:t>    image: postgres:16</a:t>
            </a:r>
          </a:p>
          <a:p>
            <a:r>
              <a:rPr sz="1300">
                <a:solidFill>
                  <a:srgbClr val="262626"/>
                </a:solidFill>
                <a:latin typeface="Consolas"/>
              </a:rPr>
              <a:t>    environment:</a:t>
            </a:r>
          </a:p>
          <a:p>
            <a:r>
              <a:rPr sz="1300">
                <a:solidFill>
                  <a:srgbClr val="262626"/>
                </a:solidFill>
                <a:latin typeface="Consolas"/>
              </a:rPr>
              <a:t>      POSTGRES_PASSWORD: ${DB_PASSWORD}</a:t>
            </a:r>
          </a:p>
          <a:p>
            <a:r>
              <a:rPr sz="1300">
                <a:solidFill>
                  <a:srgbClr val="262626"/>
                </a:solidFill>
                <a:latin typeface="Consolas"/>
              </a:rPr>
              <a:t>    volumes:</a:t>
            </a:r>
          </a:p>
          <a:p>
            <a:r>
              <a:rPr sz="1300">
                <a:solidFill>
                  <a:srgbClr val="262626"/>
                </a:solidFill>
                <a:latin typeface="Consolas"/>
              </a:rPr>
              <a:t>      - db-data:/var/lib/postgresql/data</a:t>
            </a:r>
          </a:p>
          <a:p>
            <a:r>
              <a:rPr sz="780"/>
              <a:t> </a:t>
            </a:r>
          </a:p>
          <a:p>
            <a:r>
              <a:rPr sz="1300">
                <a:solidFill>
                  <a:srgbClr val="1F497D"/>
                </a:solidFill>
                <a:latin typeface="Consolas"/>
              </a:rPr>
              <a:t>volumes:</a:t>
            </a:r>
          </a:p>
          <a:p>
            <a:r>
              <a:rPr sz="1300">
                <a:solidFill>
                  <a:srgbClr val="262626"/>
                </a:solidFill>
                <a:latin typeface="Consolas"/>
              </a:rPr>
              <a:t>  db-data:</a:t>
            </a:r>
          </a:p>
        </p:txBody>
      </p:sp>
      <p:sp>
        <p:nvSpPr>
          <p:cNvPr id="8" name="TextBox 7"/>
          <p:cNvSpPr txBox="1"/>
          <p:nvPr/>
        </p:nvSpPr>
        <p:spPr>
          <a:xfrm>
            <a:off x="274320" y="4434840"/>
            <a:ext cx="3749039" cy="320040"/>
          </a:xfrm>
          <a:prstGeom prst="rect">
            <a:avLst/>
          </a:prstGeom>
          <a:noFill/>
        </p:spPr>
        <p:txBody>
          <a:bodyPr wrap="square" anchor="t" lIns="27432" rIns="27432" tIns="18288" bIns="18288">
            <a:spAutoFit/>
          </a:bodyPr>
          <a:lstStyle/>
          <a:p>
            <a:pPr algn="l"/>
            <a:r>
              <a:rPr sz="1200" b="1" i="0">
                <a:solidFill>
                  <a:srgbClr val="1F497D"/>
                </a:solidFill>
              </a:rPr>
              <a:t>build: ./frontend  →  a folder with a Dockerfile</a:t>
            </a:r>
          </a:p>
        </p:txBody>
      </p:sp>
      <p:sp>
        <p:nvSpPr>
          <p:cNvPr id="9" name="Rectangle 8"/>
          <p:cNvSpPr/>
          <p:nvPr/>
        </p:nvSpPr>
        <p:spPr>
          <a:xfrm>
            <a:off x="274320" y="4754880"/>
            <a:ext cx="3749039" cy="1325880"/>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10" name="TextBox 9"/>
          <p:cNvSpPr txBox="1"/>
          <p:nvPr/>
        </p:nvSpPr>
        <p:spPr>
          <a:xfrm>
            <a:off x="365760" y="4809744"/>
            <a:ext cx="3611880" cy="1371600"/>
          </a:xfrm>
          <a:prstGeom prst="rect">
            <a:avLst/>
          </a:prstGeom>
          <a:noFill/>
        </p:spPr>
        <p:txBody>
          <a:bodyPr wrap="square">
            <a:spAutoFit/>
          </a:bodyPr>
          <a:lstStyle/>
          <a:p>
            <a:r>
              <a:rPr sz="1200">
                <a:solidFill>
                  <a:srgbClr val="262626"/>
                </a:solidFill>
                <a:latin typeface="Consolas"/>
              </a:rPr>
              <a:t>my-repo/</a:t>
            </a:r>
          </a:p>
          <a:p>
            <a:r>
              <a:rPr sz="1200">
                <a:solidFill>
                  <a:srgbClr val="262626"/>
                </a:solidFill>
                <a:latin typeface="Consolas"/>
              </a:rPr>
              <a:t>├── docker-compose.yaml</a:t>
            </a:r>
            <a:r>
              <a:rPr sz="1200">
                <a:solidFill>
                  <a:srgbClr val="6A737D"/>
                </a:solidFill>
                <a:latin typeface="Consolas"/>
              </a:rPr>
              <a:t>  # the system</a:t>
            </a:r>
          </a:p>
          <a:p>
            <a:r>
              <a:rPr sz="1200">
                <a:solidFill>
                  <a:srgbClr val="262626"/>
                </a:solidFill>
                <a:latin typeface="Consolas"/>
              </a:rPr>
              <a:t>├── frontend/</a:t>
            </a:r>
          </a:p>
          <a:p>
            <a:r>
              <a:rPr sz="1200">
                <a:solidFill>
                  <a:srgbClr val="262626"/>
                </a:solidFill>
                <a:latin typeface="Consolas"/>
              </a:rPr>
              <a:t>│   └── Dockerfile</a:t>
            </a:r>
            <a:r>
              <a:rPr sz="1200">
                <a:solidFill>
                  <a:srgbClr val="6A737D"/>
                </a:solidFill>
                <a:latin typeface="Consolas"/>
              </a:rPr>
              <a:t>  # build steps</a:t>
            </a:r>
          </a:p>
          <a:p>
            <a:r>
              <a:rPr sz="1200">
                <a:solidFill>
                  <a:srgbClr val="262626"/>
                </a:solidFill>
                <a:latin typeface="Consolas"/>
              </a:rPr>
              <a:t>└── service/</a:t>
            </a:r>
          </a:p>
          <a:p>
            <a:r>
              <a:rPr sz="1200">
                <a:solidFill>
                  <a:srgbClr val="262626"/>
                </a:solidFill>
                <a:latin typeface="Consolas"/>
              </a:rPr>
              <a:t>    └── Dockerfile</a:t>
            </a:r>
            <a:r>
              <a:rPr sz="1200">
                <a:solidFill>
                  <a:srgbClr val="6A737D"/>
                </a:solidFill>
                <a:latin typeface="Consolas"/>
              </a:rPr>
              <a:t>  # build steps</a:t>
            </a:r>
          </a:p>
        </p:txBody>
      </p:sp>
      <p:sp>
        <p:nvSpPr>
          <p:cNvPr id="11" name="TextBox 10"/>
          <p:cNvSpPr txBox="1"/>
          <p:nvPr/>
        </p:nvSpPr>
        <p:spPr>
          <a:xfrm>
            <a:off x="4206240" y="5455005"/>
            <a:ext cx="4663440" cy="548640"/>
          </a:xfrm>
          <a:prstGeom prst="rect">
            <a:avLst/>
          </a:prstGeom>
          <a:noFill/>
        </p:spPr>
        <p:txBody>
          <a:bodyPr wrap="square" anchor="t" lIns="27432" rIns="27432" tIns="18288" bIns="18288">
            <a:spAutoFit/>
          </a:bodyPr>
          <a:lstStyle/>
          <a:p>
            <a:pPr algn="l"/>
            <a:r>
              <a:rPr sz="1300" b="0" i="1">
                <a:solidFill>
                  <a:srgbClr val="1F497D"/>
                </a:solidFill>
              </a:rPr>
              <a:t>One file: your laptop, staging and production</a:t>
            </a:r>
          </a:p>
          <a:p>
            <a:pPr algn="l"/>
            <a:r>
              <a:rPr sz="1300" b="0" i="1">
                <a:solidFill>
                  <a:srgbClr val="1F497D"/>
                </a:solidFill>
              </a:rPr>
              <a:t>all run exactly this.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hello-world-app: The Repo</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8</a:t>
            </a:r>
          </a:p>
        </p:txBody>
      </p:sp>
      <p:sp>
        <p:nvSpPr>
          <p:cNvPr id="4" name="Rectangle 3"/>
          <p:cNvSpPr/>
          <p:nvPr/>
        </p:nvSpPr>
        <p:spPr>
          <a:xfrm>
            <a:off x="274320" y="1234440"/>
            <a:ext cx="8595360" cy="4151376"/>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411480" y="1298448"/>
            <a:ext cx="8412480" cy="4059936"/>
          </a:xfrm>
          <a:prstGeom prst="rect">
            <a:avLst/>
          </a:prstGeom>
          <a:noFill/>
        </p:spPr>
        <p:txBody>
          <a:bodyPr wrap="square">
            <a:spAutoFit/>
          </a:bodyPr>
          <a:lstStyle/>
          <a:p>
            <a:r>
              <a:rPr sz="1300" b="1">
                <a:solidFill>
                  <a:srgbClr val="1F497D"/>
                </a:solidFill>
                <a:latin typeface="Consolas"/>
              </a:rPr>
              <a:t>hello-world-app/</a:t>
            </a:r>
          </a:p>
          <a:p>
            <a:r>
              <a:rPr sz="1300" b="1">
                <a:solidFill>
                  <a:srgbClr val="1F497D"/>
                </a:solidFill>
                <a:latin typeface="Consolas"/>
              </a:rPr>
              <a:t>├── docker-compose.yaml           </a:t>
            </a:r>
            <a:r>
              <a:rPr sz="1300">
                <a:solidFill>
                  <a:srgbClr val="6A737D"/>
                </a:solidFill>
                <a:latin typeface="Consolas"/>
              </a:rPr>
              <a:t># the system: next slide</a:t>
            </a:r>
          </a:p>
          <a:p>
            <a:r>
              <a:rPr sz="1300" b="0">
                <a:solidFill>
                  <a:srgbClr val="262626"/>
                </a:solidFill>
                <a:latin typeface="Consolas"/>
              </a:rPr>
              <a:t>├── docker-compose.override.yml   </a:t>
            </a:r>
            <a:r>
              <a:rPr sz="1300">
                <a:solidFill>
                  <a:srgbClr val="6A737D"/>
                </a:solidFill>
                <a:latin typeface="Consolas"/>
              </a:rPr>
              <a:t># local only: adds a port</a:t>
            </a:r>
          </a:p>
          <a:p>
            <a:r>
              <a:rPr sz="1300" b="1">
                <a:solidFill>
                  <a:srgbClr val="1F497D"/>
                </a:solidFill>
                <a:latin typeface="Consolas"/>
              </a:rPr>
              <a:t>├── .github/workflows/ci.yml      </a:t>
            </a:r>
            <a:r>
              <a:rPr sz="1300">
                <a:solidFill>
                  <a:srgbClr val="6A737D"/>
                </a:solidFill>
                <a:latin typeface="Consolas"/>
              </a:rPr>
              <a:t># the pipeline</a:t>
            </a:r>
          </a:p>
          <a:p>
            <a:r>
              <a:rPr sz="1300" b="0">
                <a:solidFill>
                  <a:srgbClr val="262626"/>
                </a:solidFill>
                <a:latin typeface="Consolas"/>
              </a:rPr>
              <a:t>├── smoke-test.sh                 </a:t>
            </a:r>
            <a:r>
              <a:rPr sz="1300">
                <a:solidFill>
                  <a:srgbClr val="6A737D"/>
                </a:solidFill>
                <a:latin typeface="Consolas"/>
              </a:rPr>
              <a:t># test locally or a live URL</a:t>
            </a:r>
          </a:p>
          <a:p>
            <a:r>
              <a:rPr sz="1300" b="1">
                <a:solidFill>
                  <a:srgbClr val="1F497D"/>
                </a:solidFill>
                <a:latin typeface="Consolas"/>
              </a:rPr>
              <a:t>├── hello/                        </a:t>
            </a:r>
            <a:r>
              <a:rPr sz="1300">
                <a:solidFill>
                  <a:srgbClr val="6A737D"/>
                </a:solidFill>
                <a:latin typeface="Consolas"/>
              </a:rPr>
              <a:t># frontend service</a:t>
            </a:r>
          </a:p>
          <a:p>
            <a:r>
              <a:rPr sz="1300" b="1">
                <a:solidFill>
                  <a:srgbClr val="E37B22"/>
                </a:solidFill>
                <a:latin typeface="Consolas"/>
              </a:rPr>
              <a:t>│   ├── Dockerfile                </a:t>
            </a:r>
            <a:r>
              <a:rPr sz="1300">
                <a:solidFill>
                  <a:srgbClr val="6A737D"/>
                </a:solidFill>
                <a:latin typeface="Consolas"/>
              </a:rPr>
              <a:t># build: ./hello uses this</a:t>
            </a:r>
          </a:p>
          <a:p>
            <a:r>
              <a:rPr sz="1300" b="0">
                <a:solidFill>
                  <a:srgbClr val="262626"/>
                </a:solidFill>
                <a:latin typeface="Consolas"/>
              </a:rPr>
              <a:t>│   ├── main.py  greetings.py  notes_dao.py</a:t>
            </a:r>
          </a:p>
          <a:p>
            <a:r>
              <a:rPr sz="1300" b="0">
                <a:solidFill>
                  <a:srgbClr val="262626"/>
                </a:solidFill>
                <a:latin typeface="Consolas"/>
              </a:rPr>
              <a:t>│   ├── migrations/001_create_notes.sql</a:t>
            </a:r>
          </a:p>
          <a:p>
            <a:r>
              <a:rPr sz="1300" b="0">
                <a:solidFill>
                  <a:srgbClr val="262626"/>
                </a:solidFill>
                <a:latin typeface="Consolas"/>
              </a:rPr>
              <a:t>│   ├── requirements.txt</a:t>
            </a:r>
          </a:p>
          <a:p>
            <a:r>
              <a:rPr sz="1300" b="0">
                <a:solidFill>
                  <a:srgbClr val="262626"/>
                </a:solidFill>
                <a:latin typeface="Consolas"/>
              </a:rPr>
              <a:t>│   └── tests/test_api.py         </a:t>
            </a:r>
            <a:r>
              <a:rPr sz="1300">
                <a:solidFill>
                  <a:srgbClr val="6A737D"/>
                </a:solidFill>
                <a:latin typeface="Consolas"/>
              </a:rPr>
              <a:t># CI runs these</a:t>
            </a:r>
          </a:p>
          <a:p>
            <a:r>
              <a:rPr sz="1300" b="1">
                <a:solidFill>
                  <a:srgbClr val="1F497D"/>
                </a:solidFill>
                <a:latin typeface="Consolas"/>
              </a:rPr>
              <a:t>├── time/                         </a:t>
            </a:r>
            <a:r>
              <a:rPr sz="1300">
                <a:solidFill>
                  <a:srgbClr val="6A737D"/>
                </a:solidFill>
                <a:latin typeface="Consolas"/>
              </a:rPr>
              <a:t># the other service</a:t>
            </a:r>
          </a:p>
          <a:p>
            <a:r>
              <a:rPr sz="1300" b="1">
                <a:solidFill>
                  <a:srgbClr val="E37B22"/>
                </a:solidFill>
                <a:latin typeface="Consolas"/>
              </a:rPr>
              <a:t>│   ├── Dockerfile</a:t>
            </a:r>
          </a:p>
          <a:p>
            <a:r>
              <a:rPr sz="1300" b="0">
                <a:solidFill>
                  <a:srgbClr val="262626"/>
                </a:solidFill>
                <a:latin typeface="Consolas"/>
              </a:rPr>
              <a:t>│   └── main.py  requirements.txt</a:t>
            </a:r>
          </a:p>
          <a:p>
            <a:r>
              <a:rPr sz="1300" b="1">
                <a:solidFill>
                  <a:srgbClr val="1F497D"/>
                </a:solidFill>
                <a:latin typeface="Consolas"/>
              </a:rPr>
              <a:t>├── terraform/                    </a:t>
            </a:r>
            <a:r>
              <a:rPr sz="1300">
                <a:solidFill>
                  <a:srgbClr val="6A737D"/>
                </a:solidFill>
                <a:latin typeface="Consolas"/>
              </a:rPr>
              <a:t># IaC: later today</a:t>
            </a:r>
          </a:p>
          <a:p>
            <a:r>
              <a:rPr sz="1300" b="0">
                <a:solidFill>
                  <a:srgbClr val="262626"/>
                </a:solidFill>
                <a:latin typeface="Consolas"/>
              </a:rPr>
              <a:t>│   ├── main.tf  variables.tf  outputs.tf</a:t>
            </a:r>
          </a:p>
          <a:p>
            <a:r>
              <a:rPr sz="1300" b="0">
                <a:solidFill>
                  <a:srgbClr val="262626"/>
                </a:solidFill>
                <a:latin typeface="Consolas"/>
              </a:rPr>
              <a:t>│   └── terraform.tfvars.example</a:t>
            </a:r>
          </a:p>
          <a:p>
            <a:r>
              <a:rPr sz="1300" b="0">
                <a:solidFill>
                  <a:srgbClr val="262626"/>
                </a:solidFill>
                <a:latin typeface="Consolas"/>
              </a:rPr>
              <a:t>└── README.md</a:t>
            </a:r>
          </a:p>
        </p:txBody>
      </p:sp>
      <p:sp>
        <p:nvSpPr>
          <p:cNvPr id="6" name="Rectangle 5"/>
          <p:cNvSpPr/>
          <p:nvPr/>
        </p:nvSpPr>
        <p:spPr>
          <a:xfrm>
            <a:off x="548640" y="5568696"/>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568696"/>
            <a:ext cx="7863840" cy="731520"/>
          </a:xfrm>
          <a:prstGeom prst="rect">
            <a:avLst/>
          </a:prstGeom>
          <a:noFill/>
        </p:spPr>
        <p:txBody>
          <a:bodyPr wrap="square" anchor="ctr" lIns="27432" rIns="27432" tIns="18288" bIns="18288">
            <a:spAutoFit/>
          </a:bodyPr>
          <a:lstStyle/>
          <a:p>
            <a:pPr algn="l"/>
            <a:r>
              <a:rPr sz="2100" b="1" i="0">
                <a:solidFill>
                  <a:srgbClr val="1F497D"/>
                </a:solidFill>
              </a:rPr>
              <a:t>One folder and Dockerfile per service you build.</a:t>
            </a:r>
          </a:p>
          <a:p>
            <a:pPr algn="l"/>
            <a:r>
              <a:rPr sz="2100" b="1" i="0">
                <a:solidFill>
                  <a:srgbClr val="1F497D"/>
                </a:solidFill>
              </a:rPr>
              <a:t>No db/ folder — db runs a stock postgres image.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hello-world-app: The Compose File</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9</a:t>
            </a:r>
          </a:p>
        </p:txBody>
      </p:sp>
      <p:sp>
        <p:nvSpPr>
          <p:cNvPr id="4" name="TextBox 3"/>
          <p:cNvSpPr txBox="1"/>
          <p:nvPr/>
        </p:nvSpPr>
        <p:spPr>
          <a:xfrm>
            <a:off x="274320" y="1115568"/>
            <a:ext cx="4572000" cy="274320"/>
          </a:xfrm>
          <a:prstGeom prst="rect">
            <a:avLst/>
          </a:prstGeom>
          <a:noFill/>
        </p:spPr>
        <p:txBody>
          <a:bodyPr wrap="square" anchor="t" lIns="27432" rIns="27432" tIns="18288" bIns="18288">
            <a:spAutoFit/>
          </a:bodyPr>
          <a:lstStyle/>
          <a:p>
            <a:pPr algn="l"/>
            <a:r>
              <a:rPr sz="1100" b="0" i="1">
                <a:solidFill>
                  <a:srgbClr val="404040"/>
                </a:solidFill>
              </a:rPr>
              <a:t>docker-compose.yaml — comments removed, lightly abridged</a:t>
            </a:r>
          </a:p>
        </p:txBody>
      </p:sp>
      <p:sp>
        <p:nvSpPr>
          <p:cNvPr id="5" name="TextBox 4"/>
          <p:cNvSpPr txBox="1"/>
          <p:nvPr/>
        </p:nvSpPr>
        <p:spPr>
          <a:xfrm>
            <a:off x="4846320" y="1115568"/>
            <a:ext cx="4023360" cy="274320"/>
          </a:xfrm>
          <a:prstGeom prst="rect">
            <a:avLst/>
          </a:prstGeom>
          <a:noFill/>
        </p:spPr>
        <p:txBody>
          <a:bodyPr wrap="square" anchor="t" lIns="27432" rIns="27432" tIns="18288" bIns="18288">
            <a:spAutoFit/>
          </a:bodyPr>
          <a:lstStyle/>
          <a:p>
            <a:pPr algn="r"/>
            <a:r>
              <a:rPr sz="1100" b="1" i="0">
                <a:solidFill>
                  <a:srgbClr val="1F497D"/>
                </a:solidFill>
              </a:rPr>
              <a:t>hello = frontend · time = service · db = backend</a:t>
            </a:r>
          </a:p>
        </p:txBody>
      </p:sp>
      <p:sp>
        <p:nvSpPr>
          <p:cNvPr id="6" name="Rectangle 5"/>
          <p:cNvSpPr/>
          <p:nvPr/>
        </p:nvSpPr>
        <p:spPr>
          <a:xfrm>
            <a:off x="274320" y="1417320"/>
            <a:ext cx="5230368" cy="3086608"/>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7" name="TextBox 6"/>
          <p:cNvSpPr txBox="1"/>
          <p:nvPr/>
        </p:nvSpPr>
        <p:spPr>
          <a:xfrm>
            <a:off x="329184" y="1472184"/>
            <a:ext cx="5138928" cy="2995168"/>
          </a:xfrm>
          <a:prstGeom prst="rect">
            <a:avLst/>
          </a:prstGeom>
          <a:noFill/>
        </p:spPr>
        <p:txBody>
          <a:bodyPr wrap="square" lIns="36576" rIns="36576">
            <a:spAutoFit/>
          </a:bodyPr>
          <a:lstStyle/>
          <a:p>
            <a:r>
              <a:rPr sz="1000" b="0">
                <a:solidFill>
                  <a:srgbClr val="1F497D"/>
                </a:solidFill>
                <a:latin typeface="Consolas"/>
              </a:rPr>
              <a:t>services:</a:t>
            </a:r>
          </a:p>
          <a:p>
            <a:r>
              <a:rPr sz="1000" b="0">
                <a:solidFill>
                  <a:srgbClr val="262626"/>
                </a:solidFill>
                <a:latin typeface="Consolas"/>
              </a:rPr>
              <a:t>  hello:</a:t>
            </a:r>
          </a:p>
          <a:p>
            <a:r>
              <a:rPr sz="1000" b="0">
                <a:solidFill>
                  <a:srgbClr val="262626"/>
                </a:solidFill>
                <a:latin typeface="Consolas"/>
              </a:rPr>
              <a:t>    build: ./hello</a:t>
            </a:r>
          </a:p>
          <a:p>
            <a:r>
              <a:rPr sz="1000" b="0">
                <a:solidFill>
                  <a:srgbClr val="262626"/>
                </a:solidFill>
                <a:latin typeface="Consolas"/>
              </a:rPr>
              <a:t>    expose: ["8000"]</a:t>
            </a:r>
            <a:r>
              <a:rPr sz="1200" b="1">
                <a:solidFill>
                  <a:srgbClr val="C0504D"/>
                </a:solidFill>
              </a:rPr>
              <a:t>  ❶</a:t>
            </a:r>
          </a:p>
          <a:p>
            <a:r>
              <a:rPr sz="1000" b="0">
                <a:solidFill>
                  <a:srgbClr val="262626"/>
                </a:solidFill>
                <a:latin typeface="Consolas"/>
              </a:rPr>
              <a:t>    environment:</a:t>
            </a:r>
            <a:r>
              <a:rPr sz="1200" b="1">
                <a:solidFill>
                  <a:srgbClr val="C0504D"/>
                </a:solidFill>
              </a:rPr>
              <a:t>  ❷</a:t>
            </a:r>
          </a:p>
          <a:p>
            <a:r>
              <a:rPr sz="1000" b="0">
                <a:solidFill>
                  <a:srgbClr val="262626"/>
                </a:solidFill>
                <a:latin typeface="Consolas"/>
              </a:rPr>
              <a:t>      - APP_URL=${SERVICE_FQDN_HELLO}</a:t>
            </a:r>
            <a:r>
              <a:rPr sz="1200" b="1">
                <a:solidFill>
                  <a:srgbClr val="C0504D"/>
                </a:solidFill>
              </a:rPr>
              <a:t>  ❸</a:t>
            </a:r>
          </a:p>
          <a:p>
            <a:r>
              <a:rPr sz="1000" b="0">
                <a:solidFill>
                  <a:srgbClr val="262626"/>
                </a:solidFill>
                <a:latin typeface="Consolas"/>
              </a:rPr>
              <a:t>      - DATABASE_URL=postgresql://appuser:apppass@db:5432/appdb</a:t>
            </a:r>
          </a:p>
          <a:p>
            <a:r>
              <a:rPr sz="1000" b="0">
                <a:solidFill>
                  <a:srgbClr val="262626"/>
                </a:solidFill>
                <a:latin typeface="Consolas"/>
              </a:rPr>
              <a:t>    depends_on:</a:t>
            </a:r>
            <a:r>
              <a:rPr sz="1200" b="1">
                <a:solidFill>
                  <a:srgbClr val="C0504D"/>
                </a:solidFill>
              </a:rPr>
              <a:t>  ❹</a:t>
            </a:r>
          </a:p>
          <a:p>
            <a:r>
              <a:rPr sz="1000" b="0">
                <a:solidFill>
                  <a:srgbClr val="262626"/>
                </a:solidFill>
                <a:latin typeface="Consolas"/>
              </a:rPr>
              <a:t>      time: { condition: service_healthy }</a:t>
            </a:r>
          </a:p>
          <a:p>
            <a:r>
              <a:rPr sz="1000" b="0">
                <a:solidFill>
                  <a:srgbClr val="262626"/>
                </a:solidFill>
                <a:latin typeface="Consolas"/>
              </a:rPr>
              <a:t>      db:   { condition: service_healthy }</a:t>
            </a:r>
          </a:p>
          <a:p>
            <a:r>
              <a:rPr sz="1000" b="0">
                <a:solidFill>
                  <a:srgbClr val="262626"/>
                </a:solidFill>
                <a:latin typeface="Consolas"/>
              </a:rPr>
              <a:t>    healthcheck:</a:t>
            </a:r>
          </a:p>
          <a:p>
            <a:r>
              <a:rPr sz="1000" b="0">
                <a:solidFill>
                  <a:srgbClr val="262626"/>
                </a:solidFill>
                <a:latin typeface="Consolas"/>
              </a:rPr>
              <a:t>      test: ["CMD", "python", "-c", "...:8000/health"]</a:t>
            </a:r>
            <a:r>
              <a:rPr sz="1200" b="1">
                <a:solidFill>
                  <a:srgbClr val="C0504D"/>
                </a:solidFill>
              </a:rPr>
              <a:t>  ❺</a:t>
            </a:r>
          </a:p>
          <a:p>
            <a:r>
              <a:rPr sz="1000" b="0">
                <a:solidFill>
                  <a:srgbClr val="262626"/>
                </a:solidFill>
                <a:latin typeface="Consolas"/>
              </a:rPr>
              <a:t>      start_period: 30s</a:t>
            </a:r>
          </a:p>
          <a:p>
            <a:r>
              <a:rPr sz="1000" b="0">
                <a:solidFill>
                  <a:srgbClr val="262626"/>
                </a:solidFill>
                <a:latin typeface="Consolas"/>
              </a:rPr>
              <a:t>      start_interval: 2s</a:t>
            </a:r>
          </a:p>
          <a:p>
            <a:r>
              <a:rPr sz="1000" b="0">
                <a:solidFill>
                  <a:srgbClr val="262626"/>
                </a:solidFill>
                <a:latin typeface="Consolas"/>
              </a:rPr>
              <a:t>      interval: 5m</a:t>
            </a:r>
          </a:p>
          <a:p>
            <a:r>
              <a:rPr sz="1000" b="0">
                <a:solidFill>
                  <a:srgbClr val="262626"/>
                </a:solidFill>
                <a:latin typeface="Consolas"/>
              </a:rPr>
              <a:t>    restart: unless-stopped</a:t>
            </a:r>
            <a:r>
              <a:rPr sz="1200" b="1">
                <a:solidFill>
                  <a:srgbClr val="C0504D"/>
                </a:solidFill>
              </a:rPr>
              <a:t>  ❻</a:t>
            </a:r>
          </a:p>
        </p:txBody>
      </p:sp>
      <p:sp>
        <p:nvSpPr>
          <p:cNvPr id="8" name="Rectangle 7"/>
          <p:cNvSpPr/>
          <p:nvPr/>
        </p:nvSpPr>
        <p:spPr>
          <a:xfrm>
            <a:off x="5559552" y="1417320"/>
            <a:ext cx="3310128" cy="3447288"/>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9" name="TextBox 8"/>
          <p:cNvSpPr txBox="1"/>
          <p:nvPr/>
        </p:nvSpPr>
        <p:spPr>
          <a:xfrm>
            <a:off x="5614416" y="1472184"/>
            <a:ext cx="3218688" cy="3355848"/>
          </a:xfrm>
          <a:prstGeom prst="rect">
            <a:avLst/>
          </a:prstGeom>
          <a:noFill/>
        </p:spPr>
        <p:txBody>
          <a:bodyPr wrap="square" lIns="36576" rIns="36576">
            <a:spAutoFit/>
          </a:bodyPr>
          <a:lstStyle/>
          <a:p>
            <a:r>
              <a:rPr sz="1000" b="0">
                <a:solidFill>
                  <a:srgbClr val="262626"/>
                </a:solidFill>
                <a:latin typeface="Consolas"/>
              </a:rPr>
              <a:t>  time:</a:t>
            </a:r>
          </a:p>
          <a:p>
            <a:r>
              <a:rPr sz="1000" b="0">
                <a:solidFill>
                  <a:srgbClr val="262626"/>
                </a:solidFill>
                <a:latin typeface="Consolas"/>
              </a:rPr>
              <a:t>    build: ./time</a:t>
            </a:r>
          </a:p>
          <a:p>
            <a:r>
              <a:rPr sz="1000" b="0">
                <a:solidFill>
                  <a:srgbClr val="262626"/>
                </a:solidFill>
                <a:latin typeface="Consolas"/>
              </a:rPr>
              <a:t>    expose: ["8001"]</a:t>
            </a:r>
          </a:p>
          <a:p>
            <a:r>
              <a:rPr sz="1000" b="0">
                <a:solidFill>
                  <a:srgbClr val="262626"/>
                </a:solidFill>
                <a:latin typeface="Consolas"/>
              </a:rPr>
              <a:t>    healthcheck:   </a:t>
            </a:r>
            <a:r>
              <a:rPr sz="1000" b="0">
                <a:solidFill>
                  <a:srgbClr val="6A737D"/>
                </a:solidFill>
                <a:latin typeface="Consolas"/>
              </a:rPr>
              <a:t># same /health idea</a:t>
            </a:r>
          </a:p>
          <a:p>
            <a:r>
              <a:rPr sz="1000" b="0">
                <a:solidFill>
                  <a:srgbClr val="262626"/>
                </a:solidFill>
                <a:latin typeface="Consolas"/>
              </a:rPr>
              <a:t>    restart: unless-stopped</a:t>
            </a:r>
          </a:p>
          <a:p>
            <a:r>
              <a:rPr sz="500"/>
              <a:t> </a:t>
            </a:r>
          </a:p>
          <a:p>
            <a:r>
              <a:rPr sz="1000" b="0">
                <a:solidFill>
                  <a:srgbClr val="262626"/>
                </a:solidFill>
                <a:latin typeface="Consolas"/>
              </a:rPr>
              <a:t>  db:</a:t>
            </a:r>
          </a:p>
          <a:p>
            <a:r>
              <a:rPr sz="1000" b="0">
                <a:solidFill>
                  <a:srgbClr val="262626"/>
                </a:solidFill>
                <a:latin typeface="Consolas"/>
              </a:rPr>
              <a:t>    image: postgres:16-alpine</a:t>
            </a:r>
            <a:r>
              <a:rPr sz="1200" b="1">
                <a:solidFill>
                  <a:srgbClr val="C0504D"/>
                </a:solidFill>
              </a:rPr>
              <a:t>  ❼</a:t>
            </a:r>
          </a:p>
          <a:p>
            <a:r>
              <a:rPr sz="1000" b="0">
                <a:solidFill>
                  <a:srgbClr val="262626"/>
                </a:solidFill>
                <a:latin typeface="Consolas"/>
              </a:rPr>
              <a:t>    environment:</a:t>
            </a:r>
          </a:p>
          <a:p>
            <a:r>
              <a:rPr sz="1000" b="0">
                <a:solidFill>
                  <a:srgbClr val="262626"/>
                </a:solidFill>
                <a:latin typeface="Consolas"/>
              </a:rPr>
              <a:t>      - POSTGRES_USER=appuser</a:t>
            </a:r>
          </a:p>
          <a:p>
            <a:r>
              <a:rPr sz="1000" b="0">
                <a:solidFill>
                  <a:srgbClr val="262626"/>
                </a:solidFill>
                <a:latin typeface="Consolas"/>
              </a:rPr>
              <a:t>      - POSTGRES_PASSWORD=apppass</a:t>
            </a:r>
            <a:r>
              <a:rPr sz="1200" b="1">
                <a:solidFill>
                  <a:srgbClr val="C0504D"/>
                </a:solidFill>
              </a:rPr>
              <a:t>  ❽</a:t>
            </a:r>
          </a:p>
          <a:p>
            <a:r>
              <a:rPr sz="1000" b="0">
                <a:solidFill>
                  <a:srgbClr val="262626"/>
                </a:solidFill>
                <a:latin typeface="Consolas"/>
              </a:rPr>
              <a:t>      - POSTGRES_DB=appdb</a:t>
            </a:r>
          </a:p>
          <a:p>
            <a:r>
              <a:rPr sz="1000" b="0">
                <a:solidFill>
                  <a:srgbClr val="262626"/>
                </a:solidFill>
                <a:latin typeface="Consolas"/>
              </a:rPr>
              <a:t>    volumes:</a:t>
            </a:r>
            <a:r>
              <a:rPr sz="1200" b="1">
                <a:solidFill>
                  <a:srgbClr val="C0504D"/>
                </a:solidFill>
              </a:rPr>
              <a:t>  ❾</a:t>
            </a:r>
          </a:p>
          <a:p>
            <a:r>
              <a:rPr sz="1000" b="0">
                <a:solidFill>
                  <a:srgbClr val="262626"/>
                </a:solidFill>
                <a:latin typeface="Consolas"/>
              </a:rPr>
              <a:t>      - db-data:/var/lib/postgresql/data</a:t>
            </a:r>
          </a:p>
          <a:p>
            <a:r>
              <a:rPr sz="1000" b="0">
                <a:solidFill>
                  <a:srgbClr val="262626"/>
                </a:solidFill>
                <a:latin typeface="Consolas"/>
              </a:rPr>
              <a:t>    healthcheck:   </a:t>
            </a:r>
            <a:r>
              <a:rPr sz="1000" b="0">
                <a:solidFill>
                  <a:srgbClr val="6A737D"/>
                </a:solidFill>
                <a:latin typeface="Consolas"/>
              </a:rPr>
              <a:t># pg_isready</a:t>
            </a:r>
          </a:p>
          <a:p>
            <a:r>
              <a:rPr sz="1000" b="0">
                <a:solidFill>
                  <a:srgbClr val="262626"/>
                </a:solidFill>
                <a:latin typeface="Consolas"/>
              </a:rPr>
              <a:t>    restart: unless-stopped</a:t>
            </a:r>
          </a:p>
          <a:p>
            <a:r>
              <a:rPr sz="500"/>
              <a:t> </a:t>
            </a:r>
          </a:p>
          <a:p>
            <a:r>
              <a:rPr sz="1000" b="0">
                <a:solidFill>
                  <a:srgbClr val="1F497D"/>
                </a:solidFill>
                <a:latin typeface="Consolas"/>
              </a:rPr>
              <a:t>volumes:</a:t>
            </a:r>
          </a:p>
          <a:p>
            <a:r>
              <a:rPr sz="1000" b="0">
                <a:solidFill>
                  <a:srgbClr val="262626"/>
                </a:solidFill>
                <a:latin typeface="Consolas"/>
              </a:rPr>
              <a:t>  db-data:</a:t>
            </a:r>
          </a:p>
        </p:txBody>
      </p:sp>
      <p:sp>
        <p:nvSpPr>
          <p:cNvPr id="10" name="TextBox 9"/>
          <p:cNvSpPr txBox="1"/>
          <p:nvPr/>
        </p:nvSpPr>
        <p:spPr>
          <a:xfrm>
            <a:off x="274320" y="4974336"/>
            <a:ext cx="4297680" cy="256032"/>
          </a:xfrm>
          <a:prstGeom prst="rect">
            <a:avLst/>
          </a:prstGeom>
          <a:noFill/>
        </p:spPr>
        <p:txBody>
          <a:bodyPr wrap="square" tIns="0" bIns="0">
            <a:spAutoFit/>
          </a:bodyPr>
          <a:lstStyle/>
          <a:p>
            <a:r>
              <a:rPr sz="1300" b="1">
                <a:solidFill>
                  <a:srgbClr val="C0504D"/>
                </a:solidFill>
              </a:rPr>
              <a:t>❶  </a:t>
            </a:r>
            <a:r>
              <a:rPr sz="1300">
                <a:solidFill>
                  <a:srgbClr val="262626"/>
                </a:solidFill>
              </a:rPr>
              <a:t>expose, not ports — no host port to collide</a:t>
            </a:r>
          </a:p>
        </p:txBody>
      </p:sp>
      <p:sp>
        <p:nvSpPr>
          <p:cNvPr id="11" name="TextBox 10"/>
          <p:cNvSpPr txBox="1"/>
          <p:nvPr/>
        </p:nvSpPr>
        <p:spPr>
          <a:xfrm>
            <a:off x="274320" y="5221224"/>
            <a:ext cx="4297680" cy="256032"/>
          </a:xfrm>
          <a:prstGeom prst="rect">
            <a:avLst/>
          </a:prstGeom>
          <a:noFill/>
        </p:spPr>
        <p:txBody>
          <a:bodyPr wrap="square" tIns="0" bIns="0">
            <a:spAutoFit/>
          </a:bodyPr>
          <a:lstStyle/>
          <a:p>
            <a:r>
              <a:rPr sz="1300" b="1">
                <a:solidFill>
                  <a:srgbClr val="C0504D"/>
                </a:solidFill>
              </a:rPr>
              <a:t>❷  </a:t>
            </a:r>
            <a:r>
              <a:rPr sz="1300">
                <a:solidFill>
                  <a:srgbClr val="262626"/>
                </a:solidFill>
              </a:rPr>
              <a:t>DATABASE_URL: services find each other by name (db)</a:t>
            </a:r>
          </a:p>
        </p:txBody>
      </p:sp>
      <p:sp>
        <p:nvSpPr>
          <p:cNvPr id="12" name="TextBox 11"/>
          <p:cNvSpPr txBox="1"/>
          <p:nvPr/>
        </p:nvSpPr>
        <p:spPr>
          <a:xfrm>
            <a:off x="274320" y="5468112"/>
            <a:ext cx="4297680" cy="256032"/>
          </a:xfrm>
          <a:prstGeom prst="rect">
            <a:avLst/>
          </a:prstGeom>
          <a:noFill/>
        </p:spPr>
        <p:txBody>
          <a:bodyPr wrap="square" tIns="0" bIns="0">
            <a:spAutoFit/>
          </a:bodyPr>
          <a:lstStyle/>
          <a:p>
            <a:r>
              <a:rPr sz="1300" b="1">
                <a:solidFill>
                  <a:srgbClr val="C0504D"/>
                </a:solidFill>
              </a:rPr>
              <a:t>❸  </a:t>
            </a:r>
            <a:r>
              <a:rPr sz="1300">
                <a:solidFill>
                  <a:srgbClr val="262626"/>
                </a:solidFill>
              </a:rPr>
              <a:t>SERVICE_FQDN_HELLO: Coolify fills in domain + route</a:t>
            </a:r>
          </a:p>
        </p:txBody>
      </p:sp>
      <p:sp>
        <p:nvSpPr>
          <p:cNvPr id="13" name="TextBox 12"/>
          <p:cNvSpPr txBox="1"/>
          <p:nvPr/>
        </p:nvSpPr>
        <p:spPr>
          <a:xfrm>
            <a:off x="274320" y="5715000"/>
            <a:ext cx="4297680" cy="256032"/>
          </a:xfrm>
          <a:prstGeom prst="rect">
            <a:avLst/>
          </a:prstGeom>
          <a:noFill/>
        </p:spPr>
        <p:txBody>
          <a:bodyPr wrap="square" tIns="0" bIns="0">
            <a:spAutoFit/>
          </a:bodyPr>
          <a:lstStyle/>
          <a:p>
            <a:r>
              <a:rPr sz="1300" b="1">
                <a:solidFill>
                  <a:srgbClr val="C0504D"/>
                </a:solidFill>
              </a:rPr>
              <a:t>❹  </a:t>
            </a:r>
            <a:r>
              <a:rPr sz="1300">
                <a:solidFill>
                  <a:srgbClr val="262626"/>
                </a:solidFill>
              </a:rPr>
              <a:t>start only after time and db are healthy</a:t>
            </a:r>
          </a:p>
        </p:txBody>
      </p:sp>
      <p:sp>
        <p:nvSpPr>
          <p:cNvPr id="14" name="TextBox 13"/>
          <p:cNvSpPr txBox="1"/>
          <p:nvPr/>
        </p:nvSpPr>
        <p:spPr>
          <a:xfrm>
            <a:off x="274320" y="5961888"/>
            <a:ext cx="4297680" cy="256032"/>
          </a:xfrm>
          <a:prstGeom prst="rect">
            <a:avLst/>
          </a:prstGeom>
          <a:noFill/>
        </p:spPr>
        <p:txBody>
          <a:bodyPr wrap="square" tIns="0" bIns="0">
            <a:spAutoFit/>
          </a:bodyPr>
          <a:lstStyle/>
          <a:p>
            <a:r>
              <a:rPr sz="1300" b="1">
                <a:solidFill>
                  <a:srgbClr val="C0504D"/>
                </a:solidFill>
              </a:rPr>
              <a:t>❺  </a:t>
            </a:r>
            <a:r>
              <a:rPr sz="1300">
                <a:solidFill>
                  <a:srgbClr val="262626"/>
                </a:solidFill>
              </a:rPr>
              <a:t>the health check calls /health — the traffic gate</a:t>
            </a:r>
          </a:p>
        </p:txBody>
      </p:sp>
      <p:sp>
        <p:nvSpPr>
          <p:cNvPr id="15" name="TextBox 14"/>
          <p:cNvSpPr txBox="1"/>
          <p:nvPr/>
        </p:nvSpPr>
        <p:spPr>
          <a:xfrm>
            <a:off x="4663440" y="4974336"/>
            <a:ext cx="4297680" cy="256032"/>
          </a:xfrm>
          <a:prstGeom prst="rect">
            <a:avLst/>
          </a:prstGeom>
          <a:noFill/>
        </p:spPr>
        <p:txBody>
          <a:bodyPr wrap="square" tIns="0" bIns="0">
            <a:spAutoFit/>
          </a:bodyPr>
          <a:lstStyle/>
          <a:p>
            <a:r>
              <a:rPr sz="1300" b="1">
                <a:solidFill>
                  <a:srgbClr val="C0504D"/>
                </a:solidFill>
              </a:rPr>
              <a:t>❻  </a:t>
            </a:r>
            <a:r>
              <a:rPr sz="1300">
                <a:solidFill>
                  <a:srgbClr val="262626"/>
                </a:solidFill>
              </a:rPr>
              <a:t>crashes restart on their own</a:t>
            </a:r>
          </a:p>
        </p:txBody>
      </p:sp>
      <p:sp>
        <p:nvSpPr>
          <p:cNvPr id="16" name="TextBox 15"/>
          <p:cNvSpPr txBox="1"/>
          <p:nvPr/>
        </p:nvSpPr>
        <p:spPr>
          <a:xfrm>
            <a:off x="4663440" y="5221224"/>
            <a:ext cx="4297680" cy="256032"/>
          </a:xfrm>
          <a:prstGeom prst="rect">
            <a:avLst/>
          </a:prstGeom>
          <a:noFill/>
        </p:spPr>
        <p:txBody>
          <a:bodyPr wrap="square" tIns="0" bIns="0">
            <a:spAutoFit/>
          </a:bodyPr>
          <a:lstStyle/>
          <a:p>
            <a:r>
              <a:rPr sz="1300" b="1">
                <a:solidFill>
                  <a:srgbClr val="C0504D"/>
                </a:solidFill>
              </a:rPr>
              <a:t>❼  </a:t>
            </a:r>
            <a:r>
              <a:rPr sz="1300">
                <a:solidFill>
                  <a:srgbClr val="262626"/>
                </a:solidFill>
              </a:rPr>
              <a:t>image:, not build: — stock Postgres</a:t>
            </a:r>
          </a:p>
        </p:txBody>
      </p:sp>
      <p:sp>
        <p:nvSpPr>
          <p:cNvPr id="17" name="TextBox 16"/>
          <p:cNvSpPr txBox="1"/>
          <p:nvPr/>
        </p:nvSpPr>
        <p:spPr>
          <a:xfrm>
            <a:off x="4663440" y="5468112"/>
            <a:ext cx="4297680" cy="256032"/>
          </a:xfrm>
          <a:prstGeom prst="rect">
            <a:avLst/>
          </a:prstGeom>
          <a:noFill/>
        </p:spPr>
        <p:txBody>
          <a:bodyPr wrap="square" tIns="0" bIns="0">
            <a:spAutoFit/>
          </a:bodyPr>
          <a:lstStyle/>
          <a:p>
            <a:r>
              <a:rPr sz="1300" b="1">
                <a:solidFill>
                  <a:srgbClr val="C0504D"/>
                </a:solidFill>
              </a:rPr>
              <a:t>❽  </a:t>
            </a:r>
            <a:r>
              <a:rPr sz="1300">
                <a:solidFill>
                  <a:srgbClr val="262626"/>
                </a:solidFill>
              </a:rPr>
              <a:t>password in the file — fine for a demo, not for real</a:t>
            </a:r>
          </a:p>
        </p:txBody>
      </p:sp>
      <p:sp>
        <p:nvSpPr>
          <p:cNvPr id="18" name="TextBox 17"/>
          <p:cNvSpPr txBox="1"/>
          <p:nvPr/>
        </p:nvSpPr>
        <p:spPr>
          <a:xfrm>
            <a:off x="4663440" y="5715000"/>
            <a:ext cx="4297680" cy="256032"/>
          </a:xfrm>
          <a:prstGeom prst="rect">
            <a:avLst/>
          </a:prstGeom>
          <a:noFill/>
        </p:spPr>
        <p:txBody>
          <a:bodyPr wrap="square" tIns="0" bIns="0">
            <a:spAutoFit/>
          </a:bodyPr>
          <a:lstStyle/>
          <a:p>
            <a:r>
              <a:rPr sz="1300" b="1">
                <a:solidFill>
                  <a:srgbClr val="C0504D"/>
                </a:solidFill>
              </a:rPr>
              <a:t>❾  </a:t>
            </a:r>
            <a:r>
              <a:rPr sz="1300">
                <a:solidFill>
                  <a:srgbClr val="262626"/>
                </a:solidFill>
              </a:rPr>
              <a:t>named volume — data survives redeploys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The System, End to End</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10</a:t>
            </a:r>
          </a:p>
        </p:txBody>
      </p:sp>
      <p:sp>
        <p:nvSpPr>
          <p:cNvPr id="4" name="Rectangle 3"/>
          <p:cNvSpPr/>
          <p:nvPr/>
        </p:nvSpPr>
        <p:spPr>
          <a:xfrm>
            <a:off x="182880" y="1234440"/>
            <a:ext cx="3017520" cy="3520440"/>
          </a:xfrm>
          <a:prstGeom prst="rect">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182880" y="1298448"/>
            <a:ext cx="3017520" cy="274320"/>
          </a:xfrm>
          <a:prstGeom prst="rect">
            <a:avLst/>
          </a:prstGeom>
          <a:noFill/>
        </p:spPr>
        <p:txBody>
          <a:bodyPr wrap="square" anchor="t" lIns="27432" rIns="27432" tIns="18288" bIns="18288">
            <a:spAutoFit/>
          </a:bodyPr>
          <a:lstStyle/>
          <a:p>
            <a:pPr algn="ctr"/>
            <a:r>
              <a:rPr sz="1400" b="1" i="0">
                <a:solidFill>
                  <a:srgbClr val="1F497D"/>
                </a:solidFill>
              </a:rPr>
              <a:t>YOUR LAPTOP</a:t>
            </a:r>
          </a:p>
        </p:txBody>
      </p:sp>
      <p:sp>
        <p:nvSpPr>
          <p:cNvPr id="6" name="TextBox 5"/>
          <p:cNvSpPr txBox="1"/>
          <p:nvPr/>
        </p:nvSpPr>
        <p:spPr>
          <a:xfrm>
            <a:off x="182880" y="1591056"/>
            <a:ext cx="3017520" cy="274320"/>
          </a:xfrm>
          <a:prstGeom prst="rect">
            <a:avLst/>
          </a:prstGeom>
          <a:noFill/>
        </p:spPr>
        <p:txBody>
          <a:bodyPr wrap="square" anchor="t" lIns="27432" rIns="27432" tIns="18288" bIns="18288">
            <a:spAutoFit/>
          </a:bodyPr>
          <a:lstStyle/>
          <a:p>
            <a:pPr algn="ctr"/>
            <a:r>
              <a:rPr sz="1200" b="0" i="0">
                <a:solidFill>
                  <a:srgbClr val="1F497D"/>
                </a:solidFill>
              </a:rPr>
              <a:t>editor + git + Docker Desktop</a:t>
            </a:r>
          </a:p>
        </p:txBody>
      </p:sp>
      <p:sp>
        <p:nvSpPr>
          <p:cNvPr id="7" name="Rounded Rectangle 6"/>
          <p:cNvSpPr/>
          <p:nvPr/>
        </p:nvSpPr>
        <p:spPr>
          <a:xfrm>
            <a:off x="274320" y="1920240"/>
            <a:ext cx="2834640" cy="987552"/>
          </a:xfrm>
          <a:prstGeom prst="roundRect">
            <a:avLst>
              <a:gd name="adj" fmla="val 7407"/>
            </a:avLst>
          </a:prstGeom>
          <a:solidFill>
            <a:srgbClr val="FFFFFF"/>
          </a:solidFill>
          <a:ln w="2540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8" name="TextBox 7"/>
          <p:cNvSpPr txBox="1"/>
          <p:nvPr/>
        </p:nvSpPr>
        <p:spPr>
          <a:xfrm>
            <a:off x="274320" y="1947672"/>
            <a:ext cx="2834640" cy="256032"/>
          </a:xfrm>
          <a:prstGeom prst="rect">
            <a:avLst/>
          </a:prstGeom>
          <a:noFill/>
        </p:spPr>
        <p:txBody>
          <a:bodyPr wrap="square" anchor="t" lIns="27432" rIns="27432" tIns="18288" bIns="18288">
            <a:spAutoFit/>
          </a:bodyPr>
          <a:lstStyle/>
          <a:p>
            <a:pPr algn="ctr"/>
            <a:r>
              <a:rPr sz="1200" b="1" i="0">
                <a:solidFill>
                  <a:srgbClr val="4F81BD"/>
                </a:solidFill>
              </a:rPr>
              <a:t>LOCAL — docker compose up</a:t>
            </a:r>
          </a:p>
        </p:txBody>
      </p:sp>
      <p:sp>
        <p:nvSpPr>
          <p:cNvPr id="9" name="Rounded Rectangle 8"/>
          <p:cNvSpPr/>
          <p:nvPr/>
        </p:nvSpPr>
        <p:spPr>
          <a:xfrm>
            <a:off x="365760" y="2221992"/>
            <a:ext cx="868680" cy="347472"/>
          </a:xfrm>
          <a:prstGeom prst="roundRect">
            <a:avLst>
              <a:gd name="adj" fmla="val 21052"/>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frontend</a:t>
            </a:r>
          </a:p>
        </p:txBody>
      </p:sp>
      <p:sp>
        <p:nvSpPr>
          <p:cNvPr id="10" name="Rounded Rectangle 9"/>
          <p:cNvSpPr/>
          <p:nvPr/>
        </p:nvSpPr>
        <p:spPr>
          <a:xfrm>
            <a:off x="1261872" y="2221992"/>
            <a:ext cx="868680" cy="347472"/>
          </a:xfrm>
          <a:prstGeom prst="roundRect">
            <a:avLst>
              <a:gd name="adj" fmla="val 21052"/>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4F81BD"/>
                </a:solidFill>
              </a:rPr>
              <a:t>service</a:t>
            </a:r>
          </a:p>
        </p:txBody>
      </p:sp>
      <p:sp>
        <p:nvSpPr>
          <p:cNvPr id="11" name="Rounded Rectangle 10"/>
          <p:cNvSpPr/>
          <p:nvPr/>
        </p:nvSpPr>
        <p:spPr>
          <a:xfrm>
            <a:off x="2157984" y="2221992"/>
            <a:ext cx="868680" cy="347472"/>
          </a:xfrm>
          <a:prstGeom prst="roundRect">
            <a:avLst>
              <a:gd name="adj" fmla="val 21052"/>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4F81BD"/>
                </a:solidFill>
              </a:rPr>
              <a:t>backend</a:t>
            </a:r>
          </a:p>
        </p:txBody>
      </p:sp>
      <p:sp>
        <p:nvSpPr>
          <p:cNvPr id="12" name="TextBox 11"/>
          <p:cNvSpPr txBox="1"/>
          <p:nvPr/>
        </p:nvSpPr>
        <p:spPr>
          <a:xfrm>
            <a:off x="274320" y="2596896"/>
            <a:ext cx="2834640" cy="274320"/>
          </a:xfrm>
          <a:prstGeom prst="rect">
            <a:avLst/>
          </a:prstGeom>
          <a:noFill/>
        </p:spPr>
        <p:txBody>
          <a:bodyPr wrap="square" anchor="t" lIns="27432" rIns="27432" tIns="18288" bIns="18288">
            <a:spAutoFit/>
          </a:bodyPr>
          <a:lstStyle/>
          <a:p>
            <a:pPr algn="ctr"/>
            <a:r>
              <a:rPr sz="1100" b="0" i="1">
                <a:solidFill>
                  <a:srgbClr val="404040"/>
                </a:solidFill>
              </a:rPr>
              <a:t>own database volume · test data</a:t>
            </a:r>
          </a:p>
        </p:txBody>
      </p:sp>
      <p:sp>
        <p:nvSpPr>
          <p:cNvPr id="13" name="Up Arrow 12"/>
          <p:cNvSpPr/>
          <p:nvPr/>
        </p:nvSpPr>
        <p:spPr>
          <a:xfrm>
            <a:off x="649224" y="2944368"/>
            <a:ext cx="310896" cy="310896"/>
          </a:xfrm>
          <a:prstGeom prst="up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74320" y="3291840"/>
            <a:ext cx="2834640" cy="411480"/>
          </a:xfrm>
          <a:prstGeom prst="roundRect">
            <a:avLst>
              <a:gd name="adj" fmla="val 17777"/>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rPr>
              <a:t>YOU — browser at localhost:8000</a:t>
            </a:r>
          </a:p>
        </p:txBody>
      </p:sp>
      <p:sp>
        <p:nvSpPr>
          <p:cNvPr id="15" name="TextBox 14"/>
          <p:cNvSpPr txBox="1"/>
          <p:nvPr/>
        </p:nvSpPr>
        <p:spPr>
          <a:xfrm>
            <a:off x="182880" y="3840480"/>
            <a:ext cx="3017520" cy="731520"/>
          </a:xfrm>
          <a:prstGeom prst="rect">
            <a:avLst/>
          </a:prstGeom>
          <a:noFill/>
        </p:spPr>
        <p:txBody>
          <a:bodyPr wrap="square" anchor="t" lIns="27432" rIns="27432" tIns="18288" bIns="18288">
            <a:spAutoFit/>
          </a:bodyPr>
          <a:lstStyle/>
          <a:p>
            <a:pPr algn="ctr"/>
            <a:r>
              <a:rPr sz="1300" b="0" i="1">
                <a:solidFill>
                  <a:srgbClr val="1F497D"/>
                </a:solidFill>
              </a:rPr>
              <a:t>Test here first.</a:t>
            </a:r>
          </a:p>
          <a:p>
            <a:pPr algn="ctr"/>
            <a:r>
              <a:rPr sz="1300" b="0" i="1">
                <a:solidFill>
                  <a:srgbClr val="1F497D"/>
                </a:solidFill>
              </a:rPr>
              <a:t>Fast, free, private.</a:t>
            </a:r>
          </a:p>
        </p:txBody>
      </p:sp>
      <p:sp>
        <p:nvSpPr>
          <p:cNvPr id="16" name="Rectangle 15"/>
          <p:cNvSpPr/>
          <p:nvPr/>
        </p:nvSpPr>
        <p:spPr>
          <a:xfrm>
            <a:off x="3657600" y="1234440"/>
            <a:ext cx="1783080" cy="3520440"/>
          </a:xfrm>
          <a:prstGeom prst="rect">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17" name="TextBox 16"/>
          <p:cNvSpPr txBox="1"/>
          <p:nvPr/>
        </p:nvSpPr>
        <p:spPr>
          <a:xfrm>
            <a:off x="3657600" y="1298448"/>
            <a:ext cx="1783080" cy="274320"/>
          </a:xfrm>
          <a:prstGeom prst="rect">
            <a:avLst/>
          </a:prstGeom>
          <a:noFill/>
        </p:spPr>
        <p:txBody>
          <a:bodyPr wrap="square" anchor="t" lIns="27432" rIns="27432" tIns="18288" bIns="18288">
            <a:spAutoFit/>
          </a:bodyPr>
          <a:lstStyle/>
          <a:p>
            <a:pPr algn="ctr"/>
            <a:r>
              <a:rPr sz="1400" b="1" i="0">
                <a:solidFill>
                  <a:srgbClr val="1F497D"/>
                </a:solidFill>
              </a:rPr>
              <a:t>GITHUB</a:t>
            </a:r>
          </a:p>
        </p:txBody>
      </p:sp>
      <p:sp>
        <p:nvSpPr>
          <p:cNvPr id="18" name="Rounded Rectangle 17"/>
          <p:cNvSpPr/>
          <p:nvPr/>
        </p:nvSpPr>
        <p:spPr>
          <a:xfrm>
            <a:off x="3730752" y="1664208"/>
            <a:ext cx="1636776" cy="384048"/>
          </a:xfrm>
          <a:prstGeom prst="roundRect">
            <a:avLst>
              <a:gd name="adj" fmla="val 19047"/>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262626"/>
                </a:solidFill>
              </a:rPr>
              <a:t>repo</a:t>
            </a:r>
          </a:p>
        </p:txBody>
      </p:sp>
      <p:sp>
        <p:nvSpPr>
          <p:cNvPr id="19" name="Rounded Rectangle 18"/>
          <p:cNvSpPr/>
          <p:nvPr/>
        </p:nvSpPr>
        <p:spPr>
          <a:xfrm>
            <a:off x="3730752" y="2139696"/>
            <a:ext cx="786384" cy="365760"/>
          </a:xfrm>
          <a:prstGeom prst="roundRect">
            <a:avLst>
              <a:gd name="adj" fmla="val 20000"/>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staging</a:t>
            </a:r>
          </a:p>
        </p:txBody>
      </p:sp>
      <p:sp>
        <p:nvSpPr>
          <p:cNvPr id="20" name="Rounded Rectangle 19"/>
          <p:cNvSpPr/>
          <p:nvPr/>
        </p:nvSpPr>
        <p:spPr>
          <a:xfrm>
            <a:off x="4581144" y="2139696"/>
            <a:ext cx="786384" cy="365760"/>
          </a:xfrm>
          <a:prstGeom prst="roundRect">
            <a:avLst>
              <a:gd name="adj" fmla="val 20000"/>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main</a:t>
            </a:r>
          </a:p>
        </p:txBody>
      </p:sp>
      <p:sp>
        <p:nvSpPr>
          <p:cNvPr id="21" name="Rounded Rectangle 20"/>
          <p:cNvSpPr/>
          <p:nvPr/>
        </p:nvSpPr>
        <p:spPr>
          <a:xfrm>
            <a:off x="3730752" y="2624328"/>
            <a:ext cx="1636776" cy="1627632"/>
          </a:xfrm>
          <a:prstGeom prst="roundRect">
            <a:avLst>
              <a:gd name="adj" fmla="val 4494"/>
            </a:avLst>
          </a:prstGeom>
          <a:solidFill>
            <a:srgbClr val="FFFFFF"/>
          </a:solidFill>
          <a:ln w="19050">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22" name="TextBox 21"/>
          <p:cNvSpPr txBox="1"/>
          <p:nvPr/>
        </p:nvSpPr>
        <p:spPr>
          <a:xfrm>
            <a:off x="3730752" y="2670048"/>
            <a:ext cx="1636776" cy="274320"/>
          </a:xfrm>
          <a:prstGeom prst="rect">
            <a:avLst/>
          </a:prstGeom>
          <a:noFill/>
        </p:spPr>
        <p:txBody>
          <a:bodyPr wrap="square" anchor="t" lIns="27432" rIns="27432" tIns="18288" bIns="18288">
            <a:spAutoFit/>
          </a:bodyPr>
          <a:lstStyle/>
          <a:p>
            <a:pPr algn="ctr"/>
            <a:r>
              <a:rPr sz="1300" b="1" i="0">
                <a:solidFill>
                  <a:srgbClr val="8064A2"/>
                </a:solidFill>
              </a:rPr>
              <a:t>Actions (CI)</a:t>
            </a:r>
          </a:p>
        </p:txBody>
      </p:sp>
      <p:sp>
        <p:nvSpPr>
          <p:cNvPr id="23" name="Rounded Rectangle 22"/>
          <p:cNvSpPr/>
          <p:nvPr/>
        </p:nvSpPr>
        <p:spPr>
          <a:xfrm>
            <a:off x="3803904" y="3017520"/>
            <a:ext cx="1490472" cy="338328"/>
          </a:xfrm>
          <a:prstGeom prst="roundRect">
            <a:avLst>
              <a:gd name="adj" fmla="val 21621"/>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test</a:t>
            </a:r>
          </a:p>
        </p:txBody>
      </p:sp>
      <p:sp>
        <p:nvSpPr>
          <p:cNvPr id="24" name="Rounded Rectangle 23"/>
          <p:cNvSpPr/>
          <p:nvPr/>
        </p:nvSpPr>
        <p:spPr>
          <a:xfrm>
            <a:off x="3803904" y="3419856"/>
            <a:ext cx="1490472" cy="338328"/>
          </a:xfrm>
          <a:prstGeom prst="roundRect">
            <a:avLst>
              <a:gd name="adj" fmla="val 21621"/>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deploy-staging</a:t>
            </a:r>
          </a:p>
        </p:txBody>
      </p:sp>
      <p:sp>
        <p:nvSpPr>
          <p:cNvPr id="25" name="Rounded Rectangle 24"/>
          <p:cNvSpPr/>
          <p:nvPr/>
        </p:nvSpPr>
        <p:spPr>
          <a:xfrm>
            <a:off x="3803904" y="3822191"/>
            <a:ext cx="1490472" cy="338328"/>
          </a:xfrm>
          <a:prstGeom prst="roundRect">
            <a:avLst>
              <a:gd name="adj" fmla="val 21621"/>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deploy-prod</a:t>
            </a:r>
          </a:p>
        </p:txBody>
      </p:sp>
      <p:sp>
        <p:nvSpPr>
          <p:cNvPr id="26" name="TextBox 25"/>
          <p:cNvSpPr txBox="1"/>
          <p:nvPr/>
        </p:nvSpPr>
        <p:spPr>
          <a:xfrm>
            <a:off x="3657600" y="4315968"/>
            <a:ext cx="1783080" cy="411480"/>
          </a:xfrm>
          <a:prstGeom prst="rect">
            <a:avLst/>
          </a:prstGeom>
          <a:noFill/>
        </p:spPr>
        <p:txBody>
          <a:bodyPr wrap="square" anchor="t" lIns="27432" rIns="27432" tIns="18288" bIns="18288">
            <a:spAutoFit/>
          </a:bodyPr>
          <a:lstStyle/>
          <a:p>
            <a:pPr algn="ctr"/>
            <a:r>
              <a:rPr sz="1200" b="0" i="1">
                <a:solidFill>
                  <a:srgbClr val="1F497D"/>
                </a:solidFill>
              </a:rPr>
              <a:t>tests gate</a:t>
            </a:r>
          </a:p>
          <a:p>
            <a:pPr algn="ctr"/>
            <a:r>
              <a:rPr sz="1200" b="0" i="1">
                <a:solidFill>
                  <a:srgbClr val="1F497D"/>
                </a:solidFill>
              </a:rPr>
              <a:t>both deploys</a:t>
            </a:r>
          </a:p>
        </p:txBody>
      </p:sp>
      <p:sp>
        <p:nvSpPr>
          <p:cNvPr id="27" name="Rectangle 26"/>
          <p:cNvSpPr/>
          <p:nvPr/>
        </p:nvSpPr>
        <p:spPr>
          <a:xfrm>
            <a:off x="5852160" y="1234440"/>
            <a:ext cx="3108960" cy="4343400"/>
          </a:xfrm>
          <a:prstGeom prst="rect">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28" name="TextBox 27"/>
          <p:cNvSpPr txBox="1"/>
          <p:nvPr/>
        </p:nvSpPr>
        <p:spPr>
          <a:xfrm>
            <a:off x="5852160" y="1298448"/>
            <a:ext cx="3108960" cy="274320"/>
          </a:xfrm>
          <a:prstGeom prst="rect">
            <a:avLst/>
          </a:prstGeom>
          <a:noFill/>
        </p:spPr>
        <p:txBody>
          <a:bodyPr wrap="square" anchor="t" lIns="27432" rIns="27432" tIns="18288" bIns="18288">
            <a:spAutoFit/>
          </a:bodyPr>
          <a:lstStyle/>
          <a:p>
            <a:pPr algn="ctr"/>
            <a:r>
              <a:rPr sz="1400" b="1" i="0">
                <a:solidFill>
                  <a:srgbClr val="1F497D"/>
                </a:solidFill>
              </a:rPr>
              <a:t>CLOUD HOST — rigel.cs.byu.edu</a:t>
            </a:r>
          </a:p>
        </p:txBody>
      </p:sp>
      <p:sp>
        <p:nvSpPr>
          <p:cNvPr id="29" name="TextBox 28"/>
          <p:cNvSpPr txBox="1"/>
          <p:nvPr/>
        </p:nvSpPr>
        <p:spPr>
          <a:xfrm>
            <a:off x="5852160" y="1591056"/>
            <a:ext cx="3108960" cy="274320"/>
          </a:xfrm>
          <a:prstGeom prst="rect">
            <a:avLst/>
          </a:prstGeom>
          <a:noFill/>
        </p:spPr>
        <p:txBody>
          <a:bodyPr wrap="square" anchor="t" lIns="27432" rIns="27432" tIns="18288" bIns="18288">
            <a:spAutoFit/>
          </a:bodyPr>
          <a:lstStyle/>
          <a:p>
            <a:pPr algn="ctr"/>
            <a:r>
              <a:rPr sz="1200" b="0" i="0">
                <a:solidFill>
                  <a:srgbClr val="1F497D"/>
                </a:solidFill>
              </a:rPr>
              <a:t>Coolify: pulls code, builds, runs containers</a:t>
            </a:r>
          </a:p>
        </p:txBody>
      </p:sp>
      <p:sp>
        <p:nvSpPr>
          <p:cNvPr id="30" name="Rounded Rectangle 29"/>
          <p:cNvSpPr/>
          <p:nvPr/>
        </p:nvSpPr>
        <p:spPr>
          <a:xfrm>
            <a:off x="5989320" y="1920240"/>
            <a:ext cx="2834640" cy="987552"/>
          </a:xfrm>
          <a:prstGeom prst="roundRect">
            <a:avLst>
              <a:gd name="adj" fmla="val 7407"/>
            </a:avLst>
          </a:prstGeom>
          <a:solidFill>
            <a:srgbClr val="FFFFFF"/>
          </a:solidFill>
          <a:ln w="25400">
            <a:solidFill>
              <a:srgbClr val="E37B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31" name="TextBox 30"/>
          <p:cNvSpPr txBox="1"/>
          <p:nvPr/>
        </p:nvSpPr>
        <p:spPr>
          <a:xfrm>
            <a:off x="5989320" y="1947672"/>
            <a:ext cx="2834640" cy="256032"/>
          </a:xfrm>
          <a:prstGeom prst="rect">
            <a:avLst/>
          </a:prstGeom>
          <a:noFill/>
        </p:spPr>
        <p:txBody>
          <a:bodyPr wrap="square" anchor="t" lIns="27432" rIns="27432" tIns="18288" bIns="18288">
            <a:spAutoFit/>
          </a:bodyPr>
          <a:lstStyle/>
          <a:p>
            <a:pPr algn="ctr"/>
            <a:r>
              <a:rPr sz="1200" b="1" i="0">
                <a:solidFill>
                  <a:srgbClr val="E37B22"/>
                </a:solidFill>
              </a:rPr>
              <a:t>STAGING</a:t>
            </a:r>
          </a:p>
        </p:txBody>
      </p:sp>
      <p:sp>
        <p:nvSpPr>
          <p:cNvPr id="32" name="Rounded Rectangle 31"/>
          <p:cNvSpPr/>
          <p:nvPr/>
        </p:nvSpPr>
        <p:spPr>
          <a:xfrm>
            <a:off x="6080759" y="2221992"/>
            <a:ext cx="868680" cy="347472"/>
          </a:xfrm>
          <a:prstGeom prst="roundRect">
            <a:avLst>
              <a:gd name="adj" fmla="val 21052"/>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frontend</a:t>
            </a:r>
          </a:p>
        </p:txBody>
      </p:sp>
      <p:sp>
        <p:nvSpPr>
          <p:cNvPr id="33" name="Rounded Rectangle 32"/>
          <p:cNvSpPr/>
          <p:nvPr/>
        </p:nvSpPr>
        <p:spPr>
          <a:xfrm>
            <a:off x="6976872" y="2221992"/>
            <a:ext cx="868680" cy="347472"/>
          </a:xfrm>
          <a:prstGeom prst="roundRect">
            <a:avLst>
              <a:gd name="adj" fmla="val 21052"/>
            </a:avLst>
          </a:prstGeom>
          <a:solidFill>
            <a:srgbClr val="FFFFFF"/>
          </a:solidFill>
          <a:ln w="19050">
            <a:solidFill>
              <a:srgbClr val="E37B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E37B22"/>
                </a:solidFill>
              </a:rPr>
              <a:t>service</a:t>
            </a:r>
          </a:p>
        </p:txBody>
      </p:sp>
      <p:sp>
        <p:nvSpPr>
          <p:cNvPr id="34" name="Rounded Rectangle 33"/>
          <p:cNvSpPr/>
          <p:nvPr/>
        </p:nvSpPr>
        <p:spPr>
          <a:xfrm>
            <a:off x="7872983" y="2221992"/>
            <a:ext cx="868680" cy="347472"/>
          </a:xfrm>
          <a:prstGeom prst="roundRect">
            <a:avLst>
              <a:gd name="adj" fmla="val 21052"/>
            </a:avLst>
          </a:prstGeom>
          <a:solidFill>
            <a:srgbClr val="FFFFFF"/>
          </a:solidFill>
          <a:ln w="19050">
            <a:solidFill>
              <a:srgbClr val="E37B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E37B22"/>
                </a:solidFill>
              </a:rPr>
              <a:t>backend</a:t>
            </a:r>
          </a:p>
        </p:txBody>
      </p:sp>
      <p:sp>
        <p:nvSpPr>
          <p:cNvPr id="35" name="TextBox 34"/>
          <p:cNvSpPr txBox="1"/>
          <p:nvPr/>
        </p:nvSpPr>
        <p:spPr>
          <a:xfrm>
            <a:off x="5989320" y="2596896"/>
            <a:ext cx="2834640" cy="274320"/>
          </a:xfrm>
          <a:prstGeom prst="rect">
            <a:avLst/>
          </a:prstGeom>
          <a:noFill/>
        </p:spPr>
        <p:txBody>
          <a:bodyPr wrap="square" anchor="t" lIns="27432" rIns="27432" tIns="18288" bIns="18288">
            <a:spAutoFit/>
          </a:bodyPr>
          <a:lstStyle/>
          <a:p>
            <a:pPr algn="ctr"/>
            <a:r>
              <a:rPr sz="1100" b="0" i="1">
                <a:solidFill>
                  <a:srgbClr val="404040"/>
                </a:solidFill>
              </a:rPr>
              <a:t>own database volume · never shared</a:t>
            </a:r>
          </a:p>
        </p:txBody>
      </p:sp>
      <p:sp>
        <p:nvSpPr>
          <p:cNvPr id="36" name="Rounded Rectangle 35"/>
          <p:cNvSpPr/>
          <p:nvPr/>
        </p:nvSpPr>
        <p:spPr>
          <a:xfrm>
            <a:off x="5989320" y="3017520"/>
            <a:ext cx="2834640" cy="987552"/>
          </a:xfrm>
          <a:prstGeom prst="roundRect">
            <a:avLst>
              <a:gd name="adj" fmla="val 7407"/>
            </a:avLst>
          </a:prstGeom>
          <a:solidFill>
            <a:srgbClr val="FFFFFF"/>
          </a:solidFill>
          <a:ln w="2540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37" name="TextBox 36"/>
          <p:cNvSpPr txBox="1"/>
          <p:nvPr/>
        </p:nvSpPr>
        <p:spPr>
          <a:xfrm>
            <a:off x="5989320" y="3044951"/>
            <a:ext cx="2834640" cy="256032"/>
          </a:xfrm>
          <a:prstGeom prst="rect">
            <a:avLst/>
          </a:prstGeom>
          <a:noFill/>
        </p:spPr>
        <p:txBody>
          <a:bodyPr wrap="square" anchor="t" lIns="27432" rIns="27432" tIns="18288" bIns="18288">
            <a:spAutoFit/>
          </a:bodyPr>
          <a:lstStyle/>
          <a:p>
            <a:pPr algn="ctr"/>
            <a:r>
              <a:rPr sz="1200" b="1" i="0">
                <a:solidFill>
                  <a:srgbClr val="769A3A"/>
                </a:solidFill>
              </a:rPr>
              <a:t>PRODUCTION</a:t>
            </a:r>
          </a:p>
        </p:txBody>
      </p:sp>
      <p:sp>
        <p:nvSpPr>
          <p:cNvPr id="38" name="Rounded Rectangle 37"/>
          <p:cNvSpPr/>
          <p:nvPr/>
        </p:nvSpPr>
        <p:spPr>
          <a:xfrm>
            <a:off x="6080759" y="3319272"/>
            <a:ext cx="868680" cy="347472"/>
          </a:xfrm>
          <a:prstGeom prst="roundRect">
            <a:avLst>
              <a:gd name="adj" fmla="val 21052"/>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frontend</a:t>
            </a:r>
          </a:p>
        </p:txBody>
      </p:sp>
      <p:sp>
        <p:nvSpPr>
          <p:cNvPr id="39" name="Rounded Rectangle 38"/>
          <p:cNvSpPr/>
          <p:nvPr/>
        </p:nvSpPr>
        <p:spPr>
          <a:xfrm>
            <a:off x="6976872" y="3319272"/>
            <a:ext cx="868680" cy="347472"/>
          </a:xfrm>
          <a:prstGeom prst="roundRect">
            <a:avLst>
              <a:gd name="adj" fmla="val 21052"/>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769A3A"/>
                </a:solidFill>
              </a:rPr>
              <a:t>service</a:t>
            </a:r>
          </a:p>
        </p:txBody>
      </p:sp>
      <p:sp>
        <p:nvSpPr>
          <p:cNvPr id="40" name="Rounded Rectangle 39"/>
          <p:cNvSpPr/>
          <p:nvPr/>
        </p:nvSpPr>
        <p:spPr>
          <a:xfrm>
            <a:off x="7872983" y="3319272"/>
            <a:ext cx="868680" cy="347472"/>
          </a:xfrm>
          <a:prstGeom prst="roundRect">
            <a:avLst>
              <a:gd name="adj" fmla="val 21052"/>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769A3A"/>
                </a:solidFill>
              </a:rPr>
              <a:t>backend</a:t>
            </a:r>
          </a:p>
        </p:txBody>
      </p:sp>
      <p:sp>
        <p:nvSpPr>
          <p:cNvPr id="41" name="TextBox 40"/>
          <p:cNvSpPr txBox="1"/>
          <p:nvPr/>
        </p:nvSpPr>
        <p:spPr>
          <a:xfrm>
            <a:off x="5989320" y="3694176"/>
            <a:ext cx="2834640" cy="274320"/>
          </a:xfrm>
          <a:prstGeom prst="rect">
            <a:avLst/>
          </a:prstGeom>
          <a:noFill/>
        </p:spPr>
        <p:txBody>
          <a:bodyPr wrap="square" anchor="t" lIns="27432" rIns="27432" tIns="18288" bIns="18288">
            <a:spAutoFit/>
          </a:bodyPr>
          <a:lstStyle/>
          <a:p>
            <a:pPr algn="ctr"/>
            <a:r>
              <a:rPr sz="1100" b="0" i="1">
                <a:solidFill>
                  <a:srgbClr val="404040"/>
                </a:solidFill>
              </a:rPr>
              <a:t>own database volume · never shared</a:t>
            </a:r>
          </a:p>
        </p:txBody>
      </p:sp>
      <p:sp>
        <p:nvSpPr>
          <p:cNvPr id="42" name="TextBox 41"/>
          <p:cNvSpPr txBox="1"/>
          <p:nvPr/>
        </p:nvSpPr>
        <p:spPr>
          <a:xfrm>
            <a:off x="5989320" y="4041648"/>
            <a:ext cx="2834640" cy="274320"/>
          </a:xfrm>
          <a:prstGeom prst="rect">
            <a:avLst/>
          </a:prstGeom>
          <a:noFill/>
        </p:spPr>
        <p:txBody>
          <a:bodyPr wrap="square" anchor="t" lIns="27432" rIns="27432" tIns="18288" bIns="18288">
            <a:spAutoFit/>
          </a:bodyPr>
          <a:lstStyle/>
          <a:p>
            <a:pPr algn="ctr"/>
            <a:r>
              <a:rPr sz="1100" b="0" i="0">
                <a:solidFill>
                  <a:srgbClr val="404040"/>
                </a:solidFill>
              </a:rPr>
              <a:t>solid = public   ·   outline = internal only</a:t>
            </a:r>
          </a:p>
        </p:txBody>
      </p:sp>
      <p:sp>
        <p:nvSpPr>
          <p:cNvPr id="43" name="Rounded Rectangle 42"/>
          <p:cNvSpPr/>
          <p:nvPr/>
        </p:nvSpPr>
        <p:spPr>
          <a:xfrm>
            <a:off x="5989320" y="4370832"/>
            <a:ext cx="2834640" cy="411480"/>
          </a:xfrm>
          <a:prstGeom prst="roundRect">
            <a:avLst>
              <a:gd name="adj" fmla="val 17777"/>
            </a:avLst>
          </a:prstGeom>
          <a:solidFill>
            <a:srgbClr val="3186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Traefik — routes by hostname</a:t>
            </a:r>
          </a:p>
        </p:txBody>
      </p:sp>
      <p:sp>
        <p:nvSpPr>
          <p:cNvPr id="44" name="TextBox 43"/>
          <p:cNvSpPr txBox="1"/>
          <p:nvPr/>
        </p:nvSpPr>
        <p:spPr>
          <a:xfrm>
            <a:off x="5852160" y="4828032"/>
            <a:ext cx="3108960" cy="685800"/>
          </a:xfrm>
          <a:prstGeom prst="rect">
            <a:avLst/>
          </a:prstGeom>
          <a:noFill/>
        </p:spPr>
        <p:txBody>
          <a:bodyPr wrap="square" anchor="t" lIns="27432" rIns="27432" tIns="18288" bIns="18288">
            <a:spAutoFit/>
          </a:bodyPr>
          <a:lstStyle/>
          <a:p>
            <a:pPr algn="ctr"/>
            <a:r>
              <a:rPr sz="1200" b="0" i="0">
                <a:solidFill>
                  <a:srgbClr val="1F497D"/>
                </a:solidFill>
              </a:rPr>
              <a:t>&lt;repo&gt;-staging.ml-capstone.cs.byu.edu</a:t>
            </a:r>
          </a:p>
          <a:p>
            <a:pPr algn="ctr"/>
            <a:r>
              <a:rPr sz="1200" b="0" i="0">
                <a:solidFill>
                  <a:srgbClr val="1F497D"/>
                </a:solidFill>
              </a:rPr>
              <a:t>&lt;repo&gt;.ml-capstone.cs.byu.edu</a:t>
            </a:r>
          </a:p>
        </p:txBody>
      </p:sp>
      <p:sp>
        <p:nvSpPr>
          <p:cNvPr id="45" name="Up Arrow 44"/>
          <p:cNvSpPr/>
          <p:nvPr/>
        </p:nvSpPr>
        <p:spPr>
          <a:xfrm>
            <a:off x="7251192" y="5605272"/>
            <a:ext cx="310896" cy="347472"/>
          </a:xfrm>
          <a:prstGeom prst="up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492240" y="5961888"/>
            <a:ext cx="1828800" cy="411480"/>
          </a:xfrm>
          <a:prstGeom prst="roundRect">
            <a:avLst>
              <a:gd name="adj" fmla="val 17777"/>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1">
                <a:solidFill>
                  <a:srgbClr val="FFFFFF"/>
                </a:solidFill>
              </a:rPr>
              <a:t>USERS</a:t>
            </a:r>
          </a:p>
        </p:txBody>
      </p:sp>
      <p:sp>
        <p:nvSpPr>
          <p:cNvPr id="47" name="TextBox 46"/>
          <p:cNvSpPr txBox="1"/>
          <p:nvPr/>
        </p:nvSpPr>
        <p:spPr>
          <a:xfrm>
            <a:off x="3931920" y="5989320"/>
            <a:ext cx="2514600" cy="365760"/>
          </a:xfrm>
          <a:prstGeom prst="rect">
            <a:avLst/>
          </a:prstGeom>
          <a:noFill/>
        </p:spPr>
        <p:txBody>
          <a:bodyPr wrap="square" anchor="t" lIns="27432" rIns="27432" tIns="18288" bIns="18288">
            <a:spAutoFit/>
          </a:bodyPr>
          <a:lstStyle/>
          <a:p>
            <a:pPr algn="r"/>
            <a:r>
              <a:rPr sz="1200" b="0" i="1">
                <a:solidFill>
                  <a:srgbClr val="1F497D"/>
                </a:solidFill>
              </a:rPr>
              <a:t>a browser on the CS VPN</a:t>
            </a:r>
          </a:p>
        </p:txBody>
      </p:sp>
      <p:sp>
        <p:nvSpPr>
          <p:cNvPr id="48" name="Right Arrow 47"/>
          <p:cNvSpPr/>
          <p:nvPr/>
        </p:nvSpPr>
        <p:spPr>
          <a:xfrm>
            <a:off x="3227832" y="2212848"/>
            <a:ext cx="402336" cy="329184"/>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3108960" y="1682496"/>
            <a:ext cx="640080" cy="4572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4F81BD"/>
                </a:solidFill>
              </a:rPr>
              <a:t>git</a:t>
            </a:r>
          </a:p>
          <a:p>
            <a:pPr algn="ctr"/>
            <a:r>
              <a:rPr sz="1200" b="1">
                <a:solidFill>
                  <a:srgbClr val="4F81BD"/>
                </a:solidFill>
              </a:rPr>
              <a:t>push</a:t>
            </a:r>
          </a:p>
        </p:txBody>
      </p:sp>
      <p:sp>
        <p:nvSpPr>
          <p:cNvPr id="50" name="Right Arrow 49"/>
          <p:cNvSpPr/>
          <p:nvPr/>
        </p:nvSpPr>
        <p:spPr>
          <a:xfrm>
            <a:off x="5468112" y="2212848"/>
            <a:ext cx="365760" cy="329184"/>
          </a:xfrm>
          <a:prstGeom prst="rightArrow">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285232" y="1682496"/>
            <a:ext cx="731520" cy="4572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C0504D"/>
                </a:solidFill>
              </a:rPr>
              <a:t>deploy</a:t>
            </a:r>
          </a:p>
          <a:p>
            <a:pPr algn="ctr"/>
            <a:r>
              <a:rPr sz="1100" b="1">
                <a:solidFill>
                  <a:srgbClr val="C0504D"/>
                </a:solidFill>
              </a:rPr>
              <a:t>webhook</a:t>
            </a:r>
          </a:p>
        </p:txBody>
      </p:sp>
      <p:sp>
        <p:nvSpPr>
          <p:cNvPr id="52" name="TextBox 51"/>
          <p:cNvSpPr txBox="1"/>
          <p:nvPr/>
        </p:nvSpPr>
        <p:spPr>
          <a:xfrm>
            <a:off x="182880" y="4846320"/>
            <a:ext cx="5577840" cy="548640"/>
          </a:xfrm>
          <a:prstGeom prst="rect">
            <a:avLst/>
          </a:prstGeom>
          <a:noFill/>
        </p:spPr>
        <p:txBody>
          <a:bodyPr wrap="square" anchor="t" lIns="27432" rIns="27432" tIns="18288" bIns="18288">
            <a:spAutoFit/>
          </a:bodyPr>
          <a:lstStyle/>
          <a:p>
            <a:pPr algn="l"/>
            <a:r>
              <a:rPr sz="1500" b="1" i="0">
                <a:solidFill>
                  <a:srgbClr val="1F497D"/>
                </a:solidFill>
              </a:rPr>
              <a:t>Same three services — one container each — started by</a:t>
            </a:r>
          </a:p>
          <a:p>
            <a:pPr algn="l"/>
            <a:r>
              <a:rPr sz="1500" b="1" i="0">
                <a:solidFill>
                  <a:srgbClr val="1F497D"/>
                </a:solidFill>
              </a:rPr>
              <a:t>one compose file, in all three places.</a:t>
            </a:r>
          </a:p>
        </p:txBody>
      </p:sp>
      <p:sp>
        <p:nvSpPr>
          <p:cNvPr id="53" name="TextBox 52"/>
          <p:cNvSpPr txBox="1"/>
          <p:nvPr/>
        </p:nvSpPr>
        <p:spPr>
          <a:xfrm>
            <a:off x="182880" y="5468112"/>
            <a:ext cx="5486400" cy="640080"/>
          </a:xfrm>
          <a:prstGeom prst="rect">
            <a:avLst/>
          </a:prstGeom>
          <a:noFill/>
        </p:spPr>
        <p:txBody>
          <a:bodyPr wrap="square" anchor="t" lIns="27432" rIns="27432" tIns="18288" bIns="18288">
            <a:spAutoFit/>
          </a:bodyPr>
          <a:lstStyle/>
          <a:p>
            <a:pPr algn="l"/>
            <a:r>
              <a:rPr sz="1300" b="0" i="1">
                <a:solidFill>
                  <a:srgbClr val="1F497D"/>
                </a:solidFill>
              </a:rPr>
              <a:t>Only the frontend has a hostname. The other services are</a:t>
            </a:r>
          </a:p>
          <a:p>
            <a:pPr algn="l"/>
            <a:r>
              <a:rPr sz="1300" b="0" i="1">
                <a:solidFill>
                  <a:srgbClr val="1F497D"/>
                </a:solidFill>
              </a:rPr>
              <a:t>reachable over the Compose network — never from outside.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Laptop and GitHub</a:t>
            </a:r>
          </a:p>
        </p:txBody>
      </p:sp>
      <p:sp>
        <p:nvSpPr>
          <p:cNvPr id="3" name="Content Placeholder 2"/>
          <p:cNvSpPr>
            <a:spLocks noGrp="1"/>
          </p:cNvSpPr>
          <p:nvPr>
            <p:ph idx="1"/>
          </p:nvPr>
        </p:nvSpPr>
        <p:spPr>
          <a:xfrm>
            <a:off x="548640" y="1280160"/>
            <a:ext cx="8046720" cy="4846320"/>
          </a:xfrm>
        </p:spPr>
        <p:txBody>
          <a:bodyPr wrap="square"/>
          <a:lstStyle/>
          <a:p>
            <a:pPr>
              <a:spcBef>
                <a:spcPts val="1000"/>
              </a:spcBef>
            </a:pPr>
            <a:r>
              <a:rPr sz="2200"/>
              <a:t>Your laptop runs the same compose file production runs</a:t>
            </a:r>
          </a:p>
          <a:p>
            <a:pPr lvl="1">
              <a:spcBef>
                <a:spcPts val="200"/>
              </a:spcBef>
            </a:pPr>
            <a:r>
              <a:rPr sz="1800">
                <a:solidFill>
                  <a:srgbClr val="404040"/>
                </a:solidFill>
              </a:rPr>
              <a:t>feedback in seconds, not a deploy cycle — if it fails here, it fails there</a:t>
            </a:r>
          </a:p>
          <a:p>
            <a:pPr>
              <a:spcBef>
                <a:spcPts val="1000"/>
              </a:spcBef>
            </a:pPr>
            <a:r>
              <a:rPr sz="2200"/>
              <a:t>GitHub holds the code and the history of every change</a:t>
            </a:r>
          </a:p>
          <a:p>
            <a:pPr>
              <a:spcBef>
                <a:spcPts val="1000"/>
              </a:spcBef>
            </a:pPr>
            <a:r>
              <a:rPr sz="2200"/>
              <a:t>Two branches, two meanings:</a:t>
            </a:r>
          </a:p>
          <a:p>
            <a:pPr lvl="1">
              <a:spcBef>
                <a:spcPts val="200"/>
              </a:spcBef>
            </a:pPr>
            <a:r>
              <a:rPr sz="1800">
                <a:solidFill>
                  <a:srgbClr val="404040"/>
                </a:solidFill>
              </a:rPr>
              <a:t>staging — what you are trying</a:t>
            </a:r>
          </a:p>
          <a:p>
            <a:pPr lvl="1">
              <a:spcBef>
                <a:spcPts val="200"/>
              </a:spcBef>
            </a:pPr>
            <a:r>
              <a:rPr sz="1800">
                <a:solidFill>
                  <a:srgbClr val="404040"/>
                </a:solidFill>
              </a:rPr>
              <a:t>main — what users get</a:t>
            </a:r>
          </a:p>
          <a:p>
            <a:pPr>
              <a:spcBef>
                <a:spcPts val="1000"/>
              </a:spcBef>
            </a:pPr>
            <a:r>
              <a:rPr sz="2200"/>
              <a:t>GitHub Actions runs your tests on every push — and is the only thing that deploys</a:t>
            </a:r>
          </a:p>
        </p:txBody>
      </p:sp>
      <p:sp>
        <p:nvSpPr>
          <p:cNvPr id="4" name="TextBox 3"/>
          <p:cNvSpPr txBox="1"/>
          <p:nvPr/>
        </p:nvSpPr>
        <p:spPr>
          <a:xfrm>
            <a:off x="8138160" y="6473952"/>
            <a:ext cx="822960" cy="274320"/>
          </a:xfrm>
          <a:prstGeom prst="rect">
            <a:avLst/>
          </a:prstGeom>
          <a:noFill/>
        </p:spPr>
        <p:txBody>
          <a:bodyPr wrap="none">
            <a:spAutoFit/>
          </a:bodyPr>
          <a:lstStyle/>
          <a:p>
            <a:pPr algn="r"/>
            <a:r>
              <a:rPr sz="1100">
                <a:solidFill>
                  <a:srgbClr val="7F7F7F"/>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The Cloud Host and Users</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200"/>
              <a:t>Coolify is a PaaS — Platform as a Service</a:t>
            </a:r>
          </a:p>
          <a:p>
            <a:pPr lvl="1">
              <a:spcBef>
                <a:spcPts val="200"/>
              </a:spcBef>
            </a:pPr>
            <a:r>
              <a:rPr sz="1800">
                <a:solidFill>
                  <a:srgbClr val="404040"/>
                </a:solidFill>
              </a:rPr>
              <a:t>you hand it code; it builds, runs, networks and restarts it</a:t>
            </a:r>
          </a:p>
          <a:p>
            <a:pPr>
              <a:spcBef>
                <a:spcPts val="1000"/>
              </a:spcBef>
            </a:pPr>
            <a:r>
              <a:rPr sz="2200"/>
              <a:t>Traefik (say “traffic”) is a reverse proxy — the front door</a:t>
            </a:r>
          </a:p>
          <a:p>
            <a:pPr lvl="1">
              <a:spcBef>
                <a:spcPts val="200"/>
              </a:spcBef>
            </a:pPr>
            <a:r>
              <a:rPr sz="1800">
                <a:solidFill>
                  <a:srgbClr val="404040"/>
                </a:solidFill>
              </a:rPr>
              <a:t>reads the hostname on each request, forwards to the right container</a:t>
            </a:r>
          </a:p>
          <a:p>
            <a:pPr>
              <a:spcBef>
                <a:spcPts val="1000"/>
              </a:spcBef>
            </a:pPr>
            <a:r>
              <a:rPr sz="2200"/>
              <a:t>Wildcard DNS: *.ml-capstone.cs.byu.edu → one machine</a:t>
            </a:r>
          </a:p>
          <a:p>
            <a:pPr lvl="1">
              <a:spcBef>
                <a:spcPts val="200"/>
              </a:spcBef>
            </a:pPr>
            <a:r>
              <a:rPr sz="1800">
                <a:solidFill>
                  <a:srgbClr val="404040"/>
                </a:solidFill>
              </a:rPr>
              <a:t>your repo name becomes your URL · CS VPN only</a:t>
            </a:r>
          </a:p>
          <a:p>
            <a:pPr>
              <a:spcBef>
                <a:spcPts val="1000"/>
              </a:spcBef>
            </a:pPr>
            <a:r>
              <a:rPr sz="2200"/>
              <a:t>Staging and production: same code, separate data, separate URLs</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Production should be boring.</a:t>
            </a:r>
          </a:p>
          <a:p>
            <a:pPr algn="l"/>
            <a:r>
              <a:rPr sz="2100" b="1" i="0">
                <a:solidFill>
                  <a:srgbClr val="1F497D"/>
                </a:solidFill>
              </a:rPr>
              <a:t>Staging is where you find out you were wrong.</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1097280" cy="73152"/>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03120"/>
            <a:ext cx="7680960" cy="1097280"/>
          </a:xfrm>
          <a:prstGeom prst="rect">
            <a:avLst/>
          </a:prstGeom>
          <a:noFill/>
        </p:spPr>
        <p:txBody>
          <a:bodyPr wrap="square" anchor="b" lIns="27432" rIns="27432" tIns="18288" bIns="18288">
            <a:spAutoFit/>
          </a:bodyPr>
          <a:lstStyle/>
          <a:p>
            <a:pPr algn="l"/>
            <a:r>
              <a:rPr sz="4000" b="1" i="0">
                <a:solidFill>
                  <a:srgbClr val="FFFFFF"/>
                </a:solidFill>
              </a:rPr>
              <a:t>CI/CD</a:t>
            </a:r>
          </a:p>
        </p:txBody>
      </p:sp>
      <p:sp>
        <p:nvSpPr>
          <p:cNvPr id="5" name="TextBox 4"/>
          <p:cNvSpPr txBox="1"/>
          <p:nvPr/>
        </p:nvSpPr>
        <p:spPr>
          <a:xfrm>
            <a:off x="731520" y="3474720"/>
            <a:ext cx="7680960" cy="731520"/>
          </a:xfrm>
          <a:prstGeom prst="rect">
            <a:avLst/>
          </a:prstGeom>
          <a:noFill/>
        </p:spPr>
        <p:txBody>
          <a:bodyPr wrap="square" anchor="t" lIns="27432" rIns="27432" tIns="18288" bIns="18288">
            <a:spAutoFit/>
          </a:bodyPr>
          <a:lstStyle/>
          <a:p>
            <a:pPr algn="l"/>
            <a:r>
              <a:rPr sz="2200" b="0" i="0">
                <a:solidFill>
                  <a:srgbClr val="D6E3F2"/>
                </a:solidFill>
              </a:rPr>
              <a:t>What happens between git push and a user seeing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CI and CD</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Continuous Integration — every change is built and tested, automatically</a:t>
            </a:r>
          </a:p>
          <a:p>
            <a:pPr lvl="1">
              <a:spcBef>
                <a:spcPts val="200"/>
              </a:spcBef>
            </a:pPr>
            <a:r>
              <a:rPr sz="2000">
                <a:solidFill>
                  <a:srgbClr val="404040"/>
                </a:solidFill>
              </a:rPr>
              <a:t>catches the break in minutes, not next Tuesday</a:t>
            </a:r>
          </a:p>
          <a:p>
            <a:pPr>
              <a:spcBef>
                <a:spcPts val="1000"/>
              </a:spcBef>
            </a:pPr>
            <a:r>
              <a:rPr sz="2400"/>
              <a:t>Continuous Delivery — every passing change is ready to ship; a human presses go</a:t>
            </a:r>
          </a:p>
          <a:p>
            <a:pPr lvl="1">
              <a:spcBef>
                <a:spcPts val="200"/>
              </a:spcBef>
            </a:pPr>
            <a:r>
              <a:rPr sz="2000">
                <a:solidFill>
                  <a:srgbClr val="404040"/>
                </a:solidFill>
              </a:rPr>
              <a:t>your staging → main PR merge is that button</a:t>
            </a:r>
          </a:p>
          <a:p>
            <a:pPr>
              <a:spcBef>
                <a:spcPts val="1000"/>
              </a:spcBef>
            </a:pPr>
            <a:r>
              <a:rPr sz="2400"/>
              <a:t>Continuous Deployment — no button; passing changes go straight live</a:t>
            </a:r>
          </a:p>
          <a:p>
            <a:pPr lvl="1">
              <a:spcBef>
                <a:spcPts val="200"/>
              </a:spcBef>
            </a:pPr>
            <a:r>
              <a:rPr sz="2000">
                <a:solidFill>
                  <a:srgbClr val="404040"/>
                </a:solidFill>
              </a:rPr>
              <a:t>your staging branch works this way</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The point is not speed. The point is that it is the same every time.</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One Push, Step by Step</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15</a:t>
            </a:r>
          </a:p>
        </p:txBody>
      </p:sp>
      <p:sp>
        <p:nvSpPr>
          <p:cNvPr id="4" name="Rounded Rectangle 3"/>
          <p:cNvSpPr/>
          <p:nvPr/>
        </p:nvSpPr>
        <p:spPr>
          <a:xfrm>
            <a:off x="274320" y="1325880"/>
            <a:ext cx="1645920" cy="960120"/>
          </a:xfrm>
          <a:prstGeom prst="roundRect">
            <a:avLst>
              <a:gd name="adj" fmla="val 7619"/>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1</a:t>
            </a:r>
          </a:p>
          <a:p>
            <a:pPr algn="ctr"/>
            <a:r>
              <a:rPr sz="1400" b="0">
                <a:solidFill>
                  <a:srgbClr val="FFFFFF"/>
                </a:solidFill>
              </a:rPr>
              <a:t>push to</a:t>
            </a:r>
          </a:p>
          <a:p>
            <a:pPr algn="ctr"/>
            <a:r>
              <a:rPr sz="1400" b="0">
                <a:solidFill>
                  <a:srgbClr val="FFFFFF"/>
                </a:solidFill>
              </a:rPr>
              <a:t>staging</a:t>
            </a:r>
          </a:p>
        </p:txBody>
      </p:sp>
      <p:sp>
        <p:nvSpPr>
          <p:cNvPr id="5" name="Rounded Rectangle 4"/>
          <p:cNvSpPr/>
          <p:nvPr/>
        </p:nvSpPr>
        <p:spPr>
          <a:xfrm>
            <a:off x="2011680" y="1325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2</a:t>
            </a:r>
          </a:p>
          <a:p>
            <a:pPr algn="ctr"/>
            <a:r>
              <a:rPr sz="1400" b="0">
                <a:solidFill>
                  <a:srgbClr val="FFFFFF"/>
                </a:solidFill>
              </a:rPr>
              <a:t>Actions</a:t>
            </a:r>
          </a:p>
          <a:p>
            <a:pPr algn="ctr"/>
            <a:r>
              <a:rPr sz="1400" b="0">
                <a:solidFill>
                  <a:srgbClr val="FFFFFF"/>
                </a:solidFill>
              </a:rPr>
              <a:t>runs tests</a:t>
            </a:r>
          </a:p>
        </p:txBody>
      </p:sp>
      <p:sp>
        <p:nvSpPr>
          <p:cNvPr id="6" name="Rounded Rectangle 5"/>
          <p:cNvSpPr/>
          <p:nvPr/>
        </p:nvSpPr>
        <p:spPr>
          <a:xfrm>
            <a:off x="3749039" y="1325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3</a:t>
            </a:r>
          </a:p>
          <a:p>
            <a:pPr algn="ctr"/>
            <a:r>
              <a:rPr sz="1400" b="0">
                <a:solidFill>
                  <a:srgbClr val="FFFFFF"/>
                </a:solidFill>
              </a:rPr>
              <a:t>CI calls the</a:t>
            </a:r>
          </a:p>
          <a:p>
            <a:pPr algn="ctr"/>
            <a:r>
              <a:rPr sz="1400" b="0">
                <a:solidFill>
                  <a:srgbClr val="FFFFFF"/>
                </a:solidFill>
              </a:rPr>
              <a:t>webhook</a:t>
            </a:r>
          </a:p>
        </p:txBody>
      </p:sp>
      <p:sp>
        <p:nvSpPr>
          <p:cNvPr id="7" name="Rounded Rectangle 6"/>
          <p:cNvSpPr/>
          <p:nvPr/>
        </p:nvSpPr>
        <p:spPr>
          <a:xfrm>
            <a:off x="5486400" y="1325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4</a:t>
            </a:r>
          </a:p>
          <a:p>
            <a:pPr algn="ctr"/>
            <a:r>
              <a:rPr sz="1400" b="0">
                <a:solidFill>
                  <a:srgbClr val="FFFFFF"/>
                </a:solidFill>
              </a:rPr>
              <a:t>Coolify builds,</a:t>
            </a:r>
          </a:p>
          <a:p>
            <a:pPr algn="ctr"/>
            <a:r>
              <a:rPr sz="1400" b="0">
                <a:solidFill>
                  <a:srgbClr val="FFFFFF"/>
                </a:solidFill>
              </a:rPr>
              <a:t>compose up</a:t>
            </a:r>
          </a:p>
        </p:txBody>
      </p:sp>
      <p:sp>
        <p:nvSpPr>
          <p:cNvPr id="8" name="Rounded Rectangle 7"/>
          <p:cNvSpPr/>
          <p:nvPr/>
        </p:nvSpPr>
        <p:spPr>
          <a:xfrm>
            <a:off x="7223760" y="1325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5</a:t>
            </a:r>
          </a:p>
          <a:p>
            <a:pPr algn="ctr"/>
            <a:r>
              <a:rPr sz="1400" b="0">
                <a:solidFill>
                  <a:srgbClr val="FFFFFF"/>
                </a:solidFill>
              </a:rPr>
              <a:t>Traefik routes</a:t>
            </a:r>
          </a:p>
          <a:p>
            <a:pPr algn="ctr"/>
            <a:r>
              <a:rPr sz="1400" b="0">
                <a:solidFill>
                  <a:srgbClr val="FFFFFF"/>
                </a:solidFill>
              </a:rPr>
              <a:t>when healthy</a:t>
            </a:r>
          </a:p>
        </p:txBody>
      </p:sp>
      <p:sp>
        <p:nvSpPr>
          <p:cNvPr id="9" name="Right Arrow 8"/>
          <p:cNvSpPr/>
          <p:nvPr/>
        </p:nvSpPr>
        <p:spPr>
          <a:xfrm>
            <a:off x="1933955" y="1673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3671316" y="1673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5408675" y="1673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7146036" y="1673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3611880"/>
            <a:ext cx="1645920" cy="960120"/>
          </a:xfrm>
          <a:prstGeom prst="roundRect">
            <a:avLst>
              <a:gd name="adj" fmla="val 7619"/>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6</a:t>
            </a:r>
          </a:p>
          <a:p>
            <a:pPr algn="ctr"/>
            <a:r>
              <a:rPr sz="1400" b="0">
                <a:solidFill>
                  <a:srgbClr val="FFFFFF"/>
                </a:solidFill>
              </a:rPr>
              <a:t>open a PR</a:t>
            </a:r>
          </a:p>
          <a:p>
            <a:pPr algn="ctr"/>
            <a:r>
              <a:rPr sz="1400" b="0">
                <a:solidFill>
                  <a:srgbClr val="FFFFFF"/>
                </a:solidFill>
              </a:rPr>
              <a:t>staging → main</a:t>
            </a:r>
          </a:p>
        </p:txBody>
      </p:sp>
      <p:sp>
        <p:nvSpPr>
          <p:cNvPr id="14" name="Rounded Rectangle 13"/>
          <p:cNvSpPr/>
          <p:nvPr/>
        </p:nvSpPr>
        <p:spPr>
          <a:xfrm>
            <a:off x="2011680" y="3611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7</a:t>
            </a:r>
          </a:p>
          <a:p>
            <a:pPr algn="ctr"/>
            <a:r>
              <a:rPr sz="1400" b="0">
                <a:solidFill>
                  <a:srgbClr val="FFFFFF"/>
                </a:solidFill>
              </a:rPr>
              <a:t>tests run</a:t>
            </a:r>
          </a:p>
          <a:p>
            <a:pPr algn="ctr"/>
            <a:r>
              <a:rPr sz="1400" b="0">
                <a:solidFill>
                  <a:srgbClr val="FFFFFF"/>
                </a:solidFill>
              </a:rPr>
              <a:t>on the PR</a:t>
            </a:r>
          </a:p>
        </p:txBody>
      </p:sp>
      <p:sp>
        <p:nvSpPr>
          <p:cNvPr id="15" name="Rounded Rectangle 14"/>
          <p:cNvSpPr/>
          <p:nvPr/>
        </p:nvSpPr>
        <p:spPr>
          <a:xfrm>
            <a:off x="3749039" y="3611880"/>
            <a:ext cx="1645920" cy="960120"/>
          </a:xfrm>
          <a:prstGeom prst="roundRect">
            <a:avLst>
              <a:gd name="adj" fmla="val 7619"/>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8</a:t>
            </a:r>
          </a:p>
          <a:p>
            <a:pPr algn="ctr"/>
            <a:r>
              <a:rPr sz="1400" b="0">
                <a:solidFill>
                  <a:srgbClr val="FFFFFF"/>
                </a:solidFill>
              </a:rPr>
              <a:t>review</a:t>
            </a:r>
          </a:p>
          <a:p>
            <a:pPr algn="ctr"/>
            <a:r>
              <a:rPr sz="1400" b="0">
                <a:solidFill>
                  <a:srgbClr val="FFFFFF"/>
                </a:solidFill>
              </a:rPr>
              <a:t>+ merge</a:t>
            </a:r>
          </a:p>
        </p:txBody>
      </p:sp>
      <p:sp>
        <p:nvSpPr>
          <p:cNvPr id="16" name="Rounded Rectangle 15"/>
          <p:cNvSpPr/>
          <p:nvPr/>
        </p:nvSpPr>
        <p:spPr>
          <a:xfrm>
            <a:off x="5486400" y="3611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9</a:t>
            </a:r>
          </a:p>
          <a:p>
            <a:pPr algn="ctr"/>
            <a:r>
              <a:rPr sz="1400" b="0">
                <a:solidFill>
                  <a:srgbClr val="FFFFFF"/>
                </a:solidFill>
              </a:rPr>
              <a:t>tests again,</a:t>
            </a:r>
          </a:p>
          <a:p>
            <a:pPr algn="ctr"/>
            <a:r>
              <a:rPr sz="1400" b="0">
                <a:solidFill>
                  <a:srgbClr val="FFFFFF"/>
                </a:solidFill>
              </a:rPr>
              <a:t>prod webhook</a:t>
            </a:r>
          </a:p>
        </p:txBody>
      </p:sp>
      <p:sp>
        <p:nvSpPr>
          <p:cNvPr id="17" name="Rounded Rectangle 16"/>
          <p:cNvSpPr/>
          <p:nvPr/>
        </p:nvSpPr>
        <p:spPr>
          <a:xfrm>
            <a:off x="7223760" y="3611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10</a:t>
            </a:r>
          </a:p>
          <a:p>
            <a:pPr algn="ctr"/>
            <a:r>
              <a:rPr sz="1400" b="0">
                <a:solidFill>
                  <a:srgbClr val="FFFFFF"/>
                </a:solidFill>
              </a:rPr>
              <a:t>production</a:t>
            </a:r>
          </a:p>
          <a:p>
            <a:pPr algn="ctr"/>
            <a:r>
              <a:rPr sz="1400" b="0">
                <a:solidFill>
                  <a:srgbClr val="FFFFFF"/>
                </a:solidFill>
              </a:rPr>
              <a:t>updated</a:t>
            </a:r>
          </a:p>
        </p:txBody>
      </p:sp>
      <p:sp>
        <p:nvSpPr>
          <p:cNvPr id="18" name="Right Arrow 17"/>
          <p:cNvSpPr/>
          <p:nvPr/>
        </p:nvSpPr>
        <p:spPr>
          <a:xfrm>
            <a:off x="1933955" y="3959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3671316" y="3959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5408675" y="3959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7146036" y="3959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2331720"/>
            <a:ext cx="8595360" cy="365760"/>
          </a:xfrm>
          <a:prstGeom prst="rect">
            <a:avLst/>
          </a:prstGeom>
          <a:noFill/>
        </p:spPr>
        <p:txBody>
          <a:bodyPr wrap="square" anchor="t" lIns="27432" rIns="27432" tIns="18288" bIns="18288">
            <a:spAutoFit/>
          </a:bodyPr>
          <a:lstStyle/>
          <a:p>
            <a:pPr algn="ctr"/>
            <a:r>
              <a:rPr sz="1500" b="1" i="0">
                <a:solidFill>
                  <a:srgbClr val="E37B22"/>
                </a:solidFill>
              </a:rPr>
              <a:t>→ live at  &lt;repo&gt;-staging.ml-capstone.cs.byu.edu</a:t>
            </a:r>
          </a:p>
        </p:txBody>
      </p:sp>
      <p:sp>
        <p:nvSpPr>
          <p:cNvPr id="23" name="Rounded Rectangle 22"/>
          <p:cNvSpPr/>
          <p:nvPr/>
        </p:nvSpPr>
        <p:spPr>
          <a:xfrm>
            <a:off x="274320" y="2788920"/>
            <a:ext cx="8595360" cy="640080"/>
          </a:xfrm>
          <a:prstGeom prst="roundRect">
            <a:avLst>
              <a:gd name="adj" fmla="val 11428"/>
            </a:avLst>
          </a:prstGeom>
          <a:solidFill>
            <a:srgbClr val="FBECEB"/>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C0504D"/>
                </a:solidFill>
              </a:rPr>
              <a:t>Tests fail at step 2 → steps 3–5 never run. Nothing deploys. What's live keeps serving.</a:t>
            </a:r>
          </a:p>
        </p:txBody>
      </p:sp>
      <p:sp>
        <p:nvSpPr>
          <p:cNvPr id="24" name="TextBox 23"/>
          <p:cNvSpPr txBox="1"/>
          <p:nvPr/>
        </p:nvSpPr>
        <p:spPr>
          <a:xfrm>
            <a:off x="274320" y="4617720"/>
            <a:ext cx="8595360" cy="365760"/>
          </a:xfrm>
          <a:prstGeom prst="rect">
            <a:avLst/>
          </a:prstGeom>
          <a:noFill/>
        </p:spPr>
        <p:txBody>
          <a:bodyPr wrap="square" anchor="t" lIns="27432" rIns="27432" tIns="18288" bIns="18288">
            <a:spAutoFit/>
          </a:bodyPr>
          <a:lstStyle/>
          <a:p>
            <a:pPr algn="ctr"/>
            <a:r>
              <a:rPr sz="1500" b="1" i="0">
                <a:solidFill>
                  <a:srgbClr val="769A3A"/>
                </a:solidFill>
              </a:rPr>
              <a:t>→ live at  &lt;repo&gt;.ml-capstone.cs.byu.edu</a:t>
            </a:r>
          </a:p>
        </p:txBody>
      </p:sp>
      <p:sp>
        <p:nvSpPr>
          <p:cNvPr id="25" name="Rectangle 24"/>
          <p:cNvSpPr/>
          <p:nvPr/>
        </p:nvSpPr>
        <p:spPr>
          <a:xfrm>
            <a:off x="2103120" y="5230368"/>
            <a:ext cx="292608" cy="292608"/>
          </a:xfrm>
          <a:prstGeom prst="rect">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26" name="TextBox 25"/>
          <p:cNvSpPr txBox="1"/>
          <p:nvPr/>
        </p:nvSpPr>
        <p:spPr>
          <a:xfrm>
            <a:off x="2450592" y="5193792"/>
            <a:ext cx="1463040" cy="365760"/>
          </a:xfrm>
          <a:prstGeom prst="rect">
            <a:avLst/>
          </a:prstGeom>
          <a:noFill/>
        </p:spPr>
        <p:txBody>
          <a:bodyPr wrap="square" anchor="t" lIns="27432" rIns="27432" tIns="18288" bIns="18288">
            <a:spAutoFit/>
          </a:bodyPr>
          <a:lstStyle/>
          <a:p>
            <a:pPr algn="l"/>
            <a:r>
              <a:rPr sz="1400" b="0" i="0">
                <a:solidFill>
                  <a:srgbClr val="262626"/>
                </a:solidFill>
              </a:rPr>
              <a:t>you do this</a:t>
            </a:r>
          </a:p>
        </p:txBody>
      </p:sp>
      <p:sp>
        <p:nvSpPr>
          <p:cNvPr id="27" name="Rectangle 26"/>
          <p:cNvSpPr/>
          <p:nvPr/>
        </p:nvSpPr>
        <p:spPr>
          <a:xfrm>
            <a:off x="4754880" y="5230368"/>
            <a:ext cx="292608" cy="2926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28" name="TextBox 27"/>
          <p:cNvSpPr txBox="1"/>
          <p:nvPr/>
        </p:nvSpPr>
        <p:spPr>
          <a:xfrm>
            <a:off x="5102352" y="5193792"/>
            <a:ext cx="3108960" cy="365760"/>
          </a:xfrm>
          <a:prstGeom prst="rect">
            <a:avLst/>
          </a:prstGeom>
          <a:noFill/>
        </p:spPr>
        <p:txBody>
          <a:bodyPr wrap="square" anchor="t" lIns="27432" rIns="27432" tIns="18288" bIns="18288">
            <a:spAutoFit/>
          </a:bodyPr>
          <a:lstStyle/>
          <a:p>
            <a:pPr algn="l"/>
            <a:r>
              <a:rPr sz="1400" b="0" i="0">
                <a:solidFill>
                  <a:srgbClr val="262626"/>
                </a:solidFill>
              </a:rPr>
              <a:t>automation you configured once</a:t>
            </a:r>
          </a:p>
        </p:txBody>
      </p:sp>
      <p:sp>
        <p:nvSpPr>
          <p:cNvPr id="29" name="TextBox 28"/>
          <p:cNvSpPr txBox="1"/>
          <p:nvPr/>
        </p:nvSpPr>
        <p:spPr>
          <a:xfrm>
            <a:off x="274320" y="5715000"/>
            <a:ext cx="8595360" cy="457200"/>
          </a:xfrm>
          <a:prstGeom prst="rect">
            <a:avLst/>
          </a:prstGeom>
          <a:noFill/>
        </p:spPr>
        <p:txBody>
          <a:bodyPr wrap="square" anchor="t" lIns="27432" rIns="27432" tIns="18288" bIns="18288">
            <a:spAutoFit/>
          </a:bodyPr>
          <a:lstStyle/>
          <a:p>
            <a:pPr algn="ctr"/>
            <a:r>
              <a:rPr sz="1500" b="0" i="1">
                <a:solidFill>
                  <a:srgbClr val="1F497D"/>
                </a:solidFill>
              </a:rPr>
              <a:t>The review in step 8 is the last human checkpoint before users are affected.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The Pipeline Is Three Jobs</a:t>
            </a:r>
          </a:p>
        </p:txBody>
      </p:sp>
      <p:sp>
        <p:nvSpPr>
          <p:cNvPr id="3" name="Content Placeholder 2"/>
          <p:cNvSpPr>
            <a:spLocks noGrp="1"/>
          </p:cNvSpPr>
          <p:nvPr>
            <p:ph idx="1"/>
          </p:nvPr>
        </p:nvSpPr>
        <p:spPr>
          <a:xfrm>
            <a:off x="548640" y="1280160"/>
            <a:ext cx="3749039" cy="3931920"/>
          </a:xfrm>
        </p:spPr>
        <p:txBody>
          <a:bodyPr wrap="square"/>
          <a:lstStyle/>
          <a:p>
            <a:pPr>
              <a:spcBef>
                <a:spcPts val="1000"/>
              </a:spcBef>
            </a:pPr>
            <a:r>
              <a:rPr sz="1800"/>
              <a:t>test — every push and every PR</a:t>
            </a:r>
          </a:p>
          <a:p>
            <a:pPr>
              <a:spcBef>
                <a:spcPts val="1000"/>
              </a:spcBef>
            </a:pPr>
            <a:r>
              <a:rPr sz="1800"/>
              <a:t>deploy-staging — a push to staging, if test passed</a:t>
            </a:r>
          </a:p>
          <a:p>
            <a:pPr>
              <a:spcBef>
                <a:spcPts val="1000"/>
              </a:spcBef>
            </a:pPr>
            <a:r>
              <a:rPr sz="1800"/>
              <a:t>deploy-prod — a push to main, if test passed</a:t>
            </a:r>
          </a:p>
          <a:p>
            <a:pPr>
              <a:spcBef>
                <a:spcPts val="1000"/>
              </a:spcBef>
            </a:pPr>
            <a:r>
              <a:rPr sz="1800"/>
              <a:t>All in .github/workflows/ci.yml</a:t>
            </a:r>
          </a:p>
          <a:p>
            <a:pPr>
              <a:spcBef>
                <a:spcPts val="1000"/>
              </a:spcBef>
            </a:pPr>
            <a:r>
              <a:rPr sz="1800"/>
              <a:t>The gate is one line: needs: test</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The branch decides the environment. Nothing else does.</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16</a:t>
            </a:r>
          </a:p>
        </p:txBody>
      </p:sp>
      <p:sp>
        <p:nvSpPr>
          <p:cNvPr id="7" name="Rectangle 6"/>
          <p:cNvSpPr/>
          <p:nvPr/>
        </p:nvSpPr>
        <p:spPr>
          <a:xfrm>
            <a:off x="4389120" y="1325880"/>
            <a:ext cx="4480560" cy="2842259"/>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8" name="TextBox 7"/>
          <p:cNvSpPr txBox="1"/>
          <p:nvPr/>
        </p:nvSpPr>
        <p:spPr>
          <a:xfrm>
            <a:off x="4498848" y="1389888"/>
            <a:ext cx="4343400" cy="2732531"/>
          </a:xfrm>
          <a:prstGeom prst="rect">
            <a:avLst/>
          </a:prstGeom>
          <a:noFill/>
        </p:spPr>
        <p:txBody>
          <a:bodyPr wrap="square">
            <a:spAutoFit/>
          </a:bodyPr>
          <a:lstStyle/>
          <a:p>
            <a:r>
              <a:rPr sz="1400" b="0">
                <a:solidFill>
                  <a:srgbClr val="262626"/>
                </a:solidFill>
                <a:latin typeface="Consolas"/>
              </a:rPr>
              <a:t>git switch staging</a:t>
            </a:r>
          </a:p>
          <a:p>
            <a:r>
              <a:rPr sz="1400" b="0">
                <a:solidFill>
                  <a:srgbClr val="6A737D"/>
                </a:solidFill>
                <a:latin typeface="Consolas"/>
              </a:rPr>
              <a:t># ...make your changes...</a:t>
            </a:r>
          </a:p>
          <a:p>
            <a:r>
              <a:rPr sz="1400" b="0">
                <a:solidFill>
                  <a:srgbClr val="262626"/>
                </a:solidFill>
                <a:latin typeface="Consolas"/>
              </a:rPr>
              <a:t>git add -A</a:t>
            </a:r>
          </a:p>
          <a:p>
            <a:r>
              <a:rPr sz="1400" b="0">
                <a:solidFill>
                  <a:srgbClr val="262626"/>
                </a:solidFill>
                <a:latin typeface="Consolas"/>
              </a:rPr>
              <a:t>git commit -m "New greeting"</a:t>
            </a:r>
          </a:p>
          <a:p>
            <a:r>
              <a:rPr sz="1400" b="1">
                <a:solidFill>
                  <a:srgbClr val="262626"/>
                </a:solidFill>
                <a:latin typeface="Consolas"/>
              </a:rPr>
              <a:t>git push</a:t>
            </a:r>
            <a:r>
              <a:rPr sz="1400" b="1">
                <a:solidFill>
                  <a:srgbClr val="E37B22"/>
                </a:solidFill>
                <a:latin typeface="Consolas"/>
              </a:rPr>
              <a:t>   # test → deploy-staging</a:t>
            </a:r>
          </a:p>
          <a:p>
            <a:r>
              <a:rPr sz="700"/>
              <a:t> </a:t>
            </a:r>
          </a:p>
          <a:p>
            <a:r>
              <a:rPr sz="1400" b="0">
                <a:solidFill>
                  <a:srgbClr val="6A737D"/>
                </a:solidFill>
                <a:latin typeface="Consolas"/>
              </a:rPr>
              <a:t># Actions green? staging looks right?</a:t>
            </a:r>
          </a:p>
          <a:p>
            <a:r>
              <a:rPr sz="1400" b="0">
                <a:solidFill>
                  <a:srgbClr val="262626"/>
                </a:solidFill>
                <a:latin typeface="Consolas"/>
              </a:rPr>
              <a:t>git switch main</a:t>
            </a:r>
          </a:p>
          <a:p>
            <a:r>
              <a:rPr sz="1400" b="0">
                <a:solidFill>
                  <a:srgbClr val="262626"/>
                </a:solidFill>
                <a:latin typeface="Consolas"/>
              </a:rPr>
              <a:t>git pull</a:t>
            </a:r>
          </a:p>
          <a:p>
            <a:r>
              <a:rPr sz="1400" b="0">
                <a:solidFill>
                  <a:srgbClr val="262626"/>
                </a:solidFill>
                <a:latin typeface="Consolas"/>
              </a:rPr>
              <a:t>git merge staging</a:t>
            </a:r>
          </a:p>
          <a:p>
            <a:r>
              <a:rPr sz="1400" b="1">
                <a:solidFill>
                  <a:srgbClr val="262626"/>
                </a:solidFill>
                <a:latin typeface="Consolas"/>
              </a:rPr>
              <a:t>git push</a:t>
            </a:r>
            <a:r>
              <a:rPr sz="1400" b="1">
                <a:solidFill>
                  <a:srgbClr val="769A3A"/>
                </a:solidFill>
                <a:latin typeface="Consolas"/>
              </a:rPr>
              <a:t>   # test → deploy-prod</a:t>
            </a:r>
          </a:p>
        </p:txBody>
      </p:sp>
      <p:sp>
        <p:nvSpPr>
          <p:cNvPr id="9" name="TextBox 8"/>
          <p:cNvSpPr txBox="1"/>
          <p:nvPr/>
        </p:nvSpPr>
        <p:spPr>
          <a:xfrm>
            <a:off x="4389120" y="4213859"/>
            <a:ext cx="4480560" cy="457200"/>
          </a:xfrm>
          <a:prstGeom prst="rect">
            <a:avLst/>
          </a:prstGeom>
          <a:noFill/>
        </p:spPr>
        <p:txBody>
          <a:bodyPr wrap="square" anchor="t" lIns="27432" rIns="27432" tIns="18288" bIns="18288">
            <a:spAutoFit/>
          </a:bodyPr>
          <a:lstStyle/>
          <a:p>
            <a:pPr algn="l"/>
            <a:r>
              <a:rPr sz="1200" b="0" i="1">
                <a:solidFill>
                  <a:srgbClr val="404040"/>
                </a:solidFill>
              </a:rPr>
              <a:t>With branch protection on, the last four lines become a pull request (next slide).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Pull Requests + Branch Protection</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17</a:t>
            </a:r>
          </a:p>
        </p:txBody>
      </p:sp>
      <p:sp>
        <p:nvSpPr>
          <p:cNvPr id="4" name="TextBox 3"/>
          <p:cNvSpPr txBox="1"/>
          <p:nvPr/>
        </p:nvSpPr>
        <p:spPr>
          <a:xfrm>
            <a:off x="274320" y="1188720"/>
            <a:ext cx="5120640" cy="320040"/>
          </a:xfrm>
          <a:prstGeom prst="rect">
            <a:avLst/>
          </a:prstGeom>
          <a:noFill/>
        </p:spPr>
        <p:txBody>
          <a:bodyPr wrap="square" anchor="t" lIns="27432" rIns="27432" tIns="18288" bIns="18288">
            <a:spAutoFit/>
          </a:bodyPr>
          <a:lstStyle/>
          <a:p>
            <a:pPr algn="l"/>
            <a:r>
              <a:rPr sz="1400" b="1" i="0">
                <a:solidFill>
                  <a:srgbClr val="1F497D"/>
                </a:solidFill>
              </a:rPr>
              <a:t>THE LOOP, WITH A PULL REQUEST</a:t>
            </a:r>
          </a:p>
        </p:txBody>
      </p:sp>
      <p:sp>
        <p:nvSpPr>
          <p:cNvPr id="5" name="Rectangle 4"/>
          <p:cNvSpPr/>
          <p:nvPr/>
        </p:nvSpPr>
        <p:spPr>
          <a:xfrm>
            <a:off x="274320" y="1536192"/>
            <a:ext cx="5120640" cy="2530475"/>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6" name="TextBox 5"/>
          <p:cNvSpPr txBox="1"/>
          <p:nvPr/>
        </p:nvSpPr>
        <p:spPr>
          <a:xfrm>
            <a:off x="365760" y="1627632"/>
            <a:ext cx="4937759" cy="266763"/>
          </a:xfrm>
          <a:prstGeom prst="rect">
            <a:avLst/>
          </a:prstGeom>
          <a:noFill/>
        </p:spPr>
        <p:txBody>
          <a:bodyPr wrap="square" tIns="0" bIns="0">
            <a:spAutoFit/>
          </a:bodyPr>
          <a:lstStyle/>
          <a:p>
            <a:pPr algn="l"/>
            <a:r>
              <a:rPr sz="1250" b="0">
                <a:solidFill>
                  <a:srgbClr val="6A737D"/>
                </a:solidFill>
                <a:latin typeface="Consolas"/>
              </a:rPr>
              <a:t>  # unchanged up to: git push (staging)</a:t>
            </a:r>
          </a:p>
        </p:txBody>
      </p:sp>
      <p:sp>
        <p:nvSpPr>
          <p:cNvPr id="7" name="Rectangle 6"/>
          <p:cNvSpPr/>
          <p:nvPr/>
        </p:nvSpPr>
        <p:spPr>
          <a:xfrm>
            <a:off x="320040" y="1991201"/>
            <a:ext cx="5029200" cy="230187"/>
          </a:xfrm>
          <a:prstGeom prst="rect">
            <a:avLst/>
          </a:prstGeom>
          <a:solidFill>
            <a:srgbClr val="FBE9E8"/>
          </a:solidFill>
          <a:ln>
            <a:noFill/>
          </a:ln>
        </p:spPr>
        <p:txBody>
          <a:bodyPr rtlCol="0" anchor="ctr"/>
          <a:lstStyle/>
          <a:p>
            <a:pPr algn="ctr"/>
          </a:p>
        </p:txBody>
      </p:sp>
      <p:sp>
        <p:nvSpPr>
          <p:cNvPr id="8" name="TextBox 7"/>
          <p:cNvSpPr txBox="1"/>
          <p:nvPr/>
        </p:nvSpPr>
        <p:spPr>
          <a:xfrm>
            <a:off x="365760" y="1972913"/>
            <a:ext cx="4937759" cy="266763"/>
          </a:xfrm>
          <a:prstGeom prst="rect">
            <a:avLst/>
          </a:prstGeom>
          <a:noFill/>
        </p:spPr>
        <p:txBody>
          <a:bodyPr wrap="square" tIns="0" bIns="0">
            <a:spAutoFit/>
          </a:bodyPr>
          <a:lstStyle/>
          <a:p>
            <a:pPr algn="l"/>
            <a:r>
              <a:rPr sz="1250" b="1">
                <a:solidFill>
                  <a:srgbClr val="C0504D"/>
                </a:solidFill>
                <a:latin typeface="Consolas"/>
              </a:rPr>
              <a:t>- git switch main</a:t>
            </a:r>
          </a:p>
        </p:txBody>
      </p:sp>
      <p:sp>
        <p:nvSpPr>
          <p:cNvPr id="9" name="Rectangle 8"/>
          <p:cNvSpPr/>
          <p:nvPr/>
        </p:nvSpPr>
        <p:spPr>
          <a:xfrm>
            <a:off x="320040" y="2221388"/>
            <a:ext cx="5029200" cy="230187"/>
          </a:xfrm>
          <a:prstGeom prst="rect">
            <a:avLst/>
          </a:prstGeom>
          <a:solidFill>
            <a:srgbClr val="FBE9E8"/>
          </a:solidFill>
          <a:ln>
            <a:noFill/>
          </a:ln>
        </p:spPr>
        <p:txBody>
          <a:bodyPr rtlCol="0" anchor="ctr"/>
          <a:lstStyle/>
          <a:p>
            <a:pPr algn="ctr"/>
          </a:p>
        </p:txBody>
      </p:sp>
      <p:sp>
        <p:nvSpPr>
          <p:cNvPr id="10" name="TextBox 9"/>
          <p:cNvSpPr txBox="1"/>
          <p:nvPr/>
        </p:nvSpPr>
        <p:spPr>
          <a:xfrm>
            <a:off x="365760" y="2203100"/>
            <a:ext cx="4937759" cy="266763"/>
          </a:xfrm>
          <a:prstGeom prst="rect">
            <a:avLst/>
          </a:prstGeom>
          <a:noFill/>
        </p:spPr>
        <p:txBody>
          <a:bodyPr wrap="square" tIns="0" bIns="0">
            <a:spAutoFit/>
          </a:bodyPr>
          <a:lstStyle/>
          <a:p>
            <a:pPr algn="l"/>
            <a:r>
              <a:rPr sz="1250" b="1">
                <a:solidFill>
                  <a:srgbClr val="C0504D"/>
                </a:solidFill>
                <a:latin typeface="Consolas"/>
              </a:rPr>
              <a:t>- git pull</a:t>
            </a:r>
          </a:p>
        </p:txBody>
      </p:sp>
      <p:sp>
        <p:nvSpPr>
          <p:cNvPr id="11" name="Rectangle 10"/>
          <p:cNvSpPr/>
          <p:nvPr/>
        </p:nvSpPr>
        <p:spPr>
          <a:xfrm>
            <a:off x="320040" y="2451576"/>
            <a:ext cx="5029200" cy="230187"/>
          </a:xfrm>
          <a:prstGeom prst="rect">
            <a:avLst/>
          </a:prstGeom>
          <a:solidFill>
            <a:srgbClr val="FBE9E8"/>
          </a:solidFill>
          <a:ln>
            <a:noFill/>
          </a:ln>
        </p:spPr>
        <p:txBody>
          <a:bodyPr rtlCol="0" anchor="ctr"/>
          <a:lstStyle/>
          <a:p>
            <a:pPr algn="ctr"/>
          </a:p>
        </p:txBody>
      </p:sp>
      <p:sp>
        <p:nvSpPr>
          <p:cNvPr id="12" name="TextBox 11"/>
          <p:cNvSpPr txBox="1"/>
          <p:nvPr/>
        </p:nvSpPr>
        <p:spPr>
          <a:xfrm>
            <a:off x="365760" y="2433288"/>
            <a:ext cx="4937759" cy="266763"/>
          </a:xfrm>
          <a:prstGeom prst="rect">
            <a:avLst/>
          </a:prstGeom>
          <a:noFill/>
        </p:spPr>
        <p:txBody>
          <a:bodyPr wrap="square" tIns="0" bIns="0">
            <a:spAutoFit/>
          </a:bodyPr>
          <a:lstStyle/>
          <a:p>
            <a:pPr algn="l"/>
            <a:r>
              <a:rPr sz="1250" b="1">
                <a:solidFill>
                  <a:srgbClr val="C0504D"/>
                </a:solidFill>
                <a:latin typeface="Consolas"/>
              </a:rPr>
              <a:t>- git merge staging</a:t>
            </a:r>
          </a:p>
        </p:txBody>
      </p:sp>
      <p:sp>
        <p:nvSpPr>
          <p:cNvPr id="13" name="Rectangle 12"/>
          <p:cNvSpPr/>
          <p:nvPr/>
        </p:nvSpPr>
        <p:spPr>
          <a:xfrm>
            <a:off x="320040" y="2681763"/>
            <a:ext cx="5029200" cy="230187"/>
          </a:xfrm>
          <a:prstGeom prst="rect">
            <a:avLst/>
          </a:prstGeom>
          <a:solidFill>
            <a:srgbClr val="FBE9E8"/>
          </a:solidFill>
          <a:ln>
            <a:noFill/>
          </a:ln>
        </p:spPr>
        <p:txBody>
          <a:bodyPr rtlCol="0" anchor="ctr"/>
          <a:lstStyle/>
          <a:p>
            <a:pPr algn="ctr"/>
          </a:p>
        </p:txBody>
      </p:sp>
      <p:sp>
        <p:nvSpPr>
          <p:cNvPr id="14" name="TextBox 13"/>
          <p:cNvSpPr txBox="1"/>
          <p:nvPr/>
        </p:nvSpPr>
        <p:spPr>
          <a:xfrm>
            <a:off x="365760" y="2663475"/>
            <a:ext cx="4937759" cy="266763"/>
          </a:xfrm>
          <a:prstGeom prst="rect">
            <a:avLst/>
          </a:prstGeom>
          <a:noFill/>
        </p:spPr>
        <p:txBody>
          <a:bodyPr wrap="square" tIns="0" bIns="0">
            <a:spAutoFit/>
          </a:bodyPr>
          <a:lstStyle/>
          <a:p>
            <a:pPr algn="l"/>
            <a:r>
              <a:rPr sz="1250" b="1">
                <a:solidFill>
                  <a:srgbClr val="C0504D"/>
                </a:solidFill>
                <a:latin typeface="Consolas"/>
              </a:rPr>
              <a:t>- git push</a:t>
            </a:r>
          </a:p>
        </p:txBody>
      </p:sp>
      <p:sp>
        <p:nvSpPr>
          <p:cNvPr id="15" name="Rectangle 14"/>
          <p:cNvSpPr/>
          <p:nvPr/>
        </p:nvSpPr>
        <p:spPr>
          <a:xfrm>
            <a:off x="320040" y="3027044"/>
            <a:ext cx="5029200" cy="230187"/>
          </a:xfrm>
          <a:prstGeom prst="rect">
            <a:avLst/>
          </a:prstGeom>
          <a:solidFill>
            <a:srgbClr val="EAF3E1"/>
          </a:solidFill>
          <a:ln>
            <a:noFill/>
          </a:ln>
        </p:spPr>
        <p:txBody>
          <a:bodyPr rtlCol="0" anchor="ctr"/>
          <a:lstStyle/>
          <a:p>
            <a:pPr algn="ctr"/>
          </a:p>
        </p:txBody>
      </p:sp>
      <p:sp>
        <p:nvSpPr>
          <p:cNvPr id="16" name="TextBox 15"/>
          <p:cNvSpPr txBox="1"/>
          <p:nvPr/>
        </p:nvSpPr>
        <p:spPr>
          <a:xfrm>
            <a:off x="365760" y="3008756"/>
            <a:ext cx="4937759" cy="266763"/>
          </a:xfrm>
          <a:prstGeom prst="rect">
            <a:avLst/>
          </a:prstGeom>
          <a:noFill/>
        </p:spPr>
        <p:txBody>
          <a:bodyPr wrap="square" tIns="0" bIns="0">
            <a:spAutoFit/>
          </a:bodyPr>
          <a:lstStyle/>
          <a:p>
            <a:pPr algn="l"/>
            <a:r>
              <a:rPr sz="1250" b="1">
                <a:solidFill>
                  <a:srgbClr val="769A3A"/>
                </a:solidFill>
                <a:latin typeface="Consolas"/>
              </a:rPr>
              <a:t>+ gh pr create --base main --head staging --fill</a:t>
            </a:r>
          </a:p>
        </p:txBody>
      </p:sp>
      <p:sp>
        <p:nvSpPr>
          <p:cNvPr id="17" name="Rectangle 16"/>
          <p:cNvSpPr/>
          <p:nvPr/>
        </p:nvSpPr>
        <p:spPr>
          <a:xfrm>
            <a:off x="320040" y="3257232"/>
            <a:ext cx="5029200" cy="230187"/>
          </a:xfrm>
          <a:prstGeom prst="rect">
            <a:avLst/>
          </a:prstGeom>
          <a:solidFill>
            <a:srgbClr val="EAF3E1"/>
          </a:solidFill>
          <a:ln>
            <a:noFill/>
          </a:ln>
        </p:spPr>
        <p:txBody>
          <a:bodyPr rtlCol="0" anchor="ctr"/>
          <a:lstStyle/>
          <a:p>
            <a:pPr algn="ctr"/>
          </a:p>
        </p:txBody>
      </p:sp>
      <p:sp>
        <p:nvSpPr>
          <p:cNvPr id="18" name="TextBox 17"/>
          <p:cNvSpPr txBox="1"/>
          <p:nvPr/>
        </p:nvSpPr>
        <p:spPr>
          <a:xfrm>
            <a:off x="365760" y="3238944"/>
            <a:ext cx="4937759" cy="266763"/>
          </a:xfrm>
          <a:prstGeom prst="rect">
            <a:avLst/>
          </a:prstGeom>
          <a:noFill/>
        </p:spPr>
        <p:txBody>
          <a:bodyPr wrap="square" tIns="0" bIns="0">
            <a:spAutoFit/>
          </a:bodyPr>
          <a:lstStyle/>
          <a:p>
            <a:pPr algn="l"/>
            <a:r>
              <a:rPr sz="1250" b="0">
                <a:solidFill>
                  <a:srgbClr val="6A737D"/>
                </a:solidFill>
                <a:latin typeface="Consolas"/>
              </a:rPr>
              <a:t>+ # CI runs test on the PR · teammate reviews</a:t>
            </a:r>
          </a:p>
        </p:txBody>
      </p:sp>
      <p:sp>
        <p:nvSpPr>
          <p:cNvPr id="19" name="Rectangle 18"/>
          <p:cNvSpPr/>
          <p:nvPr/>
        </p:nvSpPr>
        <p:spPr>
          <a:xfrm>
            <a:off x="320040" y="3487420"/>
            <a:ext cx="5029200" cy="230187"/>
          </a:xfrm>
          <a:prstGeom prst="rect">
            <a:avLst/>
          </a:prstGeom>
          <a:solidFill>
            <a:srgbClr val="EAF3E1"/>
          </a:solidFill>
          <a:ln>
            <a:noFill/>
          </a:ln>
        </p:spPr>
        <p:txBody>
          <a:bodyPr rtlCol="0" anchor="ctr"/>
          <a:lstStyle/>
          <a:p>
            <a:pPr algn="ctr"/>
          </a:p>
        </p:txBody>
      </p:sp>
      <p:sp>
        <p:nvSpPr>
          <p:cNvPr id="20" name="TextBox 19"/>
          <p:cNvSpPr txBox="1"/>
          <p:nvPr/>
        </p:nvSpPr>
        <p:spPr>
          <a:xfrm>
            <a:off x="365760" y="3469132"/>
            <a:ext cx="4937759" cy="266763"/>
          </a:xfrm>
          <a:prstGeom prst="rect">
            <a:avLst/>
          </a:prstGeom>
          <a:noFill/>
        </p:spPr>
        <p:txBody>
          <a:bodyPr wrap="square" tIns="0" bIns="0">
            <a:spAutoFit/>
          </a:bodyPr>
          <a:lstStyle/>
          <a:p>
            <a:pPr algn="l"/>
            <a:r>
              <a:rPr sz="1250" b="1">
                <a:solidFill>
                  <a:srgbClr val="769A3A"/>
                </a:solidFill>
                <a:latin typeface="Consolas"/>
              </a:rPr>
              <a:t>+ gh pr merge --merge</a:t>
            </a:r>
          </a:p>
        </p:txBody>
      </p:sp>
      <p:sp>
        <p:nvSpPr>
          <p:cNvPr id="21" name="Rectangle 20"/>
          <p:cNvSpPr/>
          <p:nvPr/>
        </p:nvSpPr>
        <p:spPr>
          <a:xfrm>
            <a:off x="320040" y="3717607"/>
            <a:ext cx="5029200" cy="230187"/>
          </a:xfrm>
          <a:prstGeom prst="rect">
            <a:avLst/>
          </a:prstGeom>
          <a:solidFill>
            <a:srgbClr val="EAF3E1"/>
          </a:solidFill>
          <a:ln>
            <a:noFill/>
          </a:ln>
        </p:spPr>
        <p:txBody>
          <a:bodyPr rtlCol="0" anchor="ctr"/>
          <a:lstStyle/>
          <a:p>
            <a:pPr algn="ctr"/>
          </a:p>
        </p:txBody>
      </p:sp>
      <p:sp>
        <p:nvSpPr>
          <p:cNvPr id="22" name="TextBox 21"/>
          <p:cNvSpPr txBox="1"/>
          <p:nvPr/>
        </p:nvSpPr>
        <p:spPr>
          <a:xfrm>
            <a:off x="365760" y="3699319"/>
            <a:ext cx="4937759" cy="266763"/>
          </a:xfrm>
          <a:prstGeom prst="rect">
            <a:avLst/>
          </a:prstGeom>
          <a:noFill/>
        </p:spPr>
        <p:txBody>
          <a:bodyPr wrap="square" tIns="0" bIns="0">
            <a:spAutoFit/>
          </a:bodyPr>
          <a:lstStyle/>
          <a:p>
            <a:pPr algn="l"/>
            <a:r>
              <a:rPr sz="1250" b="0">
                <a:solidFill>
                  <a:srgbClr val="6A737D"/>
                </a:solidFill>
                <a:latin typeface="Consolas"/>
              </a:rPr>
              <a:t>+ # merge = push to main → deploy-prod</a:t>
            </a:r>
          </a:p>
        </p:txBody>
      </p:sp>
      <p:sp>
        <p:nvSpPr>
          <p:cNvPr id="23" name="TextBox 22"/>
          <p:cNvSpPr txBox="1"/>
          <p:nvPr/>
        </p:nvSpPr>
        <p:spPr>
          <a:xfrm>
            <a:off x="5623560" y="1188720"/>
            <a:ext cx="3246120" cy="320040"/>
          </a:xfrm>
          <a:prstGeom prst="rect">
            <a:avLst/>
          </a:prstGeom>
          <a:noFill/>
        </p:spPr>
        <p:txBody>
          <a:bodyPr wrap="square" anchor="t" lIns="27432" rIns="27432" tIns="18288" bIns="18288">
            <a:spAutoFit/>
          </a:bodyPr>
          <a:lstStyle/>
          <a:p>
            <a:pPr algn="l"/>
            <a:r>
              <a:rPr sz="1400" b="1" i="0">
                <a:solidFill>
                  <a:srgbClr val="1F497D"/>
                </a:solidFill>
              </a:rPr>
              <a:t>WHAT MAKES IT MANDATORY</a:t>
            </a:r>
          </a:p>
        </p:txBody>
      </p:sp>
      <p:sp>
        <p:nvSpPr>
          <p:cNvPr id="24" name="Rounded Rectangle 23"/>
          <p:cNvSpPr/>
          <p:nvPr/>
        </p:nvSpPr>
        <p:spPr>
          <a:xfrm>
            <a:off x="5623560" y="1536192"/>
            <a:ext cx="3246120" cy="457200"/>
          </a:xfrm>
          <a:prstGeom prst="roundRect">
            <a:avLst>
              <a:gd name="adj" fmla="val 16000"/>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Branch protection on main</a:t>
            </a:r>
          </a:p>
        </p:txBody>
      </p:sp>
      <p:sp>
        <p:nvSpPr>
          <p:cNvPr id="25" name="Rounded Rectangle 24"/>
          <p:cNvSpPr/>
          <p:nvPr/>
        </p:nvSpPr>
        <p:spPr>
          <a:xfrm>
            <a:off x="5623560" y="2029968"/>
            <a:ext cx="3246120" cy="2036699"/>
          </a:xfrm>
          <a:prstGeom prst="roundRect">
            <a:avLst>
              <a:gd name="adj" fmla="val 3591"/>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26" name="TextBox 25"/>
          <p:cNvSpPr txBox="1"/>
          <p:nvPr/>
        </p:nvSpPr>
        <p:spPr>
          <a:xfrm>
            <a:off x="5733288" y="2148840"/>
            <a:ext cx="3063239" cy="1890395"/>
          </a:xfrm>
          <a:prstGeom prst="rect">
            <a:avLst/>
          </a:prstGeom>
          <a:noFill/>
        </p:spPr>
        <p:txBody>
          <a:bodyPr wrap="square" anchor="t" lIns="27432" rIns="27432" tIns="18288" bIns="18288">
            <a:spAutoFit/>
          </a:bodyPr>
          <a:lstStyle/>
          <a:p>
            <a:pPr algn="l">
              <a:spcAft>
                <a:spcPts val="900"/>
              </a:spcAft>
            </a:pPr>
            <a:r>
              <a:rPr sz="1600" b="0" i="0">
                <a:solidFill>
                  <a:srgbClr val="262626"/>
                </a:solidFill>
              </a:rPr>
              <a:t>• no direct pushes — PRs only</a:t>
            </a:r>
          </a:p>
          <a:p>
            <a:pPr algn="l">
              <a:spcAft>
                <a:spcPts val="900"/>
              </a:spcAft>
            </a:pPr>
            <a:r>
              <a:rPr sz="1600" b="0" i="0">
                <a:solidFill>
                  <a:srgbClr val="262626"/>
                </a:solidFill>
              </a:rPr>
              <a:t>• test must pass before merge</a:t>
            </a:r>
          </a:p>
          <a:p>
            <a:pPr algn="l">
              <a:spcAft>
                <a:spcPts val="900"/>
              </a:spcAft>
            </a:pPr>
            <a:r>
              <a:rPr sz="1600" b="0" i="0">
                <a:solidFill>
                  <a:srgbClr val="262626"/>
                </a:solidFill>
              </a:rPr>
              <a:t>• a teammate must approve</a:t>
            </a:r>
          </a:p>
          <a:p>
            <a:pPr algn="l">
              <a:spcAft>
                <a:spcPts val="900"/>
              </a:spcAft>
            </a:pPr>
            <a:r>
              <a:rPr sz="1600" b="0" i="0">
                <a:solidFill>
                  <a:srgbClr val="262626"/>
                </a:solidFill>
              </a:rPr>
              <a:t>• set once: Settings → Rules</a:t>
            </a:r>
          </a:p>
        </p:txBody>
      </p:sp>
      <p:sp>
        <p:nvSpPr>
          <p:cNvPr id="27" name="TextBox 26"/>
          <p:cNvSpPr txBox="1"/>
          <p:nvPr/>
        </p:nvSpPr>
        <p:spPr>
          <a:xfrm>
            <a:off x="274320" y="4249547"/>
            <a:ext cx="4297680" cy="365760"/>
          </a:xfrm>
          <a:prstGeom prst="rect">
            <a:avLst/>
          </a:prstGeom>
          <a:noFill/>
        </p:spPr>
        <p:txBody>
          <a:bodyPr wrap="square" anchor="t" lIns="27432" rIns="27432" tIns="18288" bIns="18288">
            <a:spAutoFit/>
          </a:bodyPr>
          <a:lstStyle/>
          <a:p>
            <a:pPr algn="l"/>
            <a:r>
              <a:rPr sz="1500" b="0" i="0">
                <a:solidFill>
                  <a:srgbClr val="262626"/>
                </a:solidFill>
              </a:rPr>
              <a:t>• the merge happens on GitHub, not your laptop</a:t>
            </a:r>
          </a:p>
        </p:txBody>
      </p:sp>
      <p:sp>
        <p:nvSpPr>
          <p:cNvPr id="28" name="TextBox 27"/>
          <p:cNvSpPr txBox="1"/>
          <p:nvPr/>
        </p:nvSpPr>
        <p:spPr>
          <a:xfrm>
            <a:off x="4572000" y="4249547"/>
            <a:ext cx="4297680" cy="365760"/>
          </a:xfrm>
          <a:prstGeom prst="rect">
            <a:avLst/>
          </a:prstGeom>
          <a:noFill/>
        </p:spPr>
        <p:txBody>
          <a:bodyPr wrap="square" anchor="t" lIns="27432" rIns="27432" tIns="18288" bIns="18288">
            <a:spAutoFit/>
          </a:bodyPr>
          <a:lstStyle/>
          <a:p>
            <a:pPr algn="l"/>
            <a:r>
              <a:rPr sz="1500" b="0" i="0">
                <a:solidFill>
                  <a:srgbClr val="262626"/>
                </a:solidFill>
              </a:rPr>
              <a:t>• tests run on the PR — before main changes</a:t>
            </a:r>
          </a:p>
        </p:txBody>
      </p:sp>
      <p:sp>
        <p:nvSpPr>
          <p:cNvPr id="29" name="TextBox 28"/>
          <p:cNvSpPr txBox="1"/>
          <p:nvPr/>
        </p:nvSpPr>
        <p:spPr>
          <a:xfrm>
            <a:off x="274320" y="4615307"/>
            <a:ext cx="4297680" cy="365760"/>
          </a:xfrm>
          <a:prstGeom prst="rect">
            <a:avLst/>
          </a:prstGeom>
          <a:noFill/>
        </p:spPr>
        <p:txBody>
          <a:bodyPr wrap="square" anchor="t" lIns="27432" rIns="27432" tIns="18288" bIns="18288">
            <a:spAutoFit/>
          </a:bodyPr>
          <a:lstStyle/>
          <a:p>
            <a:pPr algn="l"/>
            <a:r>
              <a:rPr sz="1500" b="0" i="0">
                <a:solidFill>
                  <a:srgbClr val="262626"/>
                </a:solidFill>
              </a:rPr>
              <a:t>• a teammate reviews before users are affected</a:t>
            </a:r>
          </a:p>
        </p:txBody>
      </p:sp>
      <p:sp>
        <p:nvSpPr>
          <p:cNvPr id="30" name="TextBox 29"/>
          <p:cNvSpPr txBox="1"/>
          <p:nvPr/>
        </p:nvSpPr>
        <p:spPr>
          <a:xfrm>
            <a:off x="4572000" y="4615307"/>
            <a:ext cx="4297680" cy="365760"/>
          </a:xfrm>
          <a:prstGeom prst="rect">
            <a:avLst/>
          </a:prstGeom>
          <a:noFill/>
        </p:spPr>
        <p:txBody>
          <a:bodyPr wrap="square" anchor="t" lIns="27432" rIns="27432" tIns="18288" bIns="18288">
            <a:spAutoFit/>
          </a:bodyPr>
          <a:lstStyle/>
          <a:p>
            <a:pPr algn="l"/>
            <a:r>
              <a:rPr sz="1500" b="0" i="0">
                <a:solidFill>
                  <a:srgbClr val="262626"/>
                </a:solidFill>
              </a:rPr>
              <a:t>• without protection, it's only a promise</a:t>
            </a:r>
          </a:p>
        </p:txBody>
      </p:sp>
      <p:sp>
        <p:nvSpPr>
          <p:cNvPr id="31" name="Rectangle 30"/>
          <p:cNvSpPr/>
          <p:nvPr/>
        </p:nvSpPr>
        <p:spPr>
          <a:xfrm>
            <a:off x="548640" y="534924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349240"/>
            <a:ext cx="7863840" cy="731520"/>
          </a:xfrm>
          <a:prstGeom prst="rect">
            <a:avLst/>
          </a:prstGeom>
          <a:noFill/>
        </p:spPr>
        <p:txBody>
          <a:bodyPr wrap="square" anchor="ctr" lIns="27432" rIns="27432" tIns="18288" bIns="18288">
            <a:spAutoFit/>
          </a:bodyPr>
          <a:lstStyle/>
          <a:p>
            <a:pPr algn="l"/>
            <a:r>
              <a:rPr sz="2100" b="1" i="0">
                <a:solidFill>
                  <a:srgbClr val="1F497D"/>
                </a:solidFill>
              </a:rPr>
              <a:t>Every company you will work at has this turned on.</a:t>
            </a:r>
          </a:p>
          <a:p>
            <a:pPr algn="l"/>
            <a:r>
              <a:rPr sz="2100" b="1" i="0">
                <a:solidFill>
                  <a:srgbClr val="1F497D"/>
                </a:solidFill>
              </a:rPr>
              <a:t>The merge is the push to main — same deploy as before.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What a Deploy Actually Does</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18</a:t>
            </a:r>
          </a:p>
        </p:txBody>
      </p:sp>
      <p:sp>
        <p:nvSpPr>
          <p:cNvPr id="4" name="Rounded Rectangle 3"/>
          <p:cNvSpPr/>
          <p:nvPr/>
        </p:nvSpPr>
        <p:spPr>
          <a:xfrm>
            <a:off x="274320" y="1417320"/>
            <a:ext cx="1828800" cy="1143000"/>
          </a:xfrm>
          <a:prstGeom prst="roundRect">
            <a:avLst>
              <a:gd name="adj" fmla="val 6400"/>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FFFFFF"/>
                </a:solidFill>
              </a:rPr>
              <a:t>old version</a:t>
            </a:r>
          </a:p>
          <a:p>
            <a:pPr algn="ctr"/>
            <a:r>
              <a:rPr sz="1500" b="0">
                <a:solidFill>
                  <a:srgbClr val="FFFFFF"/>
                </a:solidFill>
              </a:rPr>
              <a:t>serving</a:t>
            </a:r>
          </a:p>
        </p:txBody>
      </p:sp>
      <p:sp>
        <p:nvSpPr>
          <p:cNvPr id="5" name="Right Arrow 4"/>
          <p:cNvSpPr/>
          <p:nvPr/>
        </p:nvSpPr>
        <p:spPr>
          <a:xfrm>
            <a:off x="2130551" y="1828800"/>
            <a:ext cx="310896" cy="32918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468879" y="1417320"/>
            <a:ext cx="1828800" cy="1143000"/>
          </a:xfrm>
          <a:prstGeom prst="roundRect">
            <a:avLst>
              <a:gd name="adj" fmla="val 6400"/>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FFFFFF"/>
                </a:solidFill>
              </a:rPr>
              <a:t>compose up:</a:t>
            </a:r>
          </a:p>
          <a:p>
            <a:pPr algn="ctr"/>
            <a:r>
              <a:rPr sz="1500" b="0">
                <a:solidFill>
                  <a:srgbClr val="FFFFFF"/>
                </a:solidFill>
              </a:rPr>
              <a:t>old stopped,</a:t>
            </a:r>
          </a:p>
          <a:p>
            <a:pPr algn="ctr"/>
            <a:r>
              <a:rPr sz="1500" b="0">
                <a:solidFill>
                  <a:srgbClr val="FFFFFF"/>
                </a:solidFill>
              </a:rPr>
              <a:t>new starting</a:t>
            </a:r>
          </a:p>
        </p:txBody>
      </p:sp>
      <p:sp>
        <p:nvSpPr>
          <p:cNvPr id="7" name="Right Arrow 6"/>
          <p:cNvSpPr/>
          <p:nvPr/>
        </p:nvSpPr>
        <p:spPr>
          <a:xfrm>
            <a:off x="4325112" y="1828800"/>
            <a:ext cx="310896" cy="32918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417320"/>
            <a:ext cx="1828800" cy="1143000"/>
          </a:xfrm>
          <a:prstGeom prst="roundRect">
            <a:avLst>
              <a:gd name="adj" fmla="val 64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FFFFFF"/>
                </a:solidFill>
              </a:rPr>
              <a:t>Docker runs the</a:t>
            </a:r>
          </a:p>
          <a:p>
            <a:pPr algn="ctr"/>
            <a:r>
              <a:rPr sz="1500" b="0">
                <a:solidFill>
                  <a:srgbClr val="FFFFFF"/>
                </a:solidFill>
              </a:rPr>
              <a:t>healthcheck</a:t>
            </a:r>
          </a:p>
          <a:p>
            <a:pPr algn="ctr"/>
            <a:r>
              <a:rPr sz="1500" b="0">
                <a:solidFill>
                  <a:srgbClr val="FFFFFF"/>
                </a:solidFill>
              </a:rPr>
              <a:t>(/health)</a:t>
            </a:r>
          </a:p>
        </p:txBody>
      </p:sp>
      <p:sp>
        <p:nvSpPr>
          <p:cNvPr id="9" name="Right Arrow 8"/>
          <p:cNvSpPr/>
          <p:nvPr/>
        </p:nvSpPr>
        <p:spPr>
          <a:xfrm>
            <a:off x="6519671" y="1828800"/>
            <a:ext cx="310896" cy="32918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7999" y="1417320"/>
            <a:ext cx="1828800" cy="1143000"/>
          </a:xfrm>
          <a:prstGeom prst="roundRect">
            <a:avLst>
              <a:gd name="adj" fmla="val 6400"/>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FFFFFF"/>
                </a:solidFill>
              </a:rPr>
              <a:t>healthy →</a:t>
            </a:r>
          </a:p>
          <a:p>
            <a:pPr algn="ctr"/>
            <a:r>
              <a:rPr sz="1500" b="0">
                <a:solidFill>
                  <a:srgbClr val="FFFFFF"/>
                </a:solidFill>
              </a:rPr>
              <a:t>Traefik routes</a:t>
            </a:r>
          </a:p>
          <a:p>
            <a:pPr algn="ctr"/>
            <a:r>
              <a:rPr sz="1500" b="0">
                <a:solidFill>
                  <a:srgbClr val="FFFFFF"/>
                </a:solidFill>
              </a:rPr>
              <a:t>traffic to it</a:t>
            </a:r>
          </a:p>
        </p:txBody>
      </p:sp>
      <p:sp>
        <p:nvSpPr>
          <p:cNvPr id="11" name="TextBox 10"/>
          <p:cNvSpPr txBox="1"/>
          <p:nvPr/>
        </p:nvSpPr>
        <p:spPr>
          <a:xfrm>
            <a:off x="2468880" y="2633472"/>
            <a:ext cx="1828800" cy="457200"/>
          </a:xfrm>
          <a:prstGeom prst="rect">
            <a:avLst/>
          </a:prstGeom>
          <a:noFill/>
        </p:spPr>
        <p:txBody>
          <a:bodyPr wrap="square" anchor="t" lIns="27432" rIns="27432" tIns="18288" bIns="18288">
            <a:spAutoFit/>
          </a:bodyPr>
          <a:lstStyle/>
          <a:p>
            <a:pPr algn="ctr"/>
            <a:r>
              <a:rPr sz="1200" b="0" i="1">
                <a:solidFill>
                  <a:srgbClr val="E37B22"/>
                </a:solidFill>
              </a:rPr>
              <a:t>a few seconds</a:t>
            </a:r>
          </a:p>
          <a:p>
            <a:pPr algn="ctr"/>
            <a:r>
              <a:rPr sz="1200" b="0" i="1">
                <a:solidFill>
                  <a:srgbClr val="E37B22"/>
                </a:solidFill>
              </a:rPr>
              <a:t>with no one answering</a:t>
            </a:r>
          </a:p>
        </p:txBody>
      </p:sp>
      <p:sp>
        <p:nvSpPr>
          <p:cNvPr id="12" name="Down Arrow 11"/>
          <p:cNvSpPr/>
          <p:nvPr/>
        </p:nvSpPr>
        <p:spPr>
          <a:xfrm>
            <a:off x="5047488" y="2606040"/>
            <a:ext cx="329184" cy="685800"/>
          </a:xfrm>
          <a:prstGeom prst="downArrow">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291840" y="3337560"/>
            <a:ext cx="3840480" cy="868680"/>
          </a:xfrm>
          <a:prstGeom prst="roundRect">
            <a:avLst>
              <a:gd name="adj" fmla="val 8421"/>
            </a:avLst>
          </a:prstGeom>
          <a:solidFill>
            <a:srgbClr val="FBECEB"/>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C0504D"/>
                </a:solidFill>
              </a:rPr>
              <a:t>never healthy → Traefik won't route →</a:t>
            </a:r>
          </a:p>
          <a:p>
            <a:pPr algn="ctr"/>
            <a:r>
              <a:rPr sz="1600" b="1">
                <a:solidFill>
                  <a:srgbClr val="C0504D"/>
                </a:solidFill>
              </a:rPr>
              <a:t>users get an error page</a:t>
            </a:r>
          </a:p>
        </p:txBody>
      </p:sp>
      <p:sp>
        <p:nvSpPr>
          <p:cNvPr id="14" name="TextBox 13"/>
          <p:cNvSpPr txBox="1"/>
          <p:nvPr/>
        </p:nvSpPr>
        <p:spPr>
          <a:xfrm>
            <a:off x="3291840" y="4251960"/>
            <a:ext cx="3840480" cy="365760"/>
          </a:xfrm>
          <a:prstGeom prst="rect">
            <a:avLst/>
          </a:prstGeom>
          <a:noFill/>
        </p:spPr>
        <p:txBody>
          <a:bodyPr wrap="square" anchor="t" lIns="27432" rIns="27432" tIns="18288" bIns="18288">
            <a:spAutoFit/>
          </a:bodyPr>
          <a:lstStyle/>
          <a:p>
            <a:pPr algn="ctr"/>
            <a:r>
              <a:rPr sz="1400" b="0" i="1">
                <a:solidFill>
                  <a:srgbClr val="C0504D"/>
                </a:solidFill>
              </a:rPr>
              <a:t>(the old version is already gone)</a:t>
            </a:r>
          </a:p>
        </p:txBody>
      </p:sp>
      <p:sp>
        <p:nvSpPr>
          <p:cNvPr id="15" name="Rectangle 14"/>
          <p:cNvSpPr/>
          <p:nvPr/>
        </p:nvSpPr>
        <p:spPr>
          <a:xfrm>
            <a:off x="548640" y="507492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074920"/>
            <a:ext cx="7863840" cy="731520"/>
          </a:xfrm>
          <a:prstGeom prst="rect">
            <a:avLst/>
          </a:prstGeom>
          <a:noFill/>
        </p:spPr>
        <p:txBody>
          <a:bodyPr wrap="square" anchor="ctr" lIns="27432" rIns="27432" tIns="18288" bIns="18288">
            <a:spAutoFit/>
          </a:bodyPr>
          <a:lstStyle/>
          <a:p>
            <a:pPr algn="l"/>
            <a:r>
              <a:rPr sz="2100" b="1" i="0">
                <a:solidFill>
                  <a:srgbClr val="1F497D"/>
                </a:solidFill>
              </a:rPr>
              <a:t>/health keeps a broken build away from users.</a:t>
            </a:r>
          </a:p>
          <a:p>
            <a:pPr algn="l"/>
            <a:r>
              <a:rPr sz="2100" b="1" i="0">
                <a:solidFill>
                  <a:srgbClr val="1F497D"/>
                </a:solidFill>
              </a:rPr>
              <a:t>It does not bring the old one back — that's what staging is for.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What Production Platforms Add</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19</a:t>
            </a:r>
          </a:p>
        </p:txBody>
      </p:sp>
      <p:sp>
        <p:nvSpPr>
          <p:cNvPr id="4" name="TextBox 3"/>
          <p:cNvSpPr txBox="1"/>
          <p:nvPr/>
        </p:nvSpPr>
        <p:spPr>
          <a:xfrm>
            <a:off x="274320" y="1353312"/>
            <a:ext cx="2011680" cy="320040"/>
          </a:xfrm>
          <a:prstGeom prst="rect">
            <a:avLst/>
          </a:prstGeom>
          <a:noFill/>
        </p:spPr>
        <p:txBody>
          <a:bodyPr wrap="square" anchor="t" lIns="27432" rIns="27432" tIns="18288" bIns="18288">
            <a:spAutoFit/>
          </a:bodyPr>
          <a:lstStyle/>
          <a:p>
            <a:pPr algn="l"/>
            <a:r>
              <a:rPr sz="1500" b="1" i="0">
                <a:solidFill>
                  <a:srgbClr val="1F497D"/>
                </a:solidFill>
              </a:rPr>
              <a:t>Recreate</a:t>
            </a:r>
          </a:p>
        </p:txBody>
      </p:sp>
      <p:sp>
        <p:nvSpPr>
          <p:cNvPr id="5" name="TextBox 4"/>
          <p:cNvSpPr txBox="1"/>
          <p:nvPr/>
        </p:nvSpPr>
        <p:spPr>
          <a:xfrm>
            <a:off x="274320" y="1664208"/>
            <a:ext cx="2011680" cy="320040"/>
          </a:xfrm>
          <a:prstGeom prst="rect">
            <a:avLst/>
          </a:prstGeom>
          <a:noFill/>
        </p:spPr>
        <p:txBody>
          <a:bodyPr wrap="square" anchor="t" lIns="27432" rIns="27432" tIns="18288" bIns="18288">
            <a:spAutoFit/>
          </a:bodyPr>
          <a:lstStyle/>
          <a:p>
            <a:pPr algn="l"/>
            <a:r>
              <a:rPr sz="1200" b="0" i="1">
                <a:solidFill>
                  <a:srgbClr val="404040"/>
                </a:solidFill>
              </a:rPr>
              <a:t>ours (Compose)</a:t>
            </a:r>
          </a:p>
        </p:txBody>
      </p:sp>
      <p:cxnSp>
        <p:nvCxnSpPr>
          <p:cNvPr id="6" name="Connector 5"/>
          <p:cNvCxnSpPr/>
          <p:nvPr/>
        </p:nvCxnSpPr>
        <p:spPr>
          <a:xfrm>
            <a:off x="2331720" y="2029967"/>
            <a:ext cx="644652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331720" y="1371600"/>
            <a:ext cx="2423160" cy="292608"/>
          </a:xfrm>
          <a:prstGeom prst="rect">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v1 serving</a:t>
            </a:r>
          </a:p>
        </p:txBody>
      </p:sp>
      <p:sp>
        <p:nvSpPr>
          <p:cNvPr id="8" name="Rectangle 7"/>
          <p:cNvSpPr/>
          <p:nvPr/>
        </p:nvSpPr>
        <p:spPr>
          <a:xfrm>
            <a:off x="5440680" y="1371600"/>
            <a:ext cx="3337559" cy="2926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v2 serving</a:t>
            </a:r>
          </a:p>
        </p:txBody>
      </p:sp>
      <p:sp>
        <p:nvSpPr>
          <p:cNvPr id="9" name="Rectangle 8"/>
          <p:cNvSpPr/>
          <p:nvPr/>
        </p:nvSpPr>
        <p:spPr>
          <a:xfrm>
            <a:off x="4754880" y="1371600"/>
            <a:ext cx="685800" cy="292608"/>
          </a:xfrm>
          <a:prstGeom prst="rect">
            <a:avLst/>
          </a:prstGeom>
          <a:noFill/>
          <a:ln w="19050">
            <a:solidFill>
              <a:srgbClr val="C0504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a:solidFill>
                  <a:srgbClr val="C0504D"/>
                </a:solidFill>
              </a:rPr>
              <a:t>down</a:t>
            </a:r>
          </a:p>
        </p:txBody>
      </p:sp>
      <p:sp>
        <p:nvSpPr>
          <p:cNvPr id="10" name="TextBox 9"/>
          <p:cNvSpPr txBox="1"/>
          <p:nvPr/>
        </p:nvSpPr>
        <p:spPr>
          <a:xfrm>
            <a:off x="274320" y="2679192"/>
            <a:ext cx="2011680" cy="320040"/>
          </a:xfrm>
          <a:prstGeom prst="rect">
            <a:avLst/>
          </a:prstGeom>
          <a:noFill/>
        </p:spPr>
        <p:txBody>
          <a:bodyPr wrap="square" anchor="t" lIns="27432" rIns="27432" tIns="18288" bIns="18288">
            <a:spAutoFit/>
          </a:bodyPr>
          <a:lstStyle/>
          <a:p>
            <a:pPr algn="l"/>
            <a:r>
              <a:rPr sz="1500" b="1" i="0">
                <a:solidFill>
                  <a:srgbClr val="1F497D"/>
                </a:solidFill>
              </a:rPr>
              <a:t>Rolling / blue-green</a:t>
            </a:r>
          </a:p>
        </p:txBody>
      </p:sp>
      <p:sp>
        <p:nvSpPr>
          <p:cNvPr id="11" name="TextBox 10"/>
          <p:cNvSpPr txBox="1"/>
          <p:nvPr/>
        </p:nvSpPr>
        <p:spPr>
          <a:xfrm>
            <a:off x="274320" y="2990088"/>
            <a:ext cx="2011680" cy="320040"/>
          </a:xfrm>
          <a:prstGeom prst="rect">
            <a:avLst/>
          </a:prstGeom>
          <a:noFill/>
        </p:spPr>
        <p:txBody>
          <a:bodyPr wrap="square" anchor="t" lIns="27432" rIns="27432" tIns="18288" bIns="18288">
            <a:spAutoFit/>
          </a:bodyPr>
          <a:lstStyle/>
          <a:p>
            <a:pPr algn="l"/>
            <a:r>
              <a:rPr sz="1200" b="0" i="1">
                <a:solidFill>
                  <a:srgbClr val="404040"/>
                </a:solidFill>
              </a:rPr>
              <a:t>v2 is healthy</a:t>
            </a:r>
          </a:p>
        </p:txBody>
      </p:sp>
      <p:cxnSp>
        <p:nvCxnSpPr>
          <p:cNvPr id="12" name="Connector 11"/>
          <p:cNvCxnSpPr/>
          <p:nvPr/>
        </p:nvCxnSpPr>
        <p:spPr>
          <a:xfrm>
            <a:off x="2331720" y="3355848"/>
            <a:ext cx="644652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331720" y="2697480"/>
            <a:ext cx="3703320" cy="292608"/>
          </a:xfrm>
          <a:prstGeom prst="rect">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v1 serving</a:t>
            </a:r>
          </a:p>
        </p:txBody>
      </p:sp>
      <p:sp>
        <p:nvSpPr>
          <p:cNvPr id="14" name="Rectangle 13"/>
          <p:cNvSpPr/>
          <p:nvPr/>
        </p:nvSpPr>
        <p:spPr>
          <a:xfrm>
            <a:off x="4572000" y="3044952"/>
            <a:ext cx="1463039" cy="292608"/>
          </a:xfrm>
          <a:prstGeom prst="rect">
            <a:avLst/>
          </a:prstGeom>
          <a:solidFill>
            <a:srgbClr val="95B3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v2 warming up</a:t>
            </a:r>
          </a:p>
        </p:txBody>
      </p:sp>
      <p:sp>
        <p:nvSpPr>
          <p:cNvPr id="15" name="Rectangle 14"/>
          <p:cNvSpPr/>
          <p:nvPr/>
        </p:nvSpPr>
        <p:spPr>
          <a:xfrm>
            <a:off x="6035040" y="3044952"/>
            <a:ext cx="2743200" cy="2926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v2 healthy, serving</a:t>
            </a:r>
          </a:p>
        </p:txBody>
      </p:sp>
      <p:cxnSp>
        <p:nvCxnSpPr>
          <p:cNvPr id="16" name="Connector 15"/>
          <p:cNvCxnSpPr/>
          <p:nvPr/>
        </p:nvCxnSpPr>
        <p:spPr>
          <a:xfrm>
            <a:off x="6035040" y="2606040"/>
            <a:ext cx="0" cy="822960"/>
          </a:xfrm>
          <a:prstGeom prst="line">
            <a:avLst/>
          </a:prstGeom>
          <a:ln w="19050">
            <a:solidFill>
              <a:srgbClr val="1F497D"/>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80760" y="2377440"/>
            <a:ext cx="2651760" cy="274320"/>
          </a:xfrm>
          <a:prstGeom prst="rect">
            <a:avLst/>
          </a:prstGeom>
          <a:noFill/>
        </p:spPr>
        <p:txBody>
          <a:bodyPr wrap="square" anchor="t" lIns="27432" rIns="27432" tIns="18288" bIns="18288">
            <a:spAutoFit/>
          </a:bodyPr>
          <a:lstStyle/>
          <a:p>
            <a:pPr algn="l"/>
            <a:r>
              <a:rPr sz="1200" b="0" i="1">
                <a:solidFill>
                  <a:srgbClr val="1F497D"/>
                </a:solidFill>
              </a:rPr>
              <a:t>traffic moves here</a:t>
            </a:r>
          </a:p>
        </p:txBody>
      </p:sp>
      <p:sp>
        <p:nvSpPr>
          <p:cNvPr id="18" name="TextBox 17"/>
          <p:cNvSpPr txBox="1"/>
          <p:nvPr/>
        </p:nvSpPr>
        <p:spPr>
          <a:xfrm>
            <a:off x="274320" y="4005072"/>
            <a:ext cx="2011680" cy="320040"/>
          </a:xfrm>
          <a:prstGeom prst="rect">
            <a:avLst/>
          </a:prstGeom>
          <a:noFill/>
        </p:spPr>
        <p:txBody>
          <a:bodyPr wrap="square" anchor="t" lIns="27432" rIns="27432" tIns="18288" bIns="18288">
            <a:spAutoFit/>
          </a:bodyPr>
          <a:lstStyle/>
          <a:p>
            <a:pPr algn="l"/>
            <a:r>
              <a:rPr sz="1500" b="1" i="0">
                <a:solidFill>
                  <a:srgbClr val="1F497D"/>
                </a:solidFill>
              </a:rPr>
              <a:t>Rolling / blue-green</a:t>
            </a:r>
          </a:p>
        </p:txBody>
      </p:sp>
      <p:sp>
        <p:nvSpPr>
          <p:cNvPr id="19" name="TextBox 18"/>
          <p:cNvSpPr txBox="1"/>
          <p:nvPr/>
        </p:nvSpPr>
        <p:spPr>
          <a:xfrm>
            <a:off x="274320" y="4315968"/>
            <a:ext cx="2011680" cy="320040"/>
          </a:xfrm>
          <a:prstGeom prst="rect">
            <a:avLst/>
          </a:prstGeom>
          <a:noFill/>
        </p:spPr>
        <p:txBody>
          <a:bodyPr wrap="square" anchor="t" lIns="27432" rIns="27432" tIns="18288" bIns="18288">
            <a:spAutoFit/>
          </a:bodyPr>
          <a:lstStyle/>
          <a:p>
            <a:pPr algn="l"/>
            <a:r>
              <a:rPr sz="1200" b="0" i="1">
                <a:solidFill>
                  <a:srgbClr val="404040"/>
                </a:solidFill>
              </a:rPr>
              <a:t>v2 is broken</a:t>
            </a:r>
          </a:p>
        </p:txBody>
      </p:sp>
      <p:cxnSp>
        <p:nvCxnSpPr>
          <p:cNvPr id="20" name="Connector 19"/>
          <p:cNvCxnSpPr/>
          <p:nvPr/>
        </p:nvCxnSpPr>
        <p:spPr>
          <a:xfrm>
            <a:off x="2331720" y="4681728"/>
            <a:ext cx="644652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2331720" y="4023360"/>
            <a:ext cx="6446520" cy="292608"/>
          </a:xfrm>
          <a:prstGeom prst="rect">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v1 keeps serving — users never notice</a:t>
            </a:r>
          </a:p>
        </p:txBody>
      </p:sp>
      <p:sp>
        <p:nvSpPr>
          <p:cNvPr id="22" name="Rectangle 21"/>
          <p:cNvSpPr/>
          <p:nvPr/>
        </p:nvSpPr>
        <p:spPr>
          <a:xfrm>
            <a:off x="4572000" y="4370832"/>
            <a:ext cx="1737360" cy="29260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v2 never healthy ✗</a:t>
            </a:r>
          </a:p>
        </p:txBody>
      </p:sp>
      <p:sp>
        <p:nvSpPr>
          <p:cNvPr id="23" name="TextBox 22"/>
          <p:cNvSpPr txBox="1"/>
          <p:nvPr/>
        </p:nvSpPr>
        <p:spPr>
          <a:xfrm>
            <a:off x="6400800" y="4370832"/>
            <a:ext cx="2377440" cy="292608"/>
          </a:xfrm>
          <a:prstGeom prst="rect">
            <a:avLst/>
          </a:prstGeom>
          <a:noFill/>
        </p:spPr>
        <p:txBody>
          <a:bodyPr wrap="square" anchor="t" lIns="27432" rIns="27432" tIns="18288" bIns="18288">
            <a:spAutoFit/>
          </a:bodyPr>
          <a:lstStyle/>
          <a:p>
            <a:pPr algn="l"/>
            <a:r>
              <a:rPr sz="1200" b="0" i="1">
                <a:solidFill>
                  <a:srgbClr val="C0504D"/>
                </a:solidFill>
              </a:rPr>
              <a:t>→ discarded</a:t>
            </a:r>
          </a:p>
        </p:txBody>
      </p:sp>
      <p:sp>
        <p:nvSpPr>
          <p:cNvPr id="24" name="TextBox 23"/>
          <p:cNvSpPr txBox="1"/>
          <p:nvPr/>
        </p:nvSpPr>
        <p:spPr>
          <a:xfrm>
            <a:off x="2331720" y="4754880"/>
            <a:ext cx="6446520" cy="274320"/>
          </a:xfrm>
          <a:prstGeom prst="rect">
            <a:avLst/>
          </a:prstGeom>
          <a:noFill/>
        </p:spPr>
        <p:txBody>
          <a:bodyPr wrap="square" anchor="t" lIns="27432" rIns="27432" tIns="18288" bIns="18288">
            <a:spAutoFit/>
          </a:bodyPr>
          <a:lstStyle/>
          <a:p>
            <a:pPr algn="r"/>
            <a:r>
              <a:rPr sz="1200" b="0" i="0">
                <a:solidFill>
                  <a:srgbClr val="7F7F7F"/>
                </a:solidFill>
              </a:rPr>
              <a:t>time →</a:t>
            </a:r>
          </a:p>
        </p:txBody>
      </p:sp>
      <p:sp>
        <p:nvSpPr>
          <p:cNvPr id="25" name="Rectangle 24"/>
          <p:cNvSpPr/>
          <p:nvPr/>
        </p:nvSpPr>
        <p:spPr>
          <a:xfrm>
            <a:off x="548640" y="52120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212080"/>
            <a:ext cx="7863840" cy="731520"/>
          </a:xfrm>
          <a:prstGeom prst="rect">
            <a:avLst/>
          </a:prstGeom>
          <a:noFill/>
        </p:spPr>
        <p:txBody>
          <a:bodyPr wrap="square" anchor="ctr" lIns="27432" rIns="27432" tIns="18288" bIns="18288">
            <a:spAutoFit/>
          </a:bodyPr>
          <a:lstStyle/>
          <a:p>
            <a:pPr algn="l"/>
            <a:r>
              <a:rPr sz="2100" b="1" i="0">
                <a:solidFill>
                  <a:srgbClr val="1F497D"/>
                </a:solidFill>
              </a:rPr>
              <a:t>Kubernetes, ECS and Cloud Run all work this way —</a:t>
            </a:r>
          </a:p>
          <a:p>
            <a:pPr algn="l"/>
            <a:r>
              <a:rPr sz="2100" b="1" i="0">
                <a:solidFill>
                  <a:srgbClr val="1F497D"/>
                </a:solidFill>
              </a:rPr>
              <a:t>and they all ask for the same /health endpoint.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Health Checks Earn Their Keep</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A container that starts is not an app that works</a:t>
            </a:r>
          </a:p>
          <a:p>
            <a:pPr>
              <a:spcBef>
                <a:spcPts val="1000"/>
              </a:spcBef>
            </a:pPr>
            <a:r>
              <a:rPr sz="2400"/>
              <a:t>/health decides whether your container gets traffic</a:t>
            </a:r>
          </a:p>
          <a:p>
            <a:pPr>
              <a:spcBef>
                <a:spcPts val="1000"/>
              </a:spcBef>
            </a:pPr>
            <a:r>
              <a:rPr sz="2400"/>
              <a:t>Make it check what would actually break:</a:t>
            </a:r>
          </a:p>
          <a:p>
            <a:pPr lvl="1">
              <a:spcBef>
                <a:spcPts val="200"/>
              </a:spcBef>
            </a:pPr>
            <a:r>
              <a:rPr sz="2000">
                <a:solidFill>
                  <a:srgbClr val="404040"/>
                </a:solidFill>
              </a:rPr>
              <a:t>can I reach the database?</a:t>
            </a:r>
          </a:p>
          <a:p>
            <a:pPr lvl="1">
              <a:spcBef>
                <a:spcPts val="200"/>
              </a:spcBef>
            </a:pPr>
            <a:r>
              <a:rPr sz="2000">
                <a:solidFill>
                  <a:srgbClr val="404040"/>
                </a:solidFill>
              </a:rPr>
              <a:t>can I reach the service I depend on?</a:t>
            </a:r>
          </a:p>
          <a:p>
            <a:pPr>
              <a:spcBef>
                <a:spcPts val="1000"/>
              </a:spcBef>
            </a:pPr>
            <a:r>
              <a:rPr sz="2400"/>
              <a:t>Return non-200 and Traefik won't send users to it</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A /health that always says OK is a gate that is always open.</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Three Places Things Get Tested</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Before you push — ./smoke-test.sh on your laptop, seconds</a:t>
            </a:r>
          </a:p>
          <a:p>
            <a:pPr>
              <a:spcBef>
                <a:spcPts val="1000"/>
              </a:spcBef>
            </a:pPr>
            <a:r>
              <a:rPr sz="2400"/>
              <a:t>In CI — unit tests on every push, no infrastructure needed</a:t>
            </a:r>
          </a:p>
          <a:p>
            <a:pPr>
              <a:spcBef>
                <a:spcPts val="1000"/>
              </a:spcBef>
            </a:pPr>
            <a:r>
              <a:rPr sz="2400"/>
              <a:t>After deploy — ./smoke-test.sh &lt;staging URL&gt; against the real thing</a:t>
            </a:r>
          </a:p>
          <a:p>
            <a:pPr>
              <a:spcBef>
                <a:spcPts val="1000"/>
              </a:spcBef>
            </a:pPr>
            <a:r>
              <a:rPr sz="2400"/>
              <a:t>Each catches what the previous one cannot</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None of them is optional if you want to sleep.</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When It Breaks</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Tests red → nothing deployed. Fix and push again.</a:t>
            </a:r>
          </a:p>
          <a:p>
            <a:pPr>
              <a:spcBef>
                <a:spcPts val="1000"/>
              </a:spcBef>
            </a:pPr>
            <a:r>
              <a:rPr sz="2400"/>
              <a:t>Staging deploy unhealthy → staging is down, production is untouched</a:t>
            </a:r>
          </a:p>
          <a:p>
            <a:pPr lvl="1">
              <a:spcBef>
                <a:spcPts val="200"/>
              </a:spcBef>
            </a:pPr>
            <a:r>
              <a:rPr sz="2000">
                <a:solidFill>
                  <a:srgbClr val="404040"/>
                </a:solidFill>
              </a:rPr>
              <a:t>this is the system working — you found it before users did</a:t>
            </a:r>
          </a:p>
          <a:p>
            <a:pPr>
              <a:spcBef>
                <a:spcPts val="1000"/>
              </a:spcBef>
            </a:pPr>
            <a:r>
              <a:rPr sz="2400"/>
              <a:t>Bad code already in production → revert the commit, push</a:t>
            </a:r>
          </a:p>
          <a:p>
            <a:pPr lvl="1">
              <a:spcBef>
                <a:spcPts val="200"/>
              </a:spcBef>
            </a:pPr>
            <a:r>
              <a:rPr sz="2000">
                <a:solidFill>
                  <a:srgbClr val="404040"/>
                </a:solidFill>
              </a:rPr>
              <a:t>the pipeline that shipped it also un-ships it</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Every deploy traces to a commit, and every commit to a person.</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Build Once, Promote</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23</a:t>
            </a:r>
          </a:p>
        </p:txBody>
      </p:sp>
      <p:sp>
        <p:nvSpPr>
          <p:cNvPr id="4" name="TextBox 3"/>
          <p:cNvSpPr txBox="1"/>
          <p:nvPr/>
        </p:nvSpPr>
        <p:spPr>
          <a:xfrm>
            <a:off x="274320" y="1188720"/>
            <a:ext cx="3657600" cy="320040"/>
          </a:xfrm>
          <a:prstGeom prst="rect">
            <a:avLst/>
          </a:prstGeom>
          <a:noFill/>
        </p:spPr>
        <p:txBody>
          <a:bodyPr wrap="square" anchor="t" lIns="27432" rIns="27432" tIns="18288" bIns="18288">
            <a:spAutoFit/>
          </a:bodyPr>
          <a:lstStyle/>
          <a:p>
            <a:pPr algn="l"/>
            <a:r>
              <a:rPr sz="1500" b="1" i="0">
                <a:solidFill>
                  <a:srgbClr val="1F497D"/>
                </a:solidFill>
              </a:rPr>
              <a:t>OURS — build per environment</a:t>
            </a:r>
          </a:p>
        </p:txBody>
      </p:sp>
      <p:sp>
        <p:nvSpPr>
          <p:cNvPr id="5" name="Rounded Rectangle 4"/>
          <p:cNvSpPr/>
          <p:nvPr/>
        </p:nvSpPr>
        <p:spPr>
          <a:xfrm>
            <a:off x="274320" y="1572768"/>
            <a:ext cx="1737360" cy="457200"/>
          </a:xfrm>
          <a:prstGeom prst="roundRect">
            <a:avLst>
              <a:gd name="adj" fmla="val 16000"/>
            </a:avLst>
          </a:prstGeom>
          <a:solidFill>
            <a:srgbClr val="FFFFFF"/>
          </a:solidFill>
          <a:ln w="19050">
            <a:solidFill>
              <a:srgbClr val="E37B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262626"/>
                </a:solidFill>
              </a:rPr>
              <a:t>staging branch</a:t>
            </a:r>
          </a:p>
        </p:txBody>
      </p:sp>
      <p:sp>
        <p:nvSpPr>
          <p:cNvPr id="6" name="Right Arrow 5"/>
          <p:cNvSpPr/>
          <p:nvPr/>
        </p:nvSpPr>
        <p:spPr>
          <a:xfrm>
            <a:off x="2057400" y="1682495"/>
            <a:ext cx="32004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423160" y="1572768"/>
            <a:ext cx="1920240" cy="457200"/>
          </a:xfrm>
          <a:prstGeom prst="roundRect">
            <a:avLst>
              <a:gd name="adj" fmla="val 16000"/>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262626"/>
                </a:solidFill>
              </a:rPr>
              <a:t>Coolify builds</a:t>
            </a:r>
          </a:p>
        </p:txBody>
      </p:sp>
      <p:sp>
        <p:nvSpPr>
          <p:cNvPr id="8" name="Right Arrow 7"/>
          <p:cNvSpPr/>
          <p:nvPr/>
        </p:nvSpPr>
        <p:spPr>
          <a:xfrm>
            <a:off x="4389120" y="1682495"/>
            <a:ext cx="32004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54880" y="1572768"/>
            <a:ext cx="1280160" cy="457200"/>
          </a:xfrm>
          <a:prstGeom prst="roundRect">
            <a:avLst>
              <a:gd name="adj" fmla="val 16000"/>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262626"/>
                </a:solidFill>
              </a:rPr>
              <a:t>image A</a:t>
            </a:r>
          </a:p>
        </p:txBody>
      </p:sp>
      <p:sp>
        <p:nvSpPr>
          <p:cNvPr id="10" name="Right Arrow 9"/>
          <p:cNvSpPr/>
          <p:nvPr/>
        </p:nvSpPr>
        <p:spPr>
          <a:xfrm>
            <a:off x="6080760" y="1682495"/>
            <a:ext cx="32004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46520" y="1572768"/>
            <a:ext cx="1737360" cy="457200"/>
          </a:xfrm>
          <a:prstGeom prst="roundRect">
            <a:avLst>
              <a:gd name="adj" fmla="val 16000"/>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staging</a:t>
            </a:r>
          </a:p>
        </p:txBody>
      </p:sp>
      <p:sp>
        <p:nvSpPr>
          <p:cNvPr id="12" name="Rounded Rectangle 11"/>
          <p:cNvSpPr/>
          <p:nvPr/>
        </p:nvSpPr>
        <p:spPr>
          <a:xfrm>
            <a:off x="274320" y="2139696"/>
            <a:ext cx="173736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262626"/>
                </a:solidFill>
              </a:rPr>
              <a:t>main branch</a:t>
            </a:r>
          </a:p>
        </p:txBody>
      </p:sp>
      <p:sp>
        <p:nvSpPr>
          <p:cNvPr id="13" name="Right Arrow 12"/>
          <p:cNvSpPr/>
          <p:nvPr/>
        </p:nvSpPr>
        <p:spPr>
          <a:xfrm>
            <a:off x="2057400" y="2249424"/>
            <a:ext cx="32004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423160" y="2139696"/>
            <a:ext cx="1920240" cy="457200"/>
          </a:xfrm>
          <a:prstGeom prst="roundRect">
            <a:avLst>
              <a:gd name="adj" fmla="val 16000"/>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262626"/>
                </a:solidFill>
              </a:rPr>
              <a:t>Coolify builds</a:t>
            </a:r>
          </a:p>
        </p:txBody>
      </p:sp>
      <p:sp>
        <p:nvSpPr>
          <p:cNvPr id="15" name="Right Arrow 14"/>
          <p:cNvSpPr/>
          <p:nvPr/>
        </p:nvSpPr>
        <p:spPr>
          <a:xfrm>
            <a:off x="4389120" y="2249424"/>
            <a:ext cx="32004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54880" y="2139696"/>
            <a:ext cx="1280160" cy="457200"/>
          </a:xfrm>
          <a:prstGeom prst="roundRect">
            <a:avLst>
              <a:gd name="adj" fmla="val 16000"/>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262626"/>
                </a:solidFill>
              </a:rPr>
              <a:t>image B</a:t>
            </a:r>
          </a:p>
        </p:txBody>
      </p:sp>
      <p:sp>
        <p:nvSpPr>
          <p:cNvPr id="17" name="Right Arrow 16"/>
          <p:cNvSpPr/>
          <p:nvPr/>
        </p:nvSpPr>
        <p:spPr>
          <a:xfrm>
            <a:off x="6080760" y="2249424"/>
            <a:ext cx="32004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46520" y="2139696"/>
            <a:ext cx="1737360" cy="457200"/>
          </a:xfrm>
          <a:prstGeom prst="roundRect">
            <a:avLst>
              <a:gd name="adj" fmla="val 16000"/>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production</a:t>
            </a:r>
          </a:p>
        </p:txBody>
      </p:sp>
      <p:sp>
        <p:nvSpPr>
          <p:cNvPr id="19" name="TextBox 18"/>
          <p:cNvSpPr txBox="1"/>
          <p:nvPr/>
        </p:nvSpPr>
        <p:spPr>
          <a:xfrm>
            <a:off x="274320" y="2697480"/>
            <a:ext cx="8595360" cy="320040"/>
          </a:xfrm>
          <a:prstGeom prst="rect">
            <a:avLst/>
          </a:prstGeom>
          <a:noFill/>
        </p:spPr>
        <p:txBody>
          <a:bodyPr wrap="square" anchor="t" lIns="27432" rIns="27432" tIns="18288" bIns="18288">
            <a:spAutoFit/>
          </a:bodyPr>
          <a:lstStyle/>
          <a:p>
            <a:pPr algn="l"/>
            <a:r>
              <a:rPr sz="1300" b="0" i="1">
                <a:solidFill>
                  <a:srgbClr val="404040"/>
                </a:solidFill>
              </a:rPr>
              <a:t>Same code, two separate builds. Production runs an image staging never saw.</a:t>
            </a:r>
          </a:p>
        </p:txBody>
      </p:sp>
      <p:sp>
        <p:nvSpPr>
          <p:cNvPr id="20" name="TextBox 19"/>
          <p:cNvSpPr txBox="1"/>
          <p:nvPr/>
        </p:nvSpPr>
        <p:spPr>
          <a:xfrm>
            <a:off x="274320" y="3108960"/>
            <a:ext cx="4572000" cy="320040"/>
          </a:xfrm>
          <a:prstGeom prst="rect">
            <a:avLst/>
          </a:prstGeom>
          <a:noFill/>
        </p:spPr>
        <p:txBody>
          <a:bodyPr wrap="square" anchor="t" lIns="27432" rIns="27432" tIns="18288" bIns="18288">
            <a:spAutoFit/>
          </a:bodyPr>
          <a:lstStyle/>
          <a:p>
            <a:pPr algn="l"/>
            <a:r>
              <a:rPr sz="1500" b="1" i="0">
                <a:solidFill>
                  <a:srgbClr val="1F497D"/>
                </a:solidFill>
              </a:rPr>
              <a:t>INDUSTRY — build once, promote the same image</a:t>
            </a:r>
          </a:p>
        </p:txBody>
      </p:sp>
      <p:sp>
        <p:nvSpPr>
          <p:cNvPr id="21" name="Rounded Rectangle 20"/>
          <p:cNvSpPr/>
          <p:nvPr/>
        </p:nvSpPr>
        <p:spPr>
          <a:xfrm>
            <a:off x="274320" y="3611880"/>
            <a:ext cx="1371600" cy="548640"/>
          </a:xfrm>
          <a:prstGeom prst="roundRect">
            <a:avLst>
              <a:gd name="adj" fmla="val 13333"/>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262626"/>
                </a:solidFill>
              </a:rPr>
              <a:t>commit</a:t>
            </a:r>
          </a:p>
          <a:p>
            <a:pPr algn="ctr"/>
            <a:r>
              <a:rPr sz="1300" b="0">
                <a:solidFill>
                  <a:srgbClr val="262626"/>
                </a:solidFill>
              </a:rPr>
              <a:t>3f2a9c1</a:t>
            </a:r>
          </a:p>
        </p:txBody>
      </p:sp>
      <p:sp>
        <p:nvSpPr>
          <p:cNvPr id="22" name="Right Arrow 21"/>
          <p:cNvSpPr/>
          <p:nvPr/>
        </p:nvSpPr>
        <p:spPr>
          <a:xfrm>
            <a:off x="1691640" y="3767328"/>
            <a:ext cx="27432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011680" y="3611880"/>
            <a:ext cx="1463040" cy="548640"/>
          </a:xfrm>
          <a:prstGeom prst="roundRect">
            <a:avLst>
              <a:gd name="adj" fmla="val 13333"/>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CI builds</a:t>
            </a:r>
          </a:p>
          <a:p>
            <a:pPr algn="ctr"/>
            <a:r>
              <a:rPr sz="1300" b="0">
                <a:solidFill>
                  <a:srgbClr val="FFFFFF"/>
                </a:solidFill>
              </a:rPr>
              <a:t>once</a:t>
            </a:r>
          </a:p>
        </p:txBody>
      </p:sp>
      <p:sp>
        <p:nvSpPr>
          <p:cNvPr id="24" name="Right Arrow 23"/>
          <p:cNvSpPr/>
          <p:nvPr/>
        </p:nvSpPr>
        <p:spPr>
          <a:xfrm>
            <a:off x="3520440" y="3767328"/>
            <a:ext cx="27432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840480" y="3520440"/>
            <a:ext cx="2103120" cy="731520"/>
          </a:xfrm>
          <a:prstGeom prst="roundRect">
            <a:avLst>
              <a:gd name="adj" fmla="val 10000"/>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262626"/>
                </a:solidFill>
              </a:rPr>
              <a:t>registry</a:t>
            </a:r>
          </a:p>
          <a:p>
            <a:pPr algn="ctr"/>
            <a:r>
              <a:rPr sz="1200" b="1">
                <a:solidFill>
                  <a:srgbClr val="262626"/>
                </a:solidFill>
              </a:rPr>
              <a:t>ghcr.io/…/app:3f2a9c1</a:t>
            </a:r>
          </a:p>
        </p:txBody>
      </p:sp>
      <p:cxnSp>
        <p:nvCxnSpPr>
          <p:cNvPr id="26" name="Connector 25"/>
          <p:cNvCxnSpPr/>
          <p:nvPr/>
        </p:nvCxnSpPr>
        <p:spPr>
          <a:xfrm flipV="1">
            <a:off x="5943600" y="3429000"/>
            <a:ext cx="502920" cy="320039"/>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43600" y="4023360"/>
            <a:ext cx="502920" cy="320040"/>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492240" y="3200400"/>
            <a:ext cx="2377440" cy="457200"/>
          </a:xfrm>
          <a:prstGeom prst="roundRect">
            <a:avLst>
              <a:gd name="adj" fmla="val 16000"/>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staging runs :3f2a9c1</a:t>
            </a:r>
          </a:p>
        </p:txBody>
      </p:sp>
      <p:sp>
        <p:nvSpPr>
          <p:cNvPr id="29" name="Rounded Rectangle 28"/>
          <p:cNvSpPr/>
          <p:nvPr/>
        </p:nvSpPr>
        <p:spPr>
          <a:xfrm>
            <a:off x="6492240" y="4114800"/>
            <a:ext cx="2377440" cy="457200"/>
          </a:xfrm>
          <a:prstGeom prst="roundRect">
            <a:avLst>
              <a:gd name="adj" fmla="val 16000"/>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prod runs :3f2a9c1</a:t>
            </a:r>
          </a:p>
        </p:txBody>
      </p:sp>
      <p:sp>
        <p:nvSpPr>
          <p:cNvPr id="30" name="TextBox 29"/>
          <p:cNvSpPr txBox="1"/>
          <p:nvPr/>
        </p:nvSpPr>
        <p:spPr>
          <a:xfrm>
            <a:off x="6492240" y="3675888"/>
            <a:ext cx="2377440" cy="411480"/>
          </a:xfrm>
          <a:prstGeom prst="rect">
            <a:avLst/>
          </a:prstGeom>
          <a:noFill/>
        </p:spPr>
        <p:txBody>
          <a:bodyPr wrap="square" anchor="t" lIns="27432" rIns="27432" tIns="18288" bIns="18288">
            <a:spAutoFit/>
          </a:bodyPr>
          <a:lstStyle/>
          <a:p>
            <a:pPr algn="ctr"/>
            <a:r>
              <a:rPr sz="1100" b="0" i="1">
                <a:solidFill>
                  <a:srgbClr val="404040"/>
                </a:solidFill>
              </a:rPr>
              <a:t>promote when staging passes</a:t>
            </a:r>
          </a:p>
        </p:txBody>
      </p:sp>
      <p:sp>
        <p:nvSpPr>
          <p:cNvPr id="31" name="Rounded Rectangle 30"/>
          <p:cNvSpPr/>
          <p:nvPr/>
        </p:nvSpPr>
        <p:spPr>
          <a:xfrm>
            <a:off x="274320" y="4709160"/>
            <a:ext cx="8595360" cy="566928"/>
          </a:xfrm>
          <a:prstGeom prst="roundRect">
            <a:avLst>
              <a:gd name="adj" fmla="val 1290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1300" b="0">
                <a:solidFill>
                  <a:srgbClr val="262626"/>
                </a:solidFill>
              </a:rPr>
              <a:t>Why we skip it: the registry is one more thing to build and run, and CI and the cluster</a:t>
            </a:r>
          </a:p>
          <a:p>
            <a:pPr algn="l"/>
            <a:r>
              <a:rPr sz="1300" b="0">
                <a:solidFill>
                  <a:srgbClr val="262626"/>
                </a:solidFill>
              </a:rPr>
              <a:t>both need public networking to reach it. Our cluster sits behind the CS VPN.</a:t>
            </a:r>
          </a:p>
        </p:txBody>
      </p:sp>
      <p:sp>
        <p:nvSpPr>
          <p:cNvPr id="32" name="Rectangle 31"/>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What you tested is exactly what ships —</a:t>
            </a:r>
          </a:p>
          <a:p>
            <a:pPr algn="l"/>
            <a:r>
              <a:rPr sz="2100" b="1" i="0">
                <a:solidFill>
                  <a:srgbClr val="1F497D"/>
                </a:solidFill>
              </a:rPr>
              <a:t>the default nearly everywhere outside this class.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1097280" cy="73152"/>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03120"/>
            <a:ext cx="7680960" cy="1097280"/>
          </a:xfrm>
          <a:prstGeom prst="rect">
            <a:avLst/>
          </a:prstGeom>
          <a:noFill/>
        </p:spPr>
        <p:txBody>
          <a:bodyPr wrap="square" anchor="b" lIns="27432" rIns="27432" tIns="18288" bIns="18288">
            <a:spAutoFit/>
          </a:bodyPr>
          <a:lstStyle/>
          <a:p>
            <a:pPr algn="l"/>
            <a:r>
              <a:rPr sz="4000" b="1" i="0">
                <a:solidFill>
                  <a:srgbClr val="FFFFFF"/>
                </a:solidFill>
              </a:rPr>
              <a:t>Infrastructure as Code</a:t>
            </a:r>
          </a:p>
        </p:txBody>
      </p:sp>
      <p:sp>
        <p:nvSpPr>
          <p:cNvPr id="5" name="TextBox 4"/>
          <p:cNvSpPr txBox="1"/>
          <p:nvPr/>
        </p:nvSpPr>
        <p:spPr>
          <a:xfrm>
            <a:off x="731520" y="3474720"/>
            <a:ext cx="7680960" cy="731520"/>
          </a:xfrm>
          <a:prstGeom prst="rect">
            <a:avLst/>
          </a:prstGeom>
          <a:noFill/>
        </p:spPr>
        <p:txBody>
          <a:bodyPr wrap="square" anchor="t" lIns="27432" rIns="27432" tIns="18288" bIns="18288">
            <a:spAutoFit/>
          </a:bodyPr>
          <a:lstStyle/>
          <a:p>
            <a:pPr algn="l"/>
            <a:r>
              <a:rPr sz="2200" b="0" i="0">
                <a:solidFill>
                  <a:srgbClr val="D6E3F2"/>
                </a:solidFill>
              </a:rPr>
              <a:t>The part where you stop clicking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Why Infrastructure as Code</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200"/>
              <a:t>Before IaC, each app was set up by hand, in a web UI:</a:t>
            </a:r>
          </a:p>
          <a:p>
            <a:pPr lvl="1">
              <a:spcBef>
                <a:spcPts val="200"/>
              </a:spcBef>
            </a:pPr>
            <a:r>
              <a:rPr sz="1800">
                <a:solidFill>
                  <a:srgbClr val="404040"/>
                </a:solidFill>
              </a:rPr>
              <a:t>a project, two environments, two apps, domains, three secrets</a:t>
            </a:r>
          </a:p>
          <a:p>
            <a:pPr lvl="1">
              <a:spcBef>
                <a:spcPts val="200"/>
              </a:spcBef>
            </a:pPr>
            <a:r>
              <a:rPr sz="1800">
                <a:solidFill>
                  <a:srgbClr val="404040"/>
                </a:solidFill>
              </a:rPr>
              <a:t>about thirty clicks — now do it for thirty servers, every semester</a:t>
            </a:r>
          </a:p>
          <a:p>
            <a:pPr>
              <a:spcBef>
                <a:spcPts val="1000"/>
              </a:spcBef>
            </a:pPr>
            <a:r>
              <a:rPr sz="2200"/>
              <a:t>Infrastructure as Code: define it in files, not clicks</a:t>
            </a:r>
          </a:p>
          <a:p>
            <a:pPr lvl="1">
              <a:spcBef>
                <a:spcPts val="200"/>
              </a:spcBef>
            </a:pPr>
            <a:r>
              <a:rPr sz="1800">
                <a:solidFill>
                  <a:srgbClr val="404040"/>
                </a:solidFill>
              </a:rPr>
              <a:t>reproducible · reviewable · recoverable · self-documenting · scalable</a:t>
            </a:r>
          </a:p>
          <a:p>
            <a:pPr>
              <a:spcBef>
                <a:spcPts val="1000"/>
              </a:spcBef>
            </a:pPr>
            <a:r>
              <a:rPr sz="2200"/>
              <a:t>Same tools you already use for code: git, pull requests, diffs</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If it isn't in a file, it doesn't exist —</a:t>
            </a:r>
          </a:p>
          <a:p>
            <a:pPr algn="l"/>
            <a:r>
              <a:rPr sz="2100" b="1" i="0">
                <a:solidFill>
                  <a:srgbClr val="1F497D"/>
                </a:solidFill>
              </a:rPr>
              <a:t>it just happens to be running.</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Declarative, and Terraform</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26</a:t>
            </a:r>
          </a:p>
        </p:txBody>
      </p:sp>
      <p:sp>
        <p:nvSpPr>
          <p:cNvPr id="4" name="Rounded Rectangle 3"/>
          <p:cNvSpPr/>
          <p:nvPr/>
        </p:nvSpPr>
        <p:spPr>
          <a:xfrm>
            <a:off x="274320" y="1280160"/>
            <a:ext cx="4206240" cy="502920"/>
          </a:xfrm>
          <a:prstGeom prst="roundRect">
            <a:avLst>
              <a:gd name="adj" fmla="val 14545"/>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FFFFFF"/>
                </a:solidFill>
              </a:rPr>
              <a:t>IMPERATIVE — a script</a:t>
            </a:r>
          </a:p>
        </p:txBody>
      </p:sp>
      <p:sp>
        <p:nvSpPr>
          <p:cNvPr id="5" name="Rounded Rectangle 4"/>
          <p:cNvSpPr/>
          <p:nvPr/>
        </p:nvSpPr>
        <p:spPr>
          <a:xfrm>
            <a:off x="274320" y="1828800"/>
            <a:ext cx="4206240" cy="1600200"/>
          </a:xfrm>
          <a:prstGeom prst="roundRect">
            <a:avLst>
              <a:gd name="adj" fmla="val 4571"/>
            </a:avLst>
          </a:prstGeom>
          <a:solidFill>
            <a:srgbClr val="FFFFFF"/>
          </a:solidFill>
          <a:ln w="254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6" name="TextBox 5"/>
          <p:cNvSpPr txBox="1"/>
          <p:nvPr/>
        </p:nvSpPr>
        <p:spPr>
          <a:xfrm>
            <a:off x="411479" y="1920240"/>
            <a:ext cx="3931920" cy="1463040"/>
          </a:xfrm>
          <a:prstGeom prst="rect">
            <a:avLst/>
          </a:prstGeom>
          <a:noFill/>
        </p:spPr>
        <p:txBody>
          <a:bodyPr wrap="square" anchor="ctr" lIns="27432" rIns="27432" tIns="18288" bIns="18288">
            <a:spAutoFit/>
          </a:bodyPr>
          <a:lstStyle/>
          <a:p>
            <a:pPr algn="ctr"/>
            <a:r>
              <a:rPr sz="1800" b="0" i="0">
                <a:solidFill>
                  <a:srgbClr val="262626"/>
                </a:solidFill>
              </a:rPr>
              <a:t>do this, then that, then this</a:t>
            </a:r>
          </a:p>
          <a:p>
            <a:pPr algn="ctr"/>
            <a:r>
              <a:rPr sz="1800" b="0" i="0">
                <a:solidFill>
                  <a:srgbClr val="262626"/>
                </a:solidFill>
              </a:rPr>
              <a:t>run it twice →</a:t>
            </a:r>
          </a:p>
          <a:p>
            <a:pPr algn="ctr"/>
            <a:r>
              <a:rPr sz="1800" b="0" i="0">
                <a:solidFill>
                  <a:srgbClr val="262626"/>
                </a:solidFill>
              </a:rPr>
              <a:t>two of everything</a:t>
            </a:r>
          </a:p>
        </p:txBody>
      </p:sp>
      <p:sp>
        <p:nvSpPr>
          <p:cNvPr id="7" name="Rounded Rectangle 6"/>
          <p:cNvSpPr/>
          <p:nvPr/>
        </p:nvSpPr>
        <p:spPr>
          <a:xfrm>
            <a:off x="4663440" y="1280160"/>
            <a:ext cx="4206240" cy="502920"/>
          </a:xfrm>
          <a:prstGeom prst="roundRect">
            <a:avLst>
              <a:gd name="adj" fmla="val 14545"/>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FFFFFF"/>
                </a:solidFill>
              </a:rPr>
              <a:t>DECLARATIVE — Terraform</a:t>
            </a:r>
          </a:p>
        </p:txBody>
      </p:sp>
      <p:sp>
        <p:nvSpPr>
          <p:cNvPr id="8" name="Rounded Rectangle 7"/>
          <p:cNvSpPr/>
          <p:nvPr/>
        </p:nvSpPr>
        <p:spPr>
          <a:xfrm>
            <a:off x="4663440" y="1828800"/>
            <a:ext cx="4206240" cy="1600200"/>
          </a:xfrm>
          <a:prstGeom prst="roundRect">
            <a:avLst>
              <a:gd name="adj" fmla="val 4571"/>
            </a:avLst>
          </a:prstGeom>
          <a:solidFill>
            <a:srgbClr val="FFFFFF"/>
          </a:solidFill>
          <a:ln w="2540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9" name="TextBox 8"/>
          <p:cNvSpPr txBox="1"/>
          <p:nvPr/>
        </p:nvSpPr>
        <p:spPr>
          <a:xfrm>
            <a:off x="4800600" y="1920240"/>
            <a:ext cx="3931920" cy="1463040"/>
          </a:xfrm>
          <a:prstGeom prst="rect">
            <a:avLst/>
          </a:prstGeom>
          <a:noFill/>
        </p:spPr>
        <p:txBody>
          <a:bodyPr wrap="square" anchor="ctr" lIns="27432" rIns="27432" tIns="18288" bIns="18288">
            <a:spAutoFit/>
          </a:bodyPr>
          <a:lstStyle/>
          <a:p>
            <a:pPr algn="ctr"/>
            <a:r>
              <a:rPr sz="1800" b="0" i="0">
                <a:solidFill>
                  <a:srgbClr val="262626"/>
                </a:solidFill>
              </a:rPr>
              <a:t>here is what should exist</a:t>
            </a:r>
          </a:p>
          <a:p>
            <a:pPr algn="ctr"/>
            <a:r>
              <a:rPr sz="1800" b="0" i="0">
                <a:solidFill>
                  <a:srgbClr val="262626"/>
                </a:solidFill>
              </a:rPr>
              <a:t>the tool compares, changes</a:t>
            </a:r>
          </a:p>
          <a:p>
            <a:pPr algn="ctr"/>
            <a:r>
              <a:rPr sz="1800" b="0" i="0">
                <a:solidFill>
                  <a:srgbClr val="262626"/>
                </a:solidFill>
              </a:rPr>
              <a:t>only what differs</a:t>
            </a:r>
          </a:p>
          <a:p>
            <a:pPr algn="ctr"/>
            <a:r>
              <a:rPr sz="1800" b="0" i="0">
                <a:solidFill>
                  <a:srgbClr val="262626"/>
                </a:solidFill>
              </a:rPr>
              <a:t>run it twice → nothing happens</a:t>
            </a:r>
          </a:p>
        </p:txBody>
      </p:sp>
      <p:sp>
        <p:nvSpPr>
          <p:cNvPr id="10" name="TextBox 9"/>
          <p:cNvSpPr txBox="1"/>
          <p:nvPr/>
        </p:nvSpPr>
        <p:spPr>
          <a:xfrm>
            <a:off x="365760" y="3657600"/>
            <a:ext cx="8412480" cy="1463040"/>
          </a:xfrm>
          <a:prstGeom prst="rect">
            <a:avLst/>
          </a:prstGeom>
          <a:noFill/>
        </p:spPr>
        <p:txBody>
          <a:bodyPr wrap="square" anchor="t" lIns="27432" rIns="27432" tIns="18288" bIns="18288">
            <a:spAutoFit/>
          </a:bodyPr>
          <a:lstStyle/>
          <a:p>
            <a:pPr algn="l">
              <a:spcAft>
                <a:spcPts val="400"/>
              </a:spcAft>
            </a:pPr>
            <a:r>
              <a:rPr sz="1800" b="0" i="0">
                <a:solidFill>
                  <a:srgbClr val="262626"/>
                </a:solidFill>
              </a:rPr>
              <a:t>• Terraform: a general-purpose engine for declarative infrastructure</a:t>
            </a:r>
          </a:p>
          <a:p>
            <a:pPr algn="l">
              <a:spcAft>
                <a:spcPts val="400"/>
              </a:spcAft>
            </a:pPr>
            <a:r>
              <a:rPr sz="1800" b="0" i="0">
                <a:solidFill>
                  <a:srgbClr val="262626"/>
                </a:solidFill>
              </a:rPr>
              <a:t>• Providers translate your files into API calls — AWS, Google Cloud,</a:t>
            </a:r>
          </a:p>
          <a:p>
            <a:pPr algn="l">
              <a:spcAft>
                <a:spcPts val="400"/>
              </a:spcAft>
            </a:pPr>
            <a:r>
              <a:rPr sz="1800" b="0" i="0">
                <a:solidFill>
                  <a:srgbClr val="262626"/>
                </a:solidFill>
              </a:rPr>
              <a:t>   Azure, GitHub, Cloudflare, Coolify, Docker…</a:t>
            </a:r>
          </a:p>
          <a:p>
            <a:pPr algn="l">
              <a:spcAft>
                <a:spcPts val="400"/>
              </a:spcAft>
            </a:pPr>
            <a:r>
              <a:rPr sz="1800" b="0" i="0">
                <a:solidFill>
                  <a:srgbClr val="262626"/>
                </a:solidFill>
              </a:rPr>
              <a:t>• Same workflow no matter what is underneath</a:t>
            </a:r>
          </a:p>
        </p:txBody>
      </p:sp>
      <p:sp>
        <p:nvSpPr>
          <p:cNvPr id="11" name="Rectangle 10"/>
          <p:cNvSpPr/>
          <p:nvPr/>
        </p:nvSpPr>
        <p:spPr>
          <a:xfrm>
            <a:off x="548640" y="534924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349240"/>
            <a:ext cx="7863840" cy="731520"/>
          </a:xfrm>
          <a:prstGeom prst="rect">
            <a:avLst/>
          </a:prstGeom>
          <a:noFill/>
        </p:spPr>
        <p:txBody>
          <a:bodyPr wrap="square" anchor="ctr" lIns="27432" rIns="27432" tIns="18288" bIns="18288">
            <a:spAutoFit/>
          </a:bodyPr>
          <a:lstStyle/>
          <a:p>
            <a:pPr algn="l"/>
            <a:r>
              <a:rPr sz="2100" b="1" i="0">
                <a:solidFill>
                  <a:srgbClr val="1F497D"/>
                </a:solidFill>
              </a:rPr>
              <a:t>Run it twice and nothing happens the second time.</a:t>
            </a:r>
          </a:p>
          <a:p>
            <a:pPr algn="l"/>
            <a:r>
              <a:rPr sz="2100" b="1" i="0">
                <a:solidFill>
                  <a:srgbClr val="1F497D"/>
                </a:solidFill>
              </a:rPr>
              <a:t>That property has a name: idempotent.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Terraform's Four Ideas</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27</a:t>
            </a:r>
          </a:p>
        </p:txBody>
      </p:sp>
      <p:sp>
        <p:nvSpPr>
          <p:cNvPr id="4" name="Rounded Rectangle 3"/>
          <p:cNvSpPr/>
          <p:nvPr/>
        </p:nvSpPr>
        <p:spPr>
          <a:xfrm>
            <a:off x="274320" y="1234440"/>
            <a:ext cx="2011680" cy="457200"/>
          </a:xfrm>
          <a:prstGeom prst="roundRect">
            <a:avLst>
              <a:gd name="adj" fmla="val 160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PROVIDER</a:t>
            </a:r>
          </a:p>
        </p:txBody>
      </p:sp>
      <p:sp>
        <p:nvSpPr>
          <p:cNvPr id="5" name="Rounded Rectangle 4"/>
          <p:cNvSpPr/>
          <p:nvPr/>
        </p:nvSpPr>
        <p:spPr>
          <a:xfrm>
            <a:off x="274320" y="1737360"/>
            <a:ext cx="2011680" cy="868680"/>
          </a:xfrm>
          <a:prstGeom prst="roundRect">
            <a:avLst>
              <a:gd name="adj" fmla="val 84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plugin that talks</a:t>
            </a:r>
          </a:p>
          <a:p>
            <a:pPr algn="ctr"/>
            <a:r>
              <a:rPr sz="1400" b="0">
                <a:solidFill>
                  <a:srgbClr val="262626"/>
                </a:solidFill>
              </a:rPr>
              <a:t>to one platform</a:t>
            </a:r>
          </a:p>
        </p:txBody>
      </p:sp>
      <p:sp>
        <p:nvSpPr>
          <p:cNvPr id="6" name="Rounded Rectangle 5"/>
          <p:cNvSpPr/>
          <p:nvPr/>
        </p:nvSpPr>
        <p:spPr>
          <a:xfrm>
            <a:off x="2441448" y="1234440"/>
            <a:ext cx="2011680" cy="457200"/>
          </a:xfrm>
          <a:prstGeom prst="roundRect">
            <a:avLst>
              <a:gd name="adj" fmla="val 16000"/>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RESOURCE</a:t>
            </a:r>
          </a:p>
        </p:txBody>
      </p:sp>
      <p:sp>
        <p:nvSpPr>
          <p:cNvPr id="7" name="Rounded Rectangle 6"/>
          <p:cNvSpPr/>
          <p:nvPr/>
        </p:nvSpPr>
        <p:spPr>
          <a:xfrm>
            <a:off x="2441448" y="1737360"/>
            <a:ext cx="2011680" cy="868680"/>
          </a:xfrm>
          <a:prstGeom prst="roundRect">
            <a:avLst>
              <a:gd name="adj" fmla="val 8421"/>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one thing that</a:t>
            </a:r>
          </a:p>
          <a:p>
            <a:pPr algn="ctr"/>
            <a:r>
              <a:rPr sz="1400" b="0">
                <a:solidFill>
                  <a:srgbClr val="262626"/>
                </a:solidFill>
              </a:rPr>
              <a:t>should exist</a:t>
            </a:r>
          </a:p>
        </p:txBody>
      </p:sp>
      <p:sp>
        <p:nvSpPr>
          <p:cNvPr id="8" name="Rounded Rectangle 7"/>
          <p:cNvSpPr/>
          <p:nvPr/>
        </p:nvSpPr>
        <p:spPr>
          <a:xfrm>
            <a:off x="4608576" y="1234440"/>
            <a:ext cx="2011680" cy="457200"/>
          </a:xfrm>
          <a:prstGeom prst="roundRect">
            <a:avLst>
              <a:gd name="adj" fmla="val 16000"/>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STATE</a:t>
            </a:r>
          </a:p>
        </p:txBody>
      </p:sp>
      <p:sp>
        <p:nvSpPr>
          <p:cNvPr id="9" name="Rounded Rectangle 8"/>
          <p:cNvSpPr/>
          <p:nvPr/>
        </p:nvSpPr>
        <p:spPr>
          <a:xfrm>
            <a:off x="4608576" y="1737360"/>
            <a:ext cx="2011680" cy="868680"/>
          </a:xfrm>
          <a:prstGeom prst="roundRect">
            <a:avLst>
              <a:gd name="adj" fmla="val 8421"/>
            </a:avLst>
          </a:prstGeom>
          <a:solidFill>
            <a:srgbClr val="FFFFFF"/>
          </a:solidFill>
          <a:ln w="19050">
            <a:solidFill>
              <a:srgbClr val="E37B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what Terraform</a:t>
            </a:r>
          </a:p>
          <a:p>
            <a:pPr algn="ctr"/>
            <a:r>
              <a:rPr sz="1400" b="0">
                <a:solidFill>
                  <a:srgbClr val="262626"/>
                </a:solidFill>
              </a:rPr>
              <a:t>made last time</a:t>
            </a:r>
          </a:p>
        </p:txBody>
      </p:sp>
      <p:sp>
        <p:nvSpPr>
          <p:cNvPr id="10" name="Rounded Rectangle 9"/>
          <p:cNvSpPr/>
          <p:nvPr/>
        </p:nvSpPr>
        <p:spPr>
          <a:xfrm>
            <a:off x="6775704" y="1234440"/>
            <a:ext cx="2011680" cy="457200"/>
          </a:xfrm>
          <a:prstGeom prst="roundRect">
            <a:avLst>
              <a:gd name="adj" fmla="val 16000"/>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PLAN → APPLY</a:t>
            </a:r>
          </a:p>
        </p:txBody>
      </p:sp>
      <p:sp>
        <p:nvSpPr>
          <p:cNvPr id="11" name="Rounded Rectangle 10"/>
          <p:cNvSpPr/>
          <p:nvPr/>
        </p:nvSpPr>
        <p:spPr>
          <a:xfrm>
            <a:off x="6775704" y="1737360"/>
            <a:ext cx="2011680" cy="868680"/>
          </a:xfrm>
          <a:prstGeom prst="roundRect">
            <a:avLst>
              <a:gd name="adj" fmla="val 8421"/>
            </a:avLst>
          </a:prstGeom>
          <a:solidFill>
            <a:srgbClr val="FFFFFF"/>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show the difference,</a:t>
            </a:r>
          </a:p>
          <a:p>
            <a:pPr algn="ctr"/>
            <a:r>
              <a:rPr sz="1400" b="0">
                <a:solidFill>
                  <a:srgbClr val="262626"/>
                </a:solidFill>
              </a:rPr>
              <a:t>then do only that</a:t>
            </a:r>
          </a:p>
        </p:txBody>
      </p:sp>
      <p:sp>
        <p:nvSpPr>
          <p:cNvPr id="12" name="Rounded Rectangle 11"/>
          <p:cNvSpPr/>
          <p:nvPr/>
        </p:nvSpPr>
        <p:spPr>
          <a:xfrm>
            <a:off x="274320" y="2880360"/>
            <a:ext cx="2286000" cy="603504"/>
          </a:xfrm>
          <a:prstGeom prst="roundRect">
            <a:avLst>
              <a:gd name="adj" fmla="val 12121"/>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your .tf files</a:t>
            </a:r>
          </a:p>
          <a:p>
            <a:pPr algn="ctr"/>
            <a:r>
              <a:rPr sz="1300" b="0">
                <a:solidFill>
                  <a:srgbClr val="FFFFFF"/>
                </a:solidFill>
              </a:rPr>
              <a:t>(what should exist)</a:t>
            </a:r>
          </a:p>
        </p:txBody>
      </p:sp>
      <p:cxnSp>
        <p:nvCxnSpPr>
          <p:cNvPr id="13" name="Connector 12"/>
          <p:cNvCxnSpPr/>
          <p:nvPr/>
        </p:nvCxnSpPr>
        <p:spPr>
          <a:xfrm>
            <a:off x="2578608" y="3182112"/>
            <a:ext cx="667512" cy="566927"/>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74320" y="3593591"/>
            <a:ext cx="2286000" cy="603504"/>
          </a:xfrm>
          <a:prstGeom prst="roundRect">
            <a:avLst>
              <a:gd name="adj" fmla="val 12121"/>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terraform.tfstate</a:t>
            </a:r>
          </a:p>
          <a:p>
            <a:pPr algn="ctr"/>
            <a:r>
              <a:rPr sz="1300" b="0">
                <a:solidFill>
                  <a:srgbClr val="FFFFFF"/>
                </a:solidFill>
              </a:rPr>
              <a:t>(what it made)</a:t>
            </a:r>
          </a:p>
        </p:txBody>
      </p:sp>
      <p:cxnSp>
        <p:nvCxnSpPr>
          <p:cNvPr id="15" name="Connector 14"/>
          <p:cNvCxnSpPr/>
          <p:nvPr/>
        </p:nvCxnSpPr>
        <p:spPr>
          <a:xfrm flipV="1">
            <a:off x="2578608" y="3749039"/>
            <a:ext cx="667512" cy="146305"/>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74320" y="4306824"/>
            <a:ext cx="2286000" cy="603504"/>
          </a:xfrm>
          <a:prstGeom prst="roundRect">
            <a:avLst>
              <a:gd name="adj" fmla="val 12121"/>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the platform</a:t>
            </a:r>
          </a:p>
          <a:p>
            <a:pPr algn="ctr"/>
            <a:r>
              <a:rPr sz="1300" b="0">
                <a:solidFill>
                  <a:srgbClr val="FFFFFF"/>
                </a:solidFill>
              </a:rPr>
              <a:t>(what's really there)</a:t>
            </a:r>
          </a:p>
        </p:txBody>
      </p:sp>
      <p:cxnSp>
        <p:nvCxnSpPr>
          <p:cNvPr id="17" name="Connector 16"/>
          <p:cNvCxnSpPr/>
          <p:nvPr/>
        </p:nvCxnSpPr>
        <p:spPr>
          <a:xfrm flipV="1">
            <a:off x="2578608" y="3749039"/>
            <a:ext cx="667512" cy="859537"/>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291840" y="3429000"/>
            <a:ext cx="1463040" cy="640080"/>
          </a:xfrm>
          <a:prstGeom prst="roundRect">
            <a:avLst>
              <a:gd name="adj" fmla="val 11428"/>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terraform</a:t>
            </a:r>
          </a:p>
          <a:p>
            <a:pPr algn="ctr"/>
            <a:r>
              <a:rPr sz="1500" b="1">
                <a:solidFill>
                  <a:srgbClr val="FFFFFF"/>
                </a:solidFill>
              </a:rPr>
              <a:t>plan</a:t>
            </a:r>
          </a:p>
        </p:txBody>
      </p:sp>
      <p:sp>
        <p:nvSpPr>
          <p:cNvPr id="19" name="Right Arrow 18"/>
          <p:cNvSpPr/>
          <p:nvPr/>
        </p:nvSpPr>
        <p:spPr>
          <a:xfrm>
            <a:off x="4800600" y="3611880"/>
            <a:ext cx="365760"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212080" y="3108960"/>
            <a:ext cx="1737360" cy="1280160"/>
          </a:xfrm>
          <a:prstGeom prst="roundRect">
            <a:avLst>
              <a:gd name="adj" fmla="val 5714"/>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1500" b="0">
                <a:solidFill>
                  <a:srgbClr val="262626"/>
                </a:solidFill>
                <a:latin typeface="Consolas"/>
              </a:rPr>
              <a:t>+ create</a:t>
            </a:r>
          </a:p>
          <a:p>
            <a:pPr algn="l"/>
            <a:r>
              <a:rPr sz="1500" b="0">
                <a:solidFill>
                  <a:srgbClr val="262626"/>
                </a:solidFill>
                <a:latin typeface="Consolas"/>
              </a:rPr>
              <a:t>~ change</a:t>
            </a:r>
          </a:p>
          <a:p>
            <a:pPr algn="l"/>
            <a:r>
              <a:rPr sz="1500" b="0">
                <a:solidFill>
                  <a:srgbClr val="262626"/>
                </a:solidFill>
                <a:latin typeface="Consolas"/>
              </a:rPr>
              <a:t>- destroy</a:t>
            </a:r>
          </a:p>
        </p:txBody>
      </p:sp>
      <p:sp>
        <p:nvSpPr>
          <p:cNvPr id="21" name="Right Arrow 20"/>
          <p:cNvSpPr/>
          <p:nvPr/>
        </p:nvSpPr>
        <p:spPr>
          <a:xfrm>
            <a:off x="6995160" y="3611880"/>
            <a:ext cx="365760"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06640" y="3429000"/>
            <a:ext cx="1463040" cy="640080"/>
          </a:xfrm>
          <a:prstGeom prst="roundRect">
            <a:avLst>
              <a:gd name="adj" fmla="val 11428"/>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terraform</a:t>
            </a:r>
          </a:p>
          <a:p>
            <a:pPr algn="ctr"/>
            <a:r>
              <a:rPr sz="1500" b="1">
                <a:solidFill>
                  <a:srgbClr val="FFFFFF"/>
                </a:solidFill>
              </a:rPr>
              <a:t>apply</a:t>
            </a:r>
          </a:p>
        </p:txBody>
      </p:sp>
      <p:sp>
        <p:nvSpPr>
          <p:cNvPr id="23" name="TextBox 22"/>
          <p:cNvSpPr txBox="1"/>
          <p:nvPr/>
        </p:nvSpPr>
        <p:spPr>
          <a:xfrm>
            <a:off x="5212080" y="4434840"/>
            <a:ext cx="1737360" cy="320040"/>
          </a:xfrm>
          <a:prstGeom prst="rect">
            <a:avLst/>
          </a:prstGeom>
          <a:noFill/>
        </p:spPr>
        <p:txBody>
          <a:bodyPr wrap="square" anchor="t" lIns="27432" rIns="27432" tIns="18288" bIns="18288">
            <a:spAutoFit/>
          </a:bodyPr>
          <a:lstStyle/>
          <a:p>
            <a:pPr algn="ctr"/>
            <a:r>
              <a:rPr sz="1300" b="0" i="1">
                <a:solidFill>
                  <a:srgbClr val="1F497D"/>
                </a:solidFill>
              </a:rPr>
              <a:t>you read this</a:t>
            </a:r>
          </a:p>
        </p:txBody>
      </p:sp>
      <p:sp>
        <p:nvSpPr>
          <p:cNvPr id="24" name="Rectangle 23"/>
          <p:cNvSpPr/>
          <p:nvPr/>
        </p:nvSpPr>
        <p:spPr>
          <a:xfrm>
            <a:off x="548640" y="525780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257800"/>
            <a:ext cx="7863840" cy="731520"/>
          </a:xfrm>
          <a:prstGeom prst="rect">
            <a:avLst/>
          </a:prstGeom>
          <a:noFill/>
        </p:spPr>
        <p:txBody>
          <a:bodyPr wrap="square" anchor="ctr" lIns="27432" rIns="27432" tIns="18288" bIns="18288">
            <a:spAutoFit/>
          </a:bodyPr>
          <a:lstStyle/>
          <a:p>
            <a:pPr algn="l"/>
            <a:r>
              <a:rPr sz="2100" b="1" i="0">
                <a:solidFill>
                  <a:srgbClr val="1F497D"/>
                </a:solidFill>
              </a:rPr>
              <a:t>plan shows what would change, before anything changes.</a:t>
            </a:r>
          </a:p>
          <a:p>
            <a:pPr algn="l"/>
            <a:r>
              <a:rPr sz="2100" b="1" i="0">
                <a:solidFill>
                  <a:srgbClr val="1F497D"/>
                </a:solidFill>
              </a:rPr>
              <a:t>Reading it is what separates confident from lucky.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The Workflow</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terraform init — download the providers your config names</a:t>
            </a:r>
          </a:p>
          <a:p>
            <a:pPr>
              <a:spcBef>
                <a:spcPts val="1000"/>
              </a:spcBef>
            </a:pPr>
            <a:r>
              <a:rPr sz="2400"/>
              <a:t>terraform plan — show me what you would do</a:t>
            </a:r>
          </a:p>
          <a:p>
            <a:pPr>
              <a:spcBef>
                <a:spcPts val="1000"/>
              </a:spcBef>
            </a:pPr>
            <a:r>
              <a:rPr sz="2400"/>
              <a:t>terraform apply — do it (it shows the plan again and asks)</a:t>
            </a:r>
          </a:p>
          <a:p>
            <a:pPr>
              <a:spcBef>
                <a:spcPts val="1000"/>
              </a:spcBef>
            </a:pPr>
            <a:r>
              <a:rPr sz="2400"/>
              <a:t>terraform destroy — remove everything this config created</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You will run plan far more often than apply.</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Your main.tf — the Provider Block</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29</a:t>
            </a:r>
          </a:p>
        </p:txBody>
      </p:sp>
      <p:sp>
        <p:nvSpPr>
          <p:cNvPr id="4" name="Rectangle 3"/>
          <p:cNvSpPr/>
          <p:nvPr/>
        </p:nvSpPr>
        <p:spPr>
          <a:xfrm>
            <a:off x="365760" y="1234440"/>
            <a:ext cx="8412480" cy="3617163"/>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502920" y="1325880"/>
            <a:ext cx="8229600" cy="3434283"/>
          </a:xfrm>
          <a:prstGeom prst="rect">
            <a:avLst/>
          </a:prstGeom>
          <a:noFill/>
        </p:spPr>
        <p:txBody>
          <a:bodyPr wrap="square">
            <a:spAutoFit/>
          </a:bodyPr>
          <a:lstStyle/>
          <a:p>
            <a:r>
              <a:rPr sz="1400">
                <a:solidFill>
                  <a:srgbClr val="1F497D"/>
                </a:solidFill>
                <a:latin typeface="Consolas"/>
              </a:rPr>
              <a:t>terraform {</a:t>
            </a:r>
          </a:p>
          <a:p>
            <a:r>
              <a:rPr sz="1400">
                <a:solidFill>
                  <a:srgbClr val="262626"/>
                </a:solidFill>
                <a:latin typeface="Consolas"/>
              </a:rPr>
              <a:t>  required_providers {</a:t>
            </a:r>
          </a:p>
          <a:p>
            <a:r>
              <a:rPr sz="1400">
                <a:solidFill>
                  <a:srgbClr val="262626"/>
                </a:solidFill>
                <a:latin typeface="Consolas"/>
              </a:rPr>
              <a:t>    coolify = { source = "bindtech-xyz/coolify", version = "~&gt; 0.1.0" }</a:t>
            </a:r>
          </a:p>
          <a:p>
            <a:r>
              <a:rPr sz="1400">
                <a:solidFill>
                  <a:srgbClr val="262626"/>
                </a:solidFill>
                <a:latin typeface="Consolas"/>
              </a:rPr>
              <a:t>    github  = { source = "integrations/github",  version = "~&gt; 6.0" }</a:t>
            </a:r>
          </a:p>
          <a:p>
            <a:r>
              <a:rPr sz="1400">
                <a:solidFill>
                  <a:srgbClr val="262626"/>
                </a:solidFill>
                <a:latin typeface="Consolas"/>
              </a:rPr>
              <a:t>  }</a:t>
            </a:r>
          </a:p>
          <a:p>
            <a:r>
              <a:rPr sz="1400">
                <a:solidFill>
                  <a:srgbClr val="1F497D"/>
                </a:solidFill>
                <a:latin typeface="Consolas"/>
              </a:rPr>
              <a:t>}</a:t>
            </a:r>
          </a:p>
          <a:p>
            <a:r>
              <a:rPr sz="840"/>
              <a:t> </a:t>
            </a:r>
          </a:p>
          <a:p>
            <a:r>
              <a:rPr sz="1400">
                <a:solidFill>
                  <a:srgbClr val="1F497D"/>
                </a:solidFill>
                <a:latin typeface="Consolas"/>
              </a:rPr>
              <a:t>provider "coolify" {</a:t>
            </a:r>
          </a:p>
          <a:p>
            <a:r>
              <a:rPr sz="1400">
                <a:solidFill>
                  <a:srgbClr val="262626"/>
                </a:solidFill>
                <a:latin typeface="Consolas"/>
              </a:rPr>
              <a:t>  endpoint = var.coolify_endpoint</a:t>
            </a:r>
          </a:p>
          <a:p>
            <a:r>
              <a:rPr sz="1400">
                <a:solidFill>
                  <a:srgbClr val="262626"/>
                </a:solidFill>
                <a:latin typeface="Consolas"/>
              </a:rPr>
              <a:t>  token    = var.coolify_token       </a:t>
            </a:r>
            <a:r>
              <a:rPr sz="1400" b="0">
                <a:solidFill>
                  <a:srgbClr val="6A737D"/>
                </a:solidFill>
                <a:latin typeface="Consolas"/>
              </a:rPr>
              <a:t># a variable, never a literal</a:t>
            </a:r>
          </a:p>
          <a:p>
            <a:r>
              <a:rPr sz="1400">
                <a:solidFill>
                  <a:srgbClr val="1F497D"/>
                </a:solidFill>
                <a:latin typeface="Consolas"/>
              </a:rPr>
              <a:t>}</a:t>
            </a:r>
          </a:p>
          <a:p>
            <a:r>
              <a:rPr sz="840"/>
              <a:t> </a:t>
            </a:r>
          </a:p>
          <a:p>
            <a:r>
              <a:rPr sz="1400">
                <a:solidFill>
                  <a:srgbClr val="1F497D"/>
                </a:solidFill>
                <a:latin typeface="Consolas"/>
              </a:rPr>
              <a:t>provider "github" {</a:t>
            </a:r>
          </a:p>
          <a:p>
            <a:r>
              <a:rPr sz="1400">
                <a:solidFill>
                  <a:srgbClr val="262626"/>
                </a:solidFill>
                <a:latin typeface="Consolas"/>
              </a:rPr>
              <a:t>  token = var.github_token</a:t>
            </a:r>
          </a:p>
          <a:p>
            <a:r>
              <a:rPr sz="1400">
                <a:solidFill>
                  <a:srgbClr val="262626"/>
                </a:solidFill>
                <a:latin typeface="Consolas"/>
              </a:rPr>
              <a:t>  owner = var.github_org</a:t>
            </a:r>
          </a:p>
          <a:p>
            <a:r>
              <a:rPr sz="1400">
                <a:solidFill>
                  <a:srgbClr val="1F497D"/>
                </a:solidFill>
                <a:latin typeface="Consolas"/>
              </a:rPr>
              <a:t>}</a:t>
            </a:r>
          </a:p>
        </p:txBody>
      </p:sp>
      <p:sp>
        <p:nvSpPr>
          <p:cNvPr id="6" name="Rectangle 5"/>
          <p:cNvSpPr/>
          <p:nvPr/>
        </p:nvSpPr>
        <p:spPr>
          <a:xfrm>
            <a:off x="548640" y="5125923"/>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125923"/>
            <a:ext cx="7863840" cy="731520"/>
          </a:xfrm>
          <a:prstGeom prst="rect">
            <a:avLst/>
          </a:prstGeom>
          <a:noFill/>
        </p:spPr>
        <p:txBody>
          <a:bodyPr wrap="square" anchor="ctr" lIns="27432" rIns="27432" tIns="18288" bIns="18288">
            <a:spAutoFit/>
          </a:bodyPr>
          <a:lstStyle/>
          <a:p>
            <a:pPr algn="l"/>
            <a:r>
              <a:rPr sz="2100" b="1" i="0">
                <a:solidFill>
                  <a:srgbClr val="1F497D"/>
                </a:solidFill>
              </a:rPr>
              <a:t>Two providers, because this deploy touches two platforms. Versions are pinned so everyone gets the same behavior all semester.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Variables — the Inputs</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30</a:t>
            </a:r>
          </a:p>
        </p:txBody>
      </p:sp>
      <p:sp>
        <p:nvSpPr>
          <p:cNvPr id="4" name="Rectangle 3"/>
          <p:cNvSpPr/>
          <p:nvPr/>
        </p:nvSpPr>
        <p:spPr>
          <a:xfrm>
            <a:off x="365760" y="1234440"/>
            <a:ext cx="8412480" cy="3150793"/>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502920" y="1325880"/>
            <a:ext cx="8229600" cy="2967913"/>
          </a:xfrm>
          <a:prstGeom prst="rect">
            <a:avLst/>
          </a:prstGeom>
          <a:noFill/>
        </p:spPr>
        <p:txBody>
          <a:bodyPr wrap="square">
            <a:spAutoFit/>
          </a:bodyPr>
          <a:lstStyle/>
          <a:p>
            <a:r>
              <a:rPr sz="1450">
                <a:solidFill>
                  <a:srgbClr val="1F497D"/>
                </a:solidFill>
                <a:latin typeface="Consolas"/>
              </a:rPr>
              <a:t>variable "coolify_token" {</a:t>
            </a:r>
          </a:p>
          <a:p>
            <a:r>
              <a:rPr sz="1450">
                <a:solidFill>
                  <a:srgbClr val="262626"/>
                </a:solidFill>
                <a:latin typeface="Consolas"/>
              </a:rPr>
              <a:t>  type      = string</a:t>
            </a:r>
          </a:p>
          <a:p>
            <a:r>
              <a:rPr sz="1450">
                <a:solidFill>
                  <a:srgbClr val="262626"/>
                </a:solidFill>
                <a:latin typeface="Consolas"/>
              </a:rPr>
              <a:t>  sensitive = true                   </a:t>
            </a:r>
            <a:r>
              <a:rPr sz="1450" b="0">
                <a:solidFill>
                  <a:srgbClr val="6A737D"/>
                </a:solidFill>
                <a:latin typeface="Consolas"/>
              </a:rPr>
              <a:t># never printed in plan output</a:t>
            </a:r>
          </a:p>
          <a:p>
            <a:r>
              <a:rPr sz="1450">
                <a:solidFill>
                  <a:srgbClr val="1F497D"/>
                </a:solidFill>
                <a:latin typeface="Consolas"/>
              </a:rPr>
              <a:t>}</a:t>
            </a:r>
          </a:p>
          <a:p>
            <a:r>
              <a:rPr sz="869"/>
              <a:t> </a:t>
            </a:r>
          </a:p>
          <a:p>
            <a:r>
              <a:rPr sz="1450">
                <a:solidFill>
                  <a:srgbClr val="1F497D"/>
                </a:solidFill>
                <a:latin typeface="Consolas"/>
              </a:rPr>
              <a:t>variable "coolify_server_uuid" {</a:t>
            </a:r>
          </a:p>
          <a:p>
            <a:r>
              <a:rPr sz="1450">
                <a:solidFill>
                  <a:srgbClr val="262626"/>
                </a:solidFill>
                <a:latin typeface="Consolas"/>
              </a:rPr>
              <a:t>  description = "Your team's Coolify server. No shared default."</a:t>
            </a:r>
          </a:p>
          <a:p>
            <a:r>
              <a:rPr sz="1450">
                <a:solidFill>
                  <a:srgbClr val="262626"/>
                </a:solidFill>
                <a:latin typeface="Consolas"/>
              </a:rPr>
              <a:t>  type        = string</a:t>
            </a:r>
          </a:p>
          <a:p>
            <a:r>
              <a:rPr sz="1450">
                <a:solidFill>
                  <a:srgbClr val="262626"/>
                </a:solidFill>
                <a:latin typeface="Consolas"/>
              </a:rPr>
              <a:t>  validation {</a:t>
            </a:r>
          </a:p>
          <a:p>
            <a:r>
              <a:rPr sz="1450">
                <a:solidFill>
                  <a:srgbClr val="262626"/>
                </a:solidFill>
                <a:latin typeface="Consolas"/>
              </a:rPr>
              <a:t>    condition     = length(trimspace(var.coolify_server_uuid)) &gt; 0</a:t>
            </a:r>
          </a:p>
          <a:p>
            <a:r>
              <a:rPr sz="1450">
                <a:solidFill>
                  <a:srgbClr val="262626"/>
                </a:solidFill>
                <a:latin typeface="Consolas"/>
              </a:rPr>
              <a:t>    error_message = "Required. Look it up: curl .../api/v1/servers"</a:t>
            </a:r>
          </a:p>
          <a:p>
            <a:r>
              <a:rPr sz="1450">
                <a:solidFill>
                  <a:srgbClr val="262626"/>
                </a:solidFill>
                <a:latin typeface="Consolas"/>
              </a:rPr>
              <a:t>  }</a:t>
            </a:r>
          </a:p>
          <a:p>
            <a:r>
              <a:rPr sz="1450">
                <a:solidFill>
                  <a:srgbClr val="1F497D"/>
                </a:solidFill>
                <a:latin typeface="Consolas"/>
              </a:rPr>
              <a:t>}</a:t>
            </a:r>
          </a:p>
        </p:txBody>
      </p:sp>
      <p:sp>
        <p:nvSpPr>
          <p:cNvPr id="6" name="Rectangle 5"/>
          <p:cNvSpPr/>
          <p:nvPr/>
        </p:nvSpPr>
        <p:spPr>
          <a:xfrm>
            <a:off x="548640" y="4659553"/>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659553"/>
            <a:ext cx="7863840" cy="731520"/>
          </a:xfrm>
          <a:prstGeom prst="rect">
            <a:avLst/>
          </a:prstGeom>
          <a:noFill/>
        </p:spPr>
        <p:txBody>
          <a:bodyPr wrap="square" anchor="ctr" lIns="27432" rIns="27432" tIns="18288" bIns="18288">
            <a:spAutoFit/>
          </a:bodyPr>
          <a:lstStyle/>
          <a:p>
            <a:pPr algn="l"/>
            <a:r>
              <a:rPr sz="2100" b="1" i="0">
                <a:solidFill>
                  <a:srgbClr val="1F497D"/>
                </a:solidFill>
              </a:rPr>
              <a:t>Variables are the parameters of your infrastructure. Validation turns a confusing API error into a sentence that tells you what to do.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Resources — the Things That Should Exist</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31</a:t>
            </a:r>
          </a:p>
        </p:txBody>
      </p:sp>
      <p:sp>
        <p:nvSpPr>
          <p:cNvPr id="4" name="Rectangle 3"/>
          <p:cNvSpPr/>
          <p:nvPr/>
        </p:nvSpPr>
        <p:spPr>
          <a:xfrm>
            <a:off x="365760" y="1234440"/>
            <a:ext cx="8412480" cy="3852671"/>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502920" y="1325880"/>
            <a:ext cx="8229600" cy="3669791"/>
          </a:xfrm>
          <a:prstGeom prst="rect">
            <a:avLst/>
          </a:prstGeom>
          <a:noFill/>
        </p:spPr>
        <p:txBody>
          <a:bodyPr wrap="square">
            <a:spAutoFit/>
          </a:bodyPr>
          <a:lstStyle/>
          <a:p>
            <a:r>
              <a:rPr sz="1500">
                <a:solidFill>
                  <a:srgbClr val="1F497D"/>
                </a:solidFill>
                <a:latin typeface="Consolas"/>
              </a:rPr>
              <a:t>resource "coolify_project" "app" {</a:t>
            </a:r>
          </a:p>
          <a:p>
            <a:r>
              <a:rPr sz="1500">
                <a:solidFill>
                  <a:srgbClr val="262626"/>
                </a:solidFill>
                <a:latin typeface="Consolas"/>
              </a:rPr>
              <a:t>  name = var.repo_name</a:t>
            </a:r>
          </a:p>
          <a:p>
            <a:r>
              <a:rPr sz="1500">
                <a:solidFill>
                  <a:srgbClr val="1F497D"/>
                </a:solidFill>
                <a:latin typeface="Consolas"/>
              </a:rPr>
              <a:t>}</a:t>
            </a:r>
          </a:p>
          <a:p>
            <a:r>
              <a:rPr sz="900"/>
              <a:t> </a:t>
            </a:r>
          </a:p>
          <a:p>
            <a:r>
              <a:rPr sz="1500">
                <a:solidFill>
                  <a:srgbClr val="1F497D"/>
                </a:solidFill>
                <a:latin typeface="Consolas"/>
              </a:rPr>
              <a:t>resource "coolify_environment" "staging" {</a:t>
            </a:r>
          </a:p>
          <a:p>
            <a:r>
              <a:rPr sz="1500">
                <a:solidFill>
                  <a:srgbClr val="262626"/>
                </a:solidFill>
                <a:latin typeface="Consolas"/>
              </a:rPr>
              <a:t>  project_uuid = coolify_project.app.uuid    </a:t>
            </a:r>
            <a:r>
              <a:rPr sz="1500" b="1">
                <a:solidFill>
                  <a:srgbClr val="C0504D"/>
                </a:solidFill>
                <a:latin typeface="Consolas"/>
              </a:rPr>
              <a:t># &lt;- reference</a:t>
            </a:r>
          </a:p>
          <a:p>
            <a:r>
              <a:rPr sz="1500">
                <a:solidFill>
                  <a:srgbClr val="262626"/>
                </a:solidFill>
                <a:latin typeface="Consolas"/>
              </a:rPr>
              <a:t>  name         = "staging"</a:t>
            </a:r>
          </a:p>
          <a:p>
            <a:r>
              <a:rPr sz="1500">
                <a:solidFill>
                  <a:srgbClr val="1F497D"/>
                </a:solidFill>
                <a:latin typeface="Consolas"/>
              </a:rPr>
              <a:t>}</a:t>
            </a:r>
          </a:p>
          <a:p>
            <a:r>
              <a:rPr sz="900"/>
              <a:t> </a:t>
            </a:r>
          </a:p>
          <a:p>
            <a:r>
              <a:rPr sz="1500">
                <a:solidFill>
                  <a:srgbClr val="1F497D"/>
                </a:solidFill>
                <a:latin typeface="Consolas"/>
              </a:rPr>
              <a:t>resource "coolify_application" "staging" {</a:t>
            </a:r>
          </a:p>
          <a:p>
            <a:r>
              <a:rPr sz="1500">
                <a:solidFill>
                  <a:srgbClr val="262626"/>
                </a:solidFill>
                <a:latin typeface="Consolas"/>
              </a:rPr>
              <a:t>  environment_uuid = coolify_environment.staging.uuid</a:t>
            </a:r>
          </a:p>
          <a:p>
            <a:r>
              <a:rPr sz="1500">
                <a:solidFill>
                  <a:srgbClr val="262626"/>
                </a:solidFill>
                <a:latin typeface="Consolas"/>
              </a:rPr>
              <a:t>  git_repository   = "${var.github_org}/${var.repo_name}"</a:t>
            </a:r>
          </a:p>
          <a:p>
            <a:r>
              <a:rPr sz="1500">
                <a:solidFill>
                  <a:srgbClr val="262626"/>
                </a:solidFill>
                <a:latin typeface="Consolas"/>
              </a:rPr>
              <a:t>  git_branch       = "staging"</a:t>
            </a:r>
          </a:p>
          <a:p>
            <a:r>
              <a:rPr sz="1500">
                <a:solidFill>
                  <a:srgbClr val="262626"/>
                </a:solidFill>
                <a:latin typeface="Consolas"/>
              </a:rPr>
              <a:t>  build_pack       = "dockercompose"</a:t>
            </a:r>
          </a:p>
          <a:p>
            <a:r>
              <a:rPr sz="1500">
                <a:solidFill>
                  <a:srgbClr val="262626"/>
                </a:solidFill>
                <a:latin typeface="Consolas"/>
              </a:rPr>
              <a:t>  is_auto_deploy_enabled = false        </a:t>
            </a:r>
            <a:r>
              <a:rPr sz="1500" b="0">
                <a:solidFill>
                  <a:srgbClr val="6A737D"/>
                </a:solidFill>
                <a:latin typeface="Consolas"/>
              </a:rPr>
              <a:t># CI decides when</a:t>
            </a:r>
          </a:p>
          <a:p>
            <a:r>
              <a:rPr sz="1500">
                <a:solidFill>
                  <a:srgbClr val="1F497D"/>
                </a:solidFill>
                <a:latin typeface="Consolas"/>
              </a:rPr>
              <a:t>}</a:t>
            </a:r>
          </a:p>
        </p:txBody>
      </p:sp>
      <p:sp>
        <p:nvSpPr>
          <p:cNvPr id="6" name="Rectangle 5"/>
          <p:cNvSpPr/>
          <p:nvPr/>
        </p:nvSpPr>
        <p:spPr>
          <a:xfrm>
            <a:off x="548640" y="5361431"/>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361431"/>
            <a:ext cx="7863840" cy="731520"/>
          </a:xfrm>
          <a:prstGeom prst="rect">
            <a:avLst/>
          </a:prstGeom>
          <a:noFill/>
        </p:spPr>
        <p:txBody>
          <a:bodyPr wrap="square" anchor="ctr" lIns="27432" rIns="27432" tIns="18288" bIns="18288">
            <a:spAutoFit/>
          </a:bodyPr>
          <a:lstStyle/>
          <a:p>
            <a:pPr algn="l"/>
            <a:r>
              <a:rPr sz="2100" b="1" i="0">
                <a:solidFill>
                  <a:srgbClr val="1F497D"/>
                </a:solidFill>
              </a:rPr>
              <a:t>Each resource references the one it needs. Those references let Terraform work out the order by itself.</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You Never Write the Order</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32</a:t>
            </a:r>
          </a:p>
        </p:txBody>
      </p:sp>
      <p:sp>
        <p:nvSpPr>
          <p:cNvPr id="4" name="Rounded Rectangle 3"/>
          <p:cNvSpPr/>
          <p:nvPr/>
        </p:nvSpPr>
        <p:spPr>
          <a:xfrm>
            <a:off x="3383280" y="1234440"/>
            <a:ext cx="2377440" cy="502920"/>
          </a:xfrm>
          <a:prstGeom prst="roundRect">
            <a:avLst>
              <a:gd name="adj" fmla="val 14545"/>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latin typeface="Consolas"/>
              </a:rPr>
              <a:t>coolify_project</a:t>
            </a:r>
          </a:p>
        </p:txBody>
      </p:sp>
      <p:sp>
        <p:nvSpPr>
          <p:cNvPr id="5" name="Rounded Rectangle 4"/>
          <p:cNvSpPr/>
          <p:nvPr/>
        </p:nvSpPr>
        <p:spPr>
          <a:xfrm>
            <a:off x="1097280" y="2148840"/>
            <a:ext cx="2377440" cy="548640"/>
          </a:xfrm>
          <a:prstGeom prst="roundRect">
            <a:avLst>
              <a:gd name="adj" fmla="val 13333"/>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environment</a:t>
            </a:r>
          </a:p>
          <a:p>
            <a:pPr algn="ctr"/>
            <a:r>
              <a:rPr sz="1400" b="0">
                <a:solidFill>
                  <a:srgbClr val="FFFFFF"/>
                </a:solidFill>
              </a:rPr>
              <a:t>staging</a:t>
            </a:r>
          </a:p>
        </p:txBody>
      </p:sp>
      <p:sp>
        <p:nvSpPr>
          <p:cNvPr id="6" name="Rounded Rectangle 5"/>
          <p:cNvSpPr/>
          <p:nvPr/>
        </p:nvSpPr>
        <p:spPr>
          <a:xfrm>
            <a:off x="5669280" y="2148840"/>
            <a:ext cx="2377440" cy="548640"/>
          </a:xfrm>
          <a:prstGeom prst="roundRect">
            <a:avLst>
              <a:gd name="adj" fmla="val 13333"/>
            </a:avLst>
          </a:prstGeom>
          <a:solidFill>
            <a:srgbClr val="FFFFFF"/>
          </a:solidFill>
          <a:ln w="19050">
            <a:solidFill>
              <a:srgbClr val="769A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769A3A"/>
                </a:solidFill>
              </a:rPr>
              <a:t>environment: production</a:t>
            </a:r>
          </a:p>
          <a:p>
            <a:pPr algn="ctr"/>
            <a:r>
              <a:rPr sz="1300" b="0">
                <a:solidFill>
                  <a:srgbClr val="769A3A"/>
                </a:solidFill>
              </a:rPr>
              <a:t>(Coolify makes it)</a:t>
            </a:r>
          </a:p>
        </p:txBody>
      </p:sp>
      <p:sp>
        <p:nvSpPr>
          <p:cNvPr id="7" name="Rounded Rectangle 6"/>
          <p:cNvSpPr/>
          <p:nvPr/>
        </p:nvSpPr>
        <p:spPr>
          <a:xfrm>
            <a:off x="1097280" y="3154680"/>
            <a:ext cx="2377440" cy="548640"/>
          </a:xfrm>
          <a:prstGeom prst="roundRect">
            <a:avLst>
              <a:gd name="adj" fmla="val 13333"/>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application</a:t>
            </a:r>
          </a:p>
          <a:p>
            <a:pPr algn="ctr"/>
            <a:r>
              <a:rPr sz="1400" b="0">
                <a:solidFill>
                  <a:srgbClr val="FFFFFF"/>
                </a:solidFill>
              </a:rPr>
              <a:t>staging</a:t>
            </a:r>
          </a:p>
        </p:txBody>
      </p:sp>
      <p:sp>
        <p:nvSpPr>
          <p:cNvPr id="8" name="Rounded Rectangle 7"/>
          <p:cNvSpPr/>
          <p:nvPr/>
        </p:nvSpPr>
        <p:spPr>
          <a:xfrm>
            <a:off x="5669280" y="3154680"/>
            <a:ext cx="2377440" cy="548640"/>
          </a:xfrm>
          <a:prstGeom prst="roundRect">
            <a:avLst>
              <a:gd name="adj" fmla="val 13333"/>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application</a:t>
            </a:r>
          </a:p>
          <a:p>
            <a:pPr algn="ctr"/>
            <a:r>
              <a:rPr sz="1400" b="0">
                <a:solidFill>
                  <a:srgbClr val="FFFFFF"/>
                </a:solidFill>
              </a:rPr>
              <a:t>production</a:t>
            </a:r>
          </a:p>
        </p:txBody>
      </p:sp>
      <p:sp>
        <p:nvSpPr>
          <p:cNvPr id="9" name="Rounded Rectangle 8"/>
          <p:cNvSpPr/>
          <p:nvPr/>
        </p:nvSpPr>
        <p:spPr>
          <a:xfrm>
            <a:off x="1097280" y="4160520"/>
            <a:ext cx="2377440" cy="548640"/>
          </a:xfrm>
          <a:prstGeom prst="roundRect">
            <a:avLst>
              <a:gd name="adj" fmla="val 13333"/>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secret:</a:t>
            </a:r>
          </a:p>
          <a:p>
            <a:pPr algn="ctr"/>
            <a:r>
              <a:rPr sz="1300" b="0">
                <a:solidFill>
                  <a:srgbClr val="FFFFFF"/>
                </a:solidFill>
              </a:rPr>
              <a:t>WEBHOOK_STAGING</a:t>
            </a:r>
          </a:p>
        </p:txBody>
      </p:sp>
      <p:sp>
        <p:nvSpPr>
          <p:cNvPr id="10" name="Rounded Rectangle 9"/>
          <p:cNvSpPr/>
          <p:nvPr/>
        </p:nvSpPr>
        <p:spPr>
          <a:xfrm>
            <a:off x="5669280" y="4160520"/>
            <a:ext cx="2377440" cy="548640"/>
          </a:xfrm>
          <a:prstGeom prst="roundRect">
            <a:avLst>
              <a:gd name="adj" fmla="val 13333"/>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secret:</a:t>
            </a:r>
          </a:p>
          <a:p>
            <a:pPr algn="ctr"/>
            <a:r>
              <a:rPr sz="1300" b="0">
                <a:solidFill>
                  <a:srgbClr val="FFFFFF"/>
                </a:solidFill>
              </a:rPr>
              <a:t>WEBHOOK_PROD</a:t>
            </a:r>
          </a:p>
        </p:txBody>
      </p:sp>
      <p:sp>
        <p:nvSpPr>
          <p:cNvPr id="11" name="Rounded Rectangle 10"/>
          <p:cNvSpPr/>
          <p:nvPr/>
        </p:nvSpPr>
        <p:spPr>
          <a:xfrm>
            <a:off x="3566160" y="4160520"/>
            <a:ext cx="2011680" cy="548640"/>
          </a:xfrm>
          <a:prstGeom prst="roundRect">
            <a:avLst>
              <a:gd name="adj" fmla="val 13333"/>
            </a:avLst>
          </a:prstGeom>
          <a:solidFill>
            <a:srgbClr val="FFFFFF"/>
          </a:solidFill>
          <a:ln w="19050">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8064A2"/>
                </a:solidFill>
              </a:rPr>
              <a:t>secret:</a:t>
            </a:r>
          </a:p>
          <a:p>
            <a:pPr algn="ctr"/>
            <a:r>
              <a:rPr sz="1300" b="0">
                <a:solidFill>
                  <a:srgbClr val="8064A2"/>
                </a:solidFill>
              </a:rPr>
              <a:t>API_TOKEN</a:t>
            </a:r>
          </a:p>
        </p:txBody>
      </p:sp>
      <p:sp>
        <p:nvSpPr>
          <p:cNvPr id="12" name="TextBox 11"/>
          <p:cNvSpPr txBox="1"/>
          <p:nvPr/>
        </p:nvSpPr>
        <p:spPr>
          <a:xfrm>
            <a:off x="3566160" y="4736592"/>
            <a:ext cx="2011680" cy="320040"/>
          </a:xfrm>
          <a:prstGeom prst="rect">
            <a:avLst/>
          </a:prstGeom>
          <a:noFill/>
        </p:spPr>
        <p:txBody>
          <a:bodyPr wrap="square" anchor="t" lIns="27432" rIns="27432" tIns="18288" bIns="18288">
            <a:spAutoFit/>
          </a:bodyPr>
          <a:lstStyle/>
          <a:p>
            <a:pPr algn="ctr"/>
            <a:r>
              <a:rPr sz="1100" b="0" i="1">
                <a:solidFill>
                  <a:srgbClr val="8064A2"/>
                </a:solidFill>
              </a:rPr>
              <a:t>no dependencies →</a:t>
            </a:r>
          </a:p>
          <a:p>
            <a:pPr algn="ctr"/>
            <a:r>
              <a:rPr sz="1100" b="0" i="1">
                <a:solidFill>
                  <a:srgbClr val="8064A2"/>
                </a:solidFill>
              </a:rPr>
              <a:t>built in parallel</a:t>
            </a:r>
          </a:p>
        </p:txBody>
      </p:sp>
      <p:cxnSp>
        <p:nvCxnSpPr>
          <p:cNvPr id="13" name="Connector 12"/>
          <p:cNvCxnSpPr/>
          <p:nvPr/>
        </p:nvCxnSpPr>
        <p:spPr>
          <a:xfrm flipH="1">
            <a:off x="2377440" y="1755648"/>
            <a:ext cx="1554480" cy="374904"/>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846320" y="1755648"/>
            <a:ext cx="914400" cy="1380744"/>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286000" y="2715768"/>
            <a:ext cx="0" cy="420624"/>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2715768"/>
            <a:ext cx="0" cy="420624"/>
          </a:xfrm>
          <a:prstGeom prst="line">
            <a:avLst/>
          </a:prstGeom>
          <a:ln w="25400">
            <a:solidFill>
              <a:srgbClr val="769A3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286000" y="3721608"/>
            <a:ext cx="0" cy="420624"/>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3721608"/>
            <a:ext cx="0" cy="420624"/>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48640" y="530352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03520"/>
            <a:ext cx="7863840" cy="731520"/>
          </a:xfrm>
          <a:prstGeom prst="rect">
            <a:avLst/>
          </a:prstGeom>
          <a:noFill/>
        </p:spPr>
        <p:txBody>
          <a:bodyPr wrap="square" anchor="ctr" lIns="27432" rIns="27432" tIns="18288" bIns="18288">
            <a:spAutoFit/>
          </a:bodyPr>
          <a:lstStyle/>
          <a:p>
            <a:pPr algn="l"/>
            <a:r>
              <a:rPr sz="2100" b="1" i="0">
                <a:solidFill>
                  <a:srgbClr val="1F497D"/>
                </a:solidFill>
              </a:rPr>
              <a:t>The project comes first because everything needs its UUID —</a:t>
            </a:r>
          </a:p>
          <a:p>
            <a:pPr algn="l"/>
            <a:r>
              <a:rPr sz="2100" b="1" i="0">
                <a:solidFill>
                  <a:srgbClr val="1F497D"/>
                </a:solidFill>
              </a:rPr>
              <a:t>not because you listed it first.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Outputs — What You Get Back</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33</a:t>
            </a:r>
          </a:p>
        </p:txBody>
      </p:sp>
      <p:sp>
        <p:nvSpPr>
          <p:cNvPr id="4" name="Rectangle 3"/>
          <p:cNvSpPr/>
          <p:nvPr/>
        </p:nvSpPr>
        <p:spPr>
          <a:xfrm>
            <a:off x="365760" y="1234440"/>
            <a:ext cx="8412480" cy="2611602"/>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502920" y="1325880"/>
            <a:ext cx="8229600" cy="2428722"/>
          </a:xfrm>
          <a:prstGeom prst="rect">
            <a:avLst/>
          </a:prstGeom>
          <a:noFill/>
        </p:spPr>
        <p:txBody>
          <a:bodyPr wrap="square">
            <a:spAutoFit/>
          </a:bodyPr>
          <a:lstStyle/>
          <a:p>
            <a:r>
              <a:rPr sz="1450">
                <a:solidFill>
                  <a:srgbClr val="1F497D"/>
                </a:solidFill>
                <a:latin typeface="Consolas"/>
              </a:rPr>
              <a:t>output "production_app_uuid" {</a:t>
            </a:r>
          </a:p>
          <a:p>
            <a:r>
              <a:rPr sz="1450">
                <a:solidFill>
                  <a:srgbClr val="262626"/>
                </a:solidFill>
                <a:latin typeface="Consolas"/>
              </a:rPr>
              <a:t>  value = coolify_application.production.uuid</a:t>
            </a:r>
          </a:p>
          <a:p>
            <a:r>
              <a:rPr sz="1450">
                <a:solidFill>
                  <a:srgbClr val="1F497D"/>
                </a:solidFill>
                <a:latin typeface="Consolas"/>
              </a:rPr>
              <a:t>}</a:t>
            </a:r>
          </a:p>
          <a:p>
            <a:r>
              <a:rPr sz="869"/>
              <a:t> </a:t>
            </a:r>
          </a:p>
          <a:p>
            <a:r>
              <a:rPr sz="1450">
                <a:solidFill>
                  <a:srgbClr val="1F497D"/>
                </a:solidFill>
                <a:latin typeface="Consolas"/>
              </a:rPr>
              <a:t>output "staging_url" {</a:t>
            </a:r>
          </a:p>
          <a:p>
            <a:r>
              <a:rPr sz="1450">
                <a:solidFill>
                  <a:srgbClr val="262626"/>
                </a:solidFill>
                <a:latin typeface="Consolas"/>
              </a:rPr>
              <a:t>  value = "http://${var.repo_name}-staging.${var.app_domain_base}"</a:t>
            </a:r>
          </a:p>
          <a:p>
            <a:r>
              <a:rPr sz="1450">
                <a:solidFill>
                  <a:srgbClr val="1F497D"/>
                </a:solidFill>
                <a:latin typeface="Consolas"/>
              </a:rPr>
              <a:t>}</a:t>
            </a:r>
          </a:p>
          <a:p>
            <a:r>
              <a:rPr sz="869"/>
              <a:t> </a:t>
            </a:r>
          </a:p>
          <a:p>
            <a:r>
              <a:rPr sz="1450">
                <a:solidFill>
                  <a:srgbClr val="1F497D"/>
                </a:solidFill>
                <a:latin typeface="Consolas"/>
              </a:rPr>
              <a:t>output "next_steps" {       </a:t>
            </a:r>
            <a:r>
              <a:rPr sz="1450" b="0">
                <a:solidFill>
                  <a:srgbClr val="6A737D"/>
                </a:solidFill>
                <a:latin typeface="Consolas"/>
              </a:rPr>
              <a:t># prints the one manual step, filled in</a:t>
            </a:r>
          </a:p>
          <a:p>
            <a:r>
              <a:rPr sz="1450">
                <a:solidFill>
                  <a:srgbClr val="262626"/>
                </a:solidFill>
                <a:latin typeface="Consolas"/>
              </a:rPr>
              <a:t>  value = &lt;&lt;-EOT ... EOT</a:t>
            </a:r>
          </a:p>
          <a:p>
            <a:r>
              <a:rPr sz="1450">
                <a:solidFill>
                  <a:srgbClr val="1F497D"/>
                </a:solidFill>
                <a:latin typeface="Consolas"/>
              </a:rPr>
              <a:t>}</a:t>
            </a:r>
          </a:p>
        </p:txBody>
      </p:sp>
      <p:sp>
        <p:nvSpPr>
          <p:cNvPr id="6" name="Rectangle 5"/>
          <p:cNvSpPr/>
          <p:nvPr/>
        </p:nvSpPr>
        <p:spPr>
          <a:xfrm>
            <a:off x="548640" y="4120362"/>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120362"/>
            <a:ext cx="7863840" cy="731520"/>
          </a:xfrm>
          <a:prstGeom prst="rect">
            <a:avLst/>
          </a:prstGeom>
          <a:noFill/>
        </p:spPr>
        <p:txBody>
          <a:bodyPr wrap="square" anchor="ctr" lIns="27432" rIns="27432" tIns="18288" bIns="18288">
            <a:spAutoFit/>
          </a:bodyPr>
          <a:lstStyle/>
          <a:p>
            <a:pPr algn="l"/>
            <a:r>
              <a:rPr sz="2100" b="1" i="0">
                <a:solidFill>
                  <a:srgbClr val="1F497D"/>
                </a:solidFill>
              </a:rPr>
              <a:t>Outputs are the return values of your infrastructure — facts you didn't know until it existed.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State: the Part People Trip Over</a:t>
            </a:r>
          </a:p>
        </p:txBody>
      </p:sp>
      <p:sp>
        <p:nvSpPr>
          <p:cNvPr id="3" name="Content Placeholder 2"/>
          <p:cNvSpPr>
            <a:spLocks noGrp="1"/>
          </p:cNvSpPr>
          <p:nvPr>
            <p:ph idx="1"/>
          </p:nvPr>
        </p:nvSpPr>
        <p:spPr>
          <a:xfrm>
            <a:off x="548640" y="1280160"/>
            <a:ext cx="8046720" cy="4846320"/>
          </a:xfrm>
        </p:spPr>
        <p:txBody>
          <a:bodyPr wrap="square"/>
          <a:lstStyle/>
          <a:p>
            <a:pPr>
              <a:spcBef>
                <a:spcPts val="1000"/>
              </a:spcBef>
            </a:pPr>
            <a:r>
              <a:rPr sz="2400"/>
              <a:t>terraform.tfstate maps each resource to its real ID</a:t>
            </a:r>
          </a:p>
          <a:p>
            <a:pPr>
              <a:spcBef>
                <a:spcPts val="1000"/>
              </a:spcBef>
            </a:pPr>
            <a:r>
              <a:rPr sz="2400"/>
              <a:t>It is how Terraform knows “I already made that”</a:t>
            </a:r>
          </a:p>
          <a:p>
            <a:pPr>
              <a:spcBef>
                <a:spcPts val="1000"/>
              </a:spcBef>
            </a:pPr>
            <a:r>
              <a:rPr sz="2400"/>
              <a:t>Delete it and Terraform forgets — then tries to create duplicates</a:t>
            </a:r>
          </a:p>
          <a:p>
            <a:pPr>
              <a:spcBef>
                <a:spcPts val="1000"/>
              </a:spcBef>
            </a:pPr>
            <a:r>
              <a:rPr sz="2400"/>
              <a:t>It holds secrets in plain text. It is gitignored for a reason.</a:t>
            </a:r>
          </a:p>
          <a:p>
            <a:pPr>
              <a:spcBef>
                <a:spcPts val="1000"/>
              </a:spcBef>
            </a:pPr>
            <a:r>
              <a:rPr sz="2400"/>
              <a:t>Teams keep it in shared remote storage (S3, GCS, Terraform Cloud)</a:t>
            </a:r>
          </a:p>
          <a:p>
            <a:pPr lvl="1">
              <a:spcBef>
                <a:spcPts val="200"/>
              </a:spcBef>
            </a:pPr>
            <a:r>
              <a:rPr sz="2000">
                <a:solidFill>
                  <a:srgbClr val="404040"/>
                </a:solidFill>
              </a:rPr>
              <a:t>you will keep it local — so don't lose your laptop's copy</a:t>
            </a:r>
          </a:p>
        </p:txBody>
      </p:sp>
      <p:sp>
        <p:nvSpPr>
          <p:cNvPr id="4" name="TextBox 3"/>
          <p:cNvSpPr txBox="1"/>
          <p:nvPr/>
        </p:nvSpPr>
        <p:spPr>
          <a:xfrm>
            <a:off x="8138160" y="6473952"/>
            <a:ext cx="822960" cy="274320"/>
          </a:xfrm>
          <a:prstGeom prst="rect">
            <a:avLst/>
          </a:prstGeom>
          <a:noFill/>
        </p:spPr>
        <p:txBody>
          <a:bodyPr wrap="none">
            <a:spAutoFit/>
          </a:bodyPr>
          <a:lstStyle/>
          <a:p>
            <a:pPr algn="r"/>
            <a:r>
              <a:rPr sz="1100">
                <a:solidFill>
                  <a:srgbClr val="7F7F7F"/>
                </a:solidFil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What It Cannot Do</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Terraform is only as capable as its provider</a:t>
            </a:r>
          </a:p>
          <a:p>
            <a:pPr>
              <a:spcBef>
                <a:spcPts val="1000"/>
              </a:spcBef>
            </a:pPr>
            <a:r>
              <a:rPr sz="2400"/>
              <a:t>Ours cannot set a per-service domain on a compose app</a:t>
            </a:r>
          </a:p>
          <a:p>
            <a:pPr>
              <a:spcBef>
                <a:spcPts val="1000"/>
              </a:spcBef>
            </a:pPr>
            <a:r>
              <a:rPr sz="2400"/>
              <a:t>So that one step stays manual — and is documented as manual</a:t>
            </a:r>
          </a:p>
          <a:p>
            <a:pPr>
              <a:spcBef>
                <a:spcPts val="1000"/>
              </a:spcBef>
            </a:pPr>
            <a:r>
              <a:rPr sz="2400"/>
              <a:t>Honest IaC: automate the 90%, write down the 10%</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A fragile automation that fights the tool is worse than a checklist.</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Moving to a Different Provider</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36</a:t>
            </a:r>
          </a:p>
        </p:txBody>
      </p:sp>
      <p:sp>
        <p:nvSpPr>
          <p:cNvPr id="4" name="Rounded Rectangle 3"/>
          <p:cNvSpPr/>
          <p:nvPr/>
        </p:nvSpPr>
        <p:spPr>
          <a:xfrm>
            <a:off x="274320" y="1280160"/>
            <a:ext cx="4069080" cy="502920"/>
          </a:xfrm>
          <a:prstGeom prst="roundRect">
            <a:avLst>
              <a:gd name="adj" fmla="val 14545"/>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FFFFFF"/>
                </a:solidFill>
              </a:rPr>
              <a:t>WHAT CHANGES</a:t>
            </a:r>
          </a:p>
        </p:txBody>
      </p:sp>
      <p:sp>
        <p:nvSpPr>
          <p:cNvPr id="5" name="Rounded Rectangle 4"/>
          <p:cNvSpPr/>
          <p:nvPr/>
        </p:nvSpPr>
        <p:spPr>
          <a:xfrm>
            <a:off x="4800600" y="1280160"/>
            <a:ext cx="4069080" cy="502920"/>
          </a:xfrm>
          <a:prstGeom prst="roundRect">
            <a:avLst>
              <a:gd name="adj" fmla="val 14545"/>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FFFFFF"/>
                </a:solidFill>
              </a:rPr>
              <a:t>WHAT DOES NOT</a:t>
            </a:r>
          </a:p>
        </p:txBody>
      </p:sp>
      <p:sp>
        <p:nvSpPr>
          <p:cNvPr id="6" name="Rounded Rectangle 5"/>
          <p:cNvSpPr/>
          <p:nvPr/>
        </p:nvSpPr>
        <p:spPr>
          <a:xfrm>
            <a:off x="274320" y="1892807"/>
            <a:ext cx="4069080" cy="457200"/>
          </a:xfrm>
          <a:prstGeom prst="roundRect">
            <a:avLst>
              <a:gd name="adj" fmla="val 16000"/>
            </a:avLst>
          </a:prstGeom>
          <a:solidFill>
            <a:srgbClr val="FFFFFF"/>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the provider block</a:t>
            </a:r>
          </a:p>
        </p:txBody>
      </p:sp>
      <p:sp>
        <p:nvSpPr>
          <p:cNvPr id="7" name="Rounded Rectangle 6"/>
          <p:cNvSpPr/>
          <p:nvPr/>
        </p:nvSpPr>
        <p:spPr>
          <a:xfrm>
            <a:off x="274320" y="2441448"/>
            <a:ext cx="4069080" cy="457200"/>
          </a:xfrm>
          <a:prstGeom prst="roundRect">
            <a:avLst>
              <a:gd name="adj" fmla="val 16000"/>
            </a:avLst>
          </a:prstGeom>
          <a:solidFill>
            <a:srgbClr val="FFFFFF"/>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resource type names</a:t>
            </a:r>
          </a:p>
        </p:txBody>
      </p:sp>
      <p:sp>
        <p:nvSpPr>
          <p:cNvPr id="8" name="Rounded Rectangle 7"/>
          <p:cNvSpPr/>
          <p:nvPr/>
        </p:nvSpPr>
        <p:spPr>
          <a:xfrm>
            <a:off x="274320" y="2990087"/>
            <a:ext cx="4069080" cy="457200"/>
          </a:xfrm>
          <a:prstGeom prst="roundRect">
            <a:avLst>
              <a:gd name="adj" fmla="val 16000"/>
            </a:avLst>
          </a:prstGeom>
          <a:solidFill>
            <a:srgbClr val="FFFFFF"/>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resource-specific arguments</a:t>
            </a:r>
          </a:p>
        </p:txBody>
      </p:sp>
      <p:sp>
        <p:nvSpPr>
          <p:cNvPr id="9" name="Rounded Rectangle 8"/>
          <p:cNvSpPr/>
          <p:nvPr/>
        </p:nvSpPr>
        <p:spPr>
          <a:xfrm>
            <a:off x="274320" y="3538727"/>
            <a:ext cx="4069080" cy="457200"/>
          </a:xfrm>
          <a:prstGeom prst="roundRect">
            <a:avLst>
              <a:gd name="adj" fmla="val 16000"/>
            </a:avLst>
          </a:prstGeom>
          <a:solidFill>
            <a:srgbClr val="FFFFFF"/>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the credentials you supply</a:t>
            </a:r>
          </a:p>
        </p:txBody>
      </p:sp>
      <p:sp>
        <p:nvSpPr>
          <p:cNvPr id="10" name="Rounded Rectangle 9"/>
          <p:cNvSpPr/>
          <p:nvPr/>
        </p:nvSpPr>
        <p:spPr>
          <a:xfrm>
            <a:off x="4800600" y="1892807"/>
            <a:ext cx="406908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your application code</a:t>
            </a:r>
          </a:p>
        </p:txBody>
      </p:sp>
      <p:sp>
        <p:nvSpPr>
          <p:cNvPr id="11" name="Rounded Rectangle 10"/>
          <p:cNvSpPr/>
          <p:nvPr/>
        </p:nvSpPr>
        <p:spPr>
          <a:xfrm>
            <a:off x="4800600" y="2441448"/>
            <a:ext cx="406908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your Dockerfile and compose file</a:t>
            </a:r>
          </a:p>
        </p:txBody>
      </p:sp>
      <p:sp>
        <p:nvSpPr>
          <p:cNvPr id="12" name="Rounded Rectangle 11"/>
          <p:cNvSpPr/>
          <p:nvPr/>
        </p:nvSpPr>
        <p:spPr>
          <a:xfrm>
            <a:off x="4800600" y="2990087"/>
            <a:ext cx="406908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the CI workflow and its gates</a:t>
            </a:r>
          </a:p>
        </p:txBody>
      </p:sp>
      <p:sp>
        <p:nvSpPr>
          <p:cNvPr id="13" name="Rounded Rectangle 12"/>
          <p:cNvSpPr/>
          <p:nvPr/>
        </p:nvSpPr>
        <p:spPr>
          <a:xfrm>
            <a:off x="4800600" y="3538727"/>
            <a:ext cx="406908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variables, outputs, structure</a:t>
            </a:r>
          </a:p>
        </p:txBody>
      </p:sp>
      <p:sp>
        <p:nvSpPr>
          <p:cNvPr id="14" name="Rounded Rectangle 13"/>
          <p:cNvSpPr/>
          <p:nvPr/>
        </p:nvSpPr>
        <p:spPr>
          <a:xfrm>
            <a:off x="4800600" y="4087368"/>
            <a:ext cx="406908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init → plan → apply</a:t>
            </a:r>
          </a:p>
        </p:txBody>
      </p:sp>
      <p:sp>
        <p:nvSpPr>
          <p:cNvPr id="15" name="Rounded Rectangle 14"/>
          <p:cNvSpPr/>
          <p:nvPr/>
        </p:nvSpPr>
        <p:spPr>
          <a:xfrm>
            <a:off x="4800600" y="4636008"/>
            <a:ext cx="406908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how you think about it</a:t>
            </a:r>
          </a:p>
        </p:txBody>
      </p:sp>
      <p:sp>
        <p:nvSpPr>
          <p:cNvPr id="16" name="Rectangle 15"/>
          <p:cNvSpPr/>
          <p:nvPr/>
        </p:nvSpPr>
        <p:spPr>
          <a:xfrm>
            <a:off x="548640" y="530352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303520"/>
            <a:ext cx="7863840" cy="731520"/>
          </a:xfrm>
          <a:prstGeom prst="rect">
            <a:avLst/>
          </a:prstGeom>
          <a:noFill/>
        </p:spPr>
        <p:txBody>
          <a:bodyPr wrap="square" anchor="ctr" lIns="27432" rIns="27432" tIns="18288" bIns="18288">
            <a:spAutoFit/>
          </a:bodyPr>
          <a:lstStyle/>
          <a:p>
            <a:pPr algn="l"/>
            <a:r>
              <a:rPr sz="2100" b="1" i="0">
                <a:solidFill>
                  <a:srgbClr val="1F497D"/>
                </a:solidFill>
              </a:rPr>
              <a:t>You are not learning Coolify. You are learning a shape</a:t>
            </a:r>
          </a:p>
          <a:p>
            <a:pPr algn="l"/>
            <a:r>
              <a:rPr sz="2100" b="1" i="0">
                <a:solidFill>
                  <a:srgbClr val="1F497D"/>
                </a:solidFill>
              </a:rPr>
              <a:t>that AWS, Google Cloud and Azure also have.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The Same Idea, Somewhere Else</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37</a:t>
            </a:r>
          </a:p>
        </p:txBody>
      </p:sp>
      <p:sp>
        <p:nvSpPr>
          <p:cNvPr id="4" name="Rectangle 3"/>
          <p:cNvSpPr/>
          <p:nvPr/>
        </p:nvSpPr>
        <p:spPr>
          <a:xfrm>
            <a:off x="365760" y="1234440"/>
            <a:ext cx="8412480" cy="3480816"/>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502920" y="1325880"/>
            <a:ext cx="8229600" cy="3297936"/>
          </a:xfrm>
          <a:prstGeom prst="rect">
            <a:avLst/>
          </a:prstGeom>
          <a:noFill/>
        </p:spPr>
        <p:txBody>
          <a:bodyPr wrap="square">
            <a:spAutoFit/>
          </a:bodyPr>
          <a:lstStyle/>
          <a:p>
            <a:r>
              <a:rPr sz="1500" b="0">
                <a:solidFill>
                  <a:srgbClr val="6A737D"/>
                </a:solidFill>
                <a:latin typeface="Consolas"/>
              </a:rPr>
              <a:t># today — Coolify on the class cluster</a:t>
            </a:r>
          </a:p>
          <a:p>
            <a:r>
              <a:rPr sz="1500">
                <a:solidFill>
                  <a:srgbClr val="1F497D"/>
                </a:solidFill>
                <a:latin typeface="Consolas"/>
              </a:rPr>
              <a:t>resource "coolify_application" "production" {</a:t>
            </a:r>
          </a:p>
          <a:p>
            <a:r>
              <a:rPr sz="1500">
                <a:solidFill>
                  <a:srgbClr val="262626"/>
                </a:solidFill>
                <a:latin typeface="Consolas"/>
              </a:rPr>
              <a:t>  git_repository = "${var.github_org}/${var.repo_name}"</a:t>
            </a:r>
          </a:p>
          <a:p>
            <a:r>
              <a:rPr sz="1500">
                <a:solidFill>
                  <a:srgbClr val="262626"/>
                </a:solidFill>
                <a:latin typeface="Consolas"/>
              </a:rPr>
              <a:t>  git_branch     = "main"</a:t>
            </a:r>
          </a:p>
          <a:p>
            <a:r>
              <a:rPr sz="1500">
                <a:solidFill>
                  <a:srgbClr val="1F497D"/>
                </a:solidFill>
                <a:latin typeface="Consolas"/>
              </a:rPr>
              <a:t>}</a:t>
            </a:r>
          </a:p>
          <a:p>
            <a:r>
              <a:rPr sz="900"/>
              <a:t> </a:t>
            </a:r>
          </a:p>
          <a:p>
            <a:r>
              <a:rPr sz="1500" b="0">
                <a:solidFill>
                  <a:srgbClr val="6A737D"/>
                </a:solidFill>
                <a:latin typeface="Consolas"/>
              </a:rPr>
              <a:t># tomorrow — Google Cloud Run, same place in the same graph</a:t>
            </a:r>
          </a:p>
          <a:p>
            <a:r>
              <a:rPr sz="1500">
                <a:solidFill>
                  <a:srgbClr val="1F497D"/>
                </a:solidFill>
                <a:latin typeface="Consolas"/>
              </a:rPr>
              <a:t>resource "google_cloud_run_v2_service" "production" {</a:t>
            </a:r>
          </a:p>
          <a:p>
            <a:r>
              <a:rPr sz="1500">
                <a:solidFill>
                  <a:srgbClr val="262626"/>
                </a:solidFill>
                <a:latin typeface="Consolas"/>
              </a:rPr>
              <a:t>  name     = "${var.repo_name}-prod"</a:t>
            </a:r>
          </a:p>
          <a:p>
            <a:r>
              <a:rPr sz="1500">
                <a:solidFill>
                  <a:srgbClr val="262626"/>
                </a:solidFill>
                <a:latin typeface="Consolas"/>
              </a:rPr>
              <a:t>  location = var.region</a:t>
            </a:r>
          </a:p>
          <a:p>
            <a:r>
              <a:rPr sz="1500">
                <a:solidFill>
                  <a:srgbClr val="262626"/>
                </a:solidFill>
                <a:latin typeface="Consolas"/>
              </a:rPr>
              <a:t>  template {</a:t>
            </a:r>
          </a:p>
          <a:p>
            <a:r>
              <a:rPr sz="1500">
                <a:solidFill>
                  <a:srgbClr val="262626"/>
                </a:solidFill>
                <a:latin typeface="Consolas"/>
              </a:rPr>
              <a:t>    containers { image = var.image }   </a:t>
            </a:r>
            <a:r>
              <a:rPr sz="1500" b="0">
                <a:solidFill>
                  <a:srgbClr val="6A737D"/>
                </a:solidFill>
                <a:latin typeface="Consolas"/>
              </a:rPr>
              <a:t># an image, not a repo</a:t>
            </a:r>
          </a:p>
          <a:p>
            <a:r>
              <a:rPr sz="1500">
                <a:solidFill>
                  <a:srgbClr val="262626"/>
                </a:solidFill>
                <a:latin typeface="Consolas"/>
              </a:rPr>
              <a:t>  }</a:t>
            </a:r>
          </a:p>
          <a:p>
            <a:r>
              <a:rPr sz="1500">
                <a:solidFill>
                  <a:srgbClr val="1F497D"/>
                </a:solidFill>
                <a:latin typeface="Consolas"/>
              </a:rPr>
              <a:t>}</a:t>
            </a:r>
          </a:p>
        </p:txBody>
      </p:sp>
      <p:sp>
        <p:nvSpPr>
          <p:cNvPr id="6" name="Rectangle 5"/>
          <p:cNvSpPr/>
          <p:nvPr/>
        </p:nvSpPr>
        <p:spPr>
          <a:xfrm>
            <a:off x="548640" y="4989575"/>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89575"/>
            <a:ext cx="7863840" cy="731520"/>
          </a:xfrm>
          <a:prstGeom prst="rect">
            <a:avLst/>
          </a:prstGeom>
          <a:noFill/>
        </p:spPr>
        <p:txBody>
          <a:bodyPr wrap="square" anchor="ctr" lIns="27432" rIns="27432" tIns="18288" bIns="18288">
            <a:spAutoFit/>
          </a:bodyPr>
          <a:lstStyle/>
          <a:p>
            <a:pPr algn="l"/>
            <a:r>
              <a:rPr sz="2100" b="1" i="0">
                <a:solidFill>
                  <a:srgbClr val="1F497D"/>
                </a:solidFill>
              </a:rPr>
              <a:t>Different nouns, same workflow. The GitHub secrets and the CI pipeline don't move at all.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What If It Were Kubernetes?</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38</a:t>
            </a:r>
          </a:p>
        </p:txBody>
      </p:sp>
      <p:sp>
        <p:nvSpPr>
          <p:cNvPr id="4" name="Rounded Rectangle 3"/>
          <p:cNvSpPr/>
          <p:nvPr/>
        </p:nvSpPr>
        <p:spPr>
          <a:xfrm>
            <a:off x="274320" y="1234440"/>
            <a:ext cx="3566160" cy="457200"/>
          </a:xfrm>
          <a:prstGeom prst="roundRect">
            <a:avLst>
              <a:gd name="adj" fmla="val 16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COOLIFY TODAY</a:t>
            </a:r>
          </a:p>
        </p:txBody>
      </p:sp>
      <p:sp>
        <p:nvSpPr>
          <p:cNvPr id="5" name="Rounded Rectangle 4"/>
          <p:cNvSpPr/>
          <p:nvPr/>
        </p:nvSpPr>
        <p:spPr>
          <a:xfrm>
            <a:off x="4663440" y="1234440"/>
            <a:ext cx="4206240" cy="457200"/>
          </a:xfrm>
          <a:prstGeom prst="roundRect">
            <a:avLst>
              <a:gd name="adj" fmla="val 160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KUBERNETES</a:t>
            </a:r>
          </a:p>
        </p:txBody>
      </p:sp>
      <p:sp>
        <p:nvSpPr>
          <p:cNvPr id="6" name="Rounded Rectangle 5"/>
          <p:cNvSpPr/>
          <p:nvPr/>
        </p:nvSpPr>
        <p:spPr>
          <a:xfrm>
            <a:off x="274320" y="1783080"/>
            <a:ext cx="3566160" cy="429768"/>
          </a:xfrm>
          <a:prstGeom prst="roundRect">
            <a:avLst>
              <a:gd name="adj" fmla="val 17021"/>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coolify provider</a:t>
            </a:r>
          </a:p>
        </p:txBody>
      </p:sp>
      <p:sp>
        <p:nvSpPr>
          <p:cNvPr id="7" name="Right Arrow 6"/>
          <p:cNvSpPr/>
          <p:nvPr/>
        </p:nvSpPr>
        <p:spPr>
          <a:xfrm>
            <a:off x="3977639" y="1874519"/>
            <a:ext cx="548640" cy="246888"/>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783080"/>
            <a:ext cx="4206240" cy="429768"/>
          </a:xfrm>
          <a:prstGeom prst="roundRect">
            <a:avLst>
              <a:gd name="adj" fmla="val 170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kubernetes provider (kubeconfig)</a:t>
            </a:r>
          </a:p>
        </p:txBody>
      </p:sp>
      <p:sp>
        <p:nvSpPr>
          <p:cNvPr id="9" name="Rounded Rectangle 8"/>
          <p:cNvSpPr/>
          <p:nvPr/>
        </p:nvSpPr>
        <p:spPr>
          <a:xfrm>
            <a:off x="274320" y="2304288"/>
            <a:ext cx="3566160" cy="429768"/>
          </a:xfrm>
          <a:prstGeom prst="roundRect">
            <a:avLst>
              <a:gd name="adj" fmla="val 17021"/>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project + environment</a:t>
            </a:r>
          </a:p>
        </p:txBody>
      </p:sp>
      <p:sp>
        <p:nvSpPr>
          <p:cNvPr id="10" name="Right Arrow 9"/>
          <p:cNvSpPr/>
          <p:nvPr/>
        </p:nvSpPr>
        <p:spPr>
          <a:xfrm>
            <a:off x="3977639" y="2395728"/>
            <a:ext cx="548640" cy="246888"/>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63440" y="2304288"/>
            <a:ext cx="4206240" cy="429768"/>
          </a:xfrm>
          <a:prstGeom prst="roundRect">
            <a:avLst>
              <a:gd name="adj" fmla="val 170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a namespace per environment</a:t>
            </a:r>
          </a:p>
        </p:txBody>
      </p:sp>
      <p:sp>
        <p:nvSpPr>
          <p:cNvPr id="12" name="Rounded Rectangle 11"/>
          <p:cNvSpPr/>
          <p:nvPr/>
        </p:nvSpPr>
        <p:spPr>
          <a:xfrm>
            <a:off x="274320" y="2825496"/>
            <a:ext cx="3566160" cy="429768"/>
          </a:xfrm>
          <a:prstGeom prst="roundRect">
            <a:avLst>
              <a:gd name="adj" fmla="val 17021"/>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coolify_application</a:t>
            </a:r>
          </a:p>
        </p:txBody>
      </p:sp>
      <p:sp>
        <p:nvSpPr>
          <p:cNvPr id="13" name="Right Arrow 12"/>
          <p:cNvSpPr/>
          <p:nvPr/>
        </p:nvSpPr>
        <p:spPr>
          <a:xfrm>
            <a:off x="3977639" y="2916936"/>
            <a:ext cx="548640" cy="246888"/>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63440" y="2825496"/>
            <a:ext cx="4206240" cy="429768"/>
          </a:xfrm>
          <a:prstGeom prst="roundRect">
            <a:avLst>
              <a:gd name="adj" fmla="val 170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Deployment + Service, per service</a:t>
            </a:r>
          </a:p>
        </p:txBody>
      </p:sp>
      <p:sp>
        <p:nvSpPr>
          <p:cNvPr id="15" name="Rounded Rectangle 14"/>
          <p:cNvSpPr/>
          <p:nvPr/>
        </p:nvSpPr>
        <p:spPr>
          <a:xfrm>
            <a:off x="274320" y="3346704"/>
            <a:ext cx="3566160" cy="429768"/>
          </a:xfrm>
          <a:prstGeom prst="roundRect">
            <a:avLst>
              <a:gd name="adj" fmla="val 17021"/>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backend in compose</a:t>
            </a:r>
          </a:p>
        </p:txBody>
      </p:sp>
      <p:sp>
        <p:nvSpPr>
          <p:cNvPr id="16" name="Right Arrow 15"/>
          <p:cNvSpPr/>
          <p:nvPr/>
        </p:nvSpPr>
        <p:spPr>
          <a:xfrm>
            <a:off x="3977639" y="3438144"/>
            <a:ext cx="548640" cy="246888"/>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663440" y="3346704"/>
            <a:ext cx="4206240" cy="429768"/>
          </a:xfrm>
          <a:prstGeom prst="roundRect">
            <a:avLst>
              <a:gd name="adj" fmla="val 170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StatefulSet + volume, or managed DB</a:t>
            </a:r>
          </a:p>
        </p:txBody>
      </p:sp>
      <p:sp>
        <p:nvSpPr>
          <p:cNvPr id="18" name="Rounded Rectangle 17"/>
          <p:cNvSpPr/>
          <p:nvPr/>
        </p:nvSpPr>
        <p:spPr>
          <a:xfrm>
            <a:off x="274320" y="3867911"/>
            <a:ext cx="3566160" cy="429768"/>
          </a:xfrm>
          <a:prstGeom prst="roundRect">
            <a:avLst>
              <a:gd name="adj" fmla="val 17021"/>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Traefik + manual domain</a:t>
            </a:r>
          </a:p>
        </p:txBody>
      </p:sp>
      <p:sp>
        <p:nvSpPr>
          <p:cNvPr id="19" name="Right Arrow 18"/>
          <p:cNvSpPr/>
          <p:nvPr/>
        </p:nvSpPr>
        <p:spPr>
          <a:xfrm>
            <a:off x="3977639" y="3959351"/>
            <a:ext cx="548640" cy="246888"/>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663440" y="3867911"/>
            <a:ext cx="4206240" cy="429768"/>
          </a:xfrm>
          <a:prstGeom prst="roundRect">
            <a:avLst>
              <a:gd name="adj" fmla="val 170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Ingress — hostname in the file</a:t>
            </a:r>
          </a:p>
        </p:txBody>
      </p:sp>
      <p:sp>
        <p:nvSpPr>
          <p:cNvPr id="21" name="Rounded Rectangle 20"/>
          <p:cNvSpPr/>
          <p:nvPr/>
        </p:nvSpPr>
        <p:spPr>
          <a:xfrm>
            <a:off x="274320" y="4389120"/>
            <a:ext cx="3566160" cy="429768"/>
          </a:xfrm>
          <a:prstGeom prst="roundRect">
            <a:avLst>
              <a:gd name="adj" fmla="val 17021"/>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compose healthcheck</a:t>
            </a:r>
          </a:p>
        </p:txBody>
      </p:sp>
      <p:sp>
        <p:nvSpPr>
          <p:cNvPr id="22" name="Right Arrow 21"/>
          <p:cNvSpPr/>
          <p:nvPr/>
        </p:nvSpPr>
        <p:spPr>
          <a:xfrm>
            <a:off x="3977639" y="4480559"/>
            <a:ext cx="548640" cy="246888"/>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663440" y="4389120"/>
            <a:ext cx="4206240" cy="429768"/>
          </a:xfrm>
          <a:prstGeom prst="roundRect">
            <a:avLst>
              <a:gd name="adj" fmla="val 170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readiness probe + rolling updates</a:t>
            </a:r>
          </a:p>
        </p:txBody>
      </p:sp>
      <p:sp>
        <p:nvSpPr>
          <p:cNvPr id="24" name="Rectangle 23"/>
          <p:cNvSpPr/>
          <p:nvPr/>
        </p:nvSpPr>
        <p:spPr>
          <a:xfrm>
            <a:off x="548640" y="507492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074920"/>
            <a:ext cx="7863840" cy="731520"/>
          </a:xfrm>
          <a:prstGeom prst="rect">
            <a:avLst/>
          </a:prstGeom>
          <a:noFill/>
        </p:spPr>
        <p:txBody>
          <a:bodyPr wrap="square" anchor="ctr" lIns="27432" rIns="27432" tIns="18288" bIns="18288">
            <a:spAutoFit/>
          </a:bodyPr>
          <a:lstStyle/>
          <a:p>
            <a:pPr algn="l"/>
            <a:r>
              <a:rPr sz="2100" b="1" i="0">
                <a:solidFill>
                  <a:srgbClr val="1F497D"/>
                </a:solidFill>
              </a:rPr>
              <a:t>Kubernetes runs images, not repos —</a:t>
            </a:r>
          </a:p>
          <a:p>
            <a:pPr algn="l"/>
            <a:r>
              <a:rPr sz="2100" b="1" i="0">
                <a:solidFill>
                  <a:srgbClr val="1F497D"/>
                </a:solidFill>
              </a:rPr>
              <a:t>so Build Once, Promote stops being optional.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Other Tools in This Space</a:t>
            </a:r>
          </a:p>
        </p:txBody>
      </p:sp>
      <p:sp>
        <p:nvSpPr>
          <p:cNvPr id="3" name="Content Placeholder 2"/>
          <p:cNvSpPr>
            <a:spLocks noGrp="1"/>
          </p:cNvSpPr>
          <p:nvPr>
            <p:ph idx="1"/>
          </p:nvPr>
        </p:nvSpPr>
        <p:spPr>
          <a:xfrm>
            <a:off x="548640" y="1280160"/>
            <a:ext cx="8046720" cy="4846320"/>
          </a:xfrm>
        </p:spPr>
        <p:txBody>
          <a:bodyPr wrap="square"/>
          <a:lstStyle/>
          <a:p>
            <a:pPr>
              <a:spcBef>
                <a:spcPts val="1000"/>
              </a:spcBef>
            </a:pPr>
            <a:r>
              <a:rPr sz="2400"/>
              <a:t>AWS: CloudFormation, CDK</a:t>
            </a:r>
          </a:p>
          <a:p>
            <a:pPr>
              <a:spcBef>
                <a:spcPts val="1000"/>
              </a:spcBef>
            </a:pPr>
            <a:r>
              <a:rPr sz="2400"/>
              <a:t>Azure: Bicep (ARM templates underneath)</a:t>
            </a:r>
          </a:p>
          <a:p>
            <a:pPr>
              <a:spcBef>
                <a:spcPts val="1000"/>
              </a:spcBef>
            </a:pPr>
            <a:r>
              <a:rPr sz="2400"/>
              <a:t>Google Cloud: Infrastructure Manager — which runs Terraform</a:t>
            </a:r>
          </a:p>
          <a:p>
            <a:pPr>
              <a:spcBef>
                <a:spcPts val="1000"/>
              </a:spcBef>
            </a:pPr>
            <a:r>
              <a:rPr sz="2400"/>
              <a:t>Kubernetes: manifests, Helm</a:t>
            </a:r>
          </a:p>
          <a:p>
            <a:pPr>
              <a:spcBef>
                <a:spcPts val="1000"/>
              </a:spcBef>
            </a:pPr>
            <a:r>
              <a:rPr sz="2400"/>
              <a:t>Pulumi: same idea, in real programming languages</a:t>
            </a:r>
          </a:p>
          <a:p>
            <a:pPr>
              <a:spcBef>
                <a:spcPts val="1000"/>
              </a:spcBef>
            </a:pPr>
            <a:r>
              <a:rPr sz="2400"/>
              <a:t>OpenTofu: the open-source fork of Terraform — drop-in</a:t>
            </a:r>
          </a:p>
        </p:txBody>
      </p:sp>
      <p:sp>
        <p:nvSpPr>
          <p:cNvPr id="4" name="TextBox 3"/>
          <p:cNvSpPr txBox="1"/>
          <p:nvPr/>
        </p:nvSpPr>
        <p:spPr>
          <a:xfrm>
            <a:off x="8138160" y="6473952"/>
            <a:ext cx="822960" cy="274320"/>
          </a:xfrm>
          <a:prstGeom prst="rect">
            <a:avLst/>
          </a:prstGeom>
          <a:noFill/>
        </p:spPr>
        <p:txBody>
          <a:bodyPr wrap="none">
            <a:spAutoFit/>
          </a:bodyPr>
          <a:lstStyle/>
          <a:p>
            <a:pPr algn="r"/>
            <a:r>
              <a:rPr sz="1100">
                <a:solidFill>
                  <a:srgbClr val="7F7F7F"/>
                </a:solidFil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Docker Compose Is IaC Too</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A declarative file describing services, networks, volumes</a:t>
            </a:r>
          </a:p>
          <a:p>
            <a:pPr>
              <a:spcBef>
                <a:spcPts val="1000"/>
              </a:spcBef>
            </a:pPr>
            <a:r>
              <a:rPr sz="2400"/>
              <a:t>docker compose up converges to the described state</a:t>
            </a:r>
          </a:p>
          <a:p>
            <a:pPr>
              <a:spcBef>
                <a:spcPts val="1000"/>
              </a:spcBef>
            </a:pPr>
            <a:r>
              <a:rPr sz="2400"/>
              <a:t>Same mental model — one machine instead of a cloud</a:t>
            </a:r>
          </a:p>
          <a:p>
            <a:pPr>
              <a:spcBef>
                <a:spcPts val="1000"/>
              </a:spcBef>
            </a:pPr>
            <a:r>
              <a:rPr sz="2400"/>
              <a:t>You have been writing IaC since the first lab</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Terraform does for the cloud what compose does for your laptop.</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What You Will Actually Do</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Use Claude / Codex / opencode to generate your .tf files</a:t>
            </a:r>
          </a:p>
          <a:p>
            <a:pPr>
              <a:spcBef>
                <a:spcPts val="1000"/>
              </a:spcBef>
            </a:pPr>
            <a:r>
              <a:rPr sz="2400"/>
              <a:t>That is fine — and it is why understanding the pieces matters</a:t>
            </a:r>
          </a:p>
          <a:p>
            <a:pPr>
              <a:spcBef>
                <a:spcPts val="1000"/>
              </a:spcBef>
            </a:pPr>
            <a:r>
              <a:rPr sz="2400"/>
              <a:t>You have to read the plan and know whether it is right</a:t>
            </a:r>
          </a:p>
          <a:p>
            <a:pPr>
              <a:spcBef>
                <a:spcPts val="1000"/>
              </a:spcBef>
            </a:pPr>
            <a:r>
              <a:rPr sz="2400"/>
              <a:t>You have to know which variable is wrong when it fails</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Generated code you cannot evaluate is a liability, not a shortcut.</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Questions to Ask Your Generated File</a:t>
            </a:r>
          </a:p>
        </p:txBody>
      </p:sp>
      <p:sp>
        <p:nvSpPr>
          <p:cNvPr id="3" name="Content Placeholder 2"/>
          <p:cNvSpPr>
            <a:spLocks noGrp="1"/>
          </p:cNvSpPr>
          <p:nvPr>
            <p:ph idx="1"/>
          </p:nvPr>
        </p:nvSpPr>
        <p:spPr>
          <a:xfrm>
            <a:off x="548640" y="1280160"/>
            <a:ext cx="8046720" cy="4846320"/>
          </a:xfrm>
        </p:spPr>
        <p:txBody>
          <a:bodyPr wrap="square"/>
          <a:lstStyle/>
          <a:p>
            <a:pPr>
              <a:spcBef>
                <a:spcPts val="1000"/>
              </a:spcBef>
            </a:pPr>
            <a:r>
              <a:rPr sz="2400"/>
              <a:t>Which providers — and are the versions pinned?</a:t>
            </a:r>
          </a:p>
          <a:p>
            <a:pPr>
              <a:spcBef>
                <a:spcPts val="1000"/>
              </a:spcBef>
            </a:pPr>
            <a:r>
              <a:rPr sz="2400"/>
              <a:t>What resources does it create — do I want all of them?</a:t>
            </a:r>
          </a:p>
          <a:p>
            <a:pPr>
              <a:spcBef>
                <a:spcPts val="1000"/>
              </a:spcBef>
            </a:pPr>
            <a:r>
              <a:rPr sz="2400"/>
              <a:t>What does each resource reference — is the graph right?</a:t>
            </a:r>
          </a:p>
          <a:p>
            <a:pPr>
              <a:spcBef>
                <a:spcPts val="1000"/>
              </a:spcBef>
            </a:pPr>
            <a:r>
              <a:rPr sz="2400"/>
              <a:t>Are any secrets hard-coded instead of variables?</a:t>
            </a:r>
          </a:p>
          <a:p>
            <a:pPr>
              <a:spcBef>
                <a:spcPts val="1000"/>
              </a:spcBef>
            </a:pPr>
            <a:r>
              <a:rPr sz="2400"/>
              <a:t>Does terraform plan show exactly what I expect, and nothing else?</a:t>
            </a:r>
          </a:p>
        </p:txBody>
      </p:sp>
      <p:sp>
        <p:nvSpPr>
          <p:cNvPr id="4" name="TextBox 3"/>
          <p:cNvSpPr txBox="1"/>
          <p:nvPr/>
        </p:nvSpPr>
        <p:spPr>
          <a:xfrm>
            <a:off x="8138160" y="6473952"/>
            <a:ext cx="822960" cy="274320"/>
          </a:xfrm>
          <a:prstGeom prst="rect">
            <a:avLst/>
          </a:prstGeom>
          <a:noFill/>
        </p:spPr>
        <p:txBody>
          <a:bodyPr wrap="none">
            <a:spAutoFit/>
          </a:bodyPr>
          <a:lstStyle/>
          <a:p>
            <a:pPr algn="r"/>
            <a:r>
              <a:rPr sz="1100">
                <a:solidFill>
                  <a:srgbClr val="7F7F7F"/>
                </a:solidFil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Recap</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Laptop → GitHub → CI → Coolify → staging → prod → users</a:t>
            </a:r>
          </a:p>
          <a:p>
            <a:pPr>
              <a:spcBef>
                <a:spcPts val="1000"/>
              </a:spcBef>
            </a:pPr>
            <a:r>
              <a:rPr sz="2400"/>
              <a:t>Tests gate every deploy; /health gates traffic</a:t>
            </a:r>
          </a:p>
          <a:p>
            <a:pPr>
              <a:spcBef>
                <a:spcPts val="1000"/>
              </a:spcBef>
            </a:pPr>
            <a:r>
              <a:rPr sz="2400"/>
              <a:t>Branch decides environment; protection makes it stick</a:t>
            </a:r>
          </a:p>
          <a:p>
            <a:pPr>
              <a:spcBef>
                <a:spcPts val="1000"/>
              </a:spcBef>
            </a:pPr>
            <a:r>
              <a:rPr sz="2400"/>
              <a:t>Know the gaps: rolling deploys, build once &amp; promote</a:t>
            </a:r>
          </a:p>
          <a:p>
            <a:pPr>
              <a:spcBef>
                <a:spcPts val="1000"/>
              </a:spcBef>
            </a:pPr>
            <a:r>
              <a:rPr sz="2400"/>
              <a:t>Infrastructure is described in a file, reviewed like code</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The provider changes. The shape does not.</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1097280" cy="73152"/>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03120"/>
            <a:ext cx="7680960" cy="1097280"/>
          </a:xfrm>
          <a:prstGeom prst="rect">
            <a:avLst/>
          </a:prstGeom>
          <a:noFill/>
        </p:spPr>
        <p:txBody>
          <a:bodyPr wrap="square" anchor="b" lIns="27432" rIns="27432" tIns="18288" bIns="18288">
            <a:spAutoFit/>
          </a:bodyPr>
          <a:lstStyle/>
          <a:p>
            <a:pPr algn="l"/>
            <a:r>
              <a:rPr sz="4000" b="1" i="0">
                <a:solidFill>
                  <a:srgbClr val="FFFFFF"/>
                </a:solidFill>
              </a:rPr>
              <a:t>Questions?</a:t>
            </a:r>
          </a:p>
        </p:txBody>
      </p:sp>
      <p:sp>
        <p:nvSpPr>
          <p:cNvPr id="5" name="TextBox 4"/>
          <p:cNvSpPr txBox="1"/>
          <p:nvPr/>
        </p:nvSpPr>
        <p:spPr>
          <a:xfrm>
            <a:off x="731520" y="3474720"/>
            <a:ext cx="7680960" cy="731520"/>
          </a:xfrm>
          <a:prstGeom prst="rect">
            <a:avLst/>
          </a:prstGeom>
          <a:noFill/>
        </p:spPr>
        <p:txBody>
          <a:bodyPr wrap="square" anchor="t" lIns="27432" rIns="27432" tIns="18288" bIns="18288">
            <a:spAutoFit/>
          </a:bodyPr>
          <a:lstStyle/>
          <a:p>
            <a:pPr algn="l"/>
            <a:r>
              <a:rPr sz="2200" b="0" i="0">
                <a:solidFill>
                  <a:srgbClr val="D6E3F2"/>
                </a:solidFill>
              </a:rPr>
              <a:t>Then: build 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What Is Docker?</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4</a:t>
            </a:r>
          </a:p>
        </p:txBody>
      </p:sp>
      <p:sp>
        <p:nvSpPr>
          <p:cNvPr id="4" name="Rounded Rectangle 3"/>
          <p:cNvSpPr/>
          <p:nvPr/>
        </p:nvSpPr>
        <p:spPr>
          <a:xfrm>
            <a:off x="274320" y="1170432"/>
            <a:ext cx="2743200" cy="502920"/>
          </a:xfrm>
          <a:prstGeom prst="roundRect">
            <a:avLst>
              <a:gd name="adj" fmla="val 14545"/>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rPr>
              <a:t>VIRTUAL MACHINE</a:t>
            </a:r>
          </a:p>
          <a:p>
            <a:pPr algn="ctr"/>
            <a:r>
              <a:rPr sz="1300" b="1">
                <a:solidFill>
                  <a:srgbClr val="FFFFFF"/>
                </a:solidFill>
              </a:rPr>
              <a:t>VirtualBox, Parallels…</a:t>
            </a:r>
          </a:p>
        </p:txBody>
      </p:sp>
      <p:sp>
        <p:nvSpPr>
          <p:cNvPr id="5" name="Rectangle 4"/>
          <p:cNvSpPr/>
          <p:nvPr/>
        </p:nvSpPr>
        <p:spPr>
          <a:xfrm>
            <a:off x="274320" y="1737360"/>
            <a:ext cx="2743200" cy="2331720"/>
          </a:xfrm>
          <a:prstGeom prst="rect">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6" name="Rectangle 5"/>
          <p:cNvSpPr/>
          <p:nvPr/>
        </p:nvSpPr>
        <p:spPr>
          <a:xfrm>
            <a:off x="347472" y="3675887"/>
            <a:ext cx="2596896" cy="347472"/>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262626"/>
                </a:solidFill>
              </a:rPr>
              <a:t>hardware</a:t>
            </a:r>
          </a:p>
        </p:txBody>
      </p:sp>
      <p:sp>
        <p:nvSpPr>
          <p:cNvPr id="7" name="Rounded Rectangle 6"/>
          <p:cNvSpPr/>
          <p:nvPr/>
        </p:nvSpPr>
        <p:spPr>
          <a:xfrm>
            <a:off x="3200400" y="1170432"/>
            <a:ext cx="2743200" cy="502920"/>
          </a:xfrm>
          <a:prstGeom prst="roundRect">
            <a:avLst>
              <a:gd name="adj" fmla="val 14545"/>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rPr>
              <a:t>DOCKER ON LINUX</a:t>
            </a:r>
          </a:p>
          <a:p>
            <a:pPr algn="ctr"/>
            <a:r>
              <a:rPr sz="1300" b="1">
                <a:solidFill>
                  <a:srgbClr val="FFFFFF"/>
                </a:solidFill>
              </a:rPr>
              <a:t>the class server</a:t>
            </a:r>
          </a:p>
        </p:txBody>
      </p:sp>
      <p:sp>
        <p:nvSpPr>
          <p:cNvPr id="8" name="Rectangle 7"/>
          <p:cNvSpPr/>
          <p:nvPr/>
        </p:nvSpPr>
        <p:spPr>
          <a:xfrm>
            <a:off x="3200400" y="1737360"/>
            <a:ext cx="2743200" cy="2331720"/>
          </a:xfrm>
          <a:prstGeom prst="rect">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9" name="Rectangle 8"/>
          <p:cNvSpPr/>
          <p:nvPr/>
        </p:nvSpPr>
        <p:spPr>
          <a:xfrm>
            <a:off x="3273552" y="3675887"/>
            <a:ext cx="2596896" cy="347472"/>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262626"/>
                </a:solidFill>
              </a:rPr>
              <a:t>hardware</a:t>
            </a:r>
          </a:p>
        </p:txBody>
      </p:sp>
      <p:sp>
        <p:nvSpPr>
          <p:cNvPr id="10" name="Rounded Rectangle 9"/>
          <p:cNvSpPr/>
          <p:nvPr/>
        </p:nvSpPr>
        <p:spPr>
          <a:xfrm>
            <a:off x="6126480" y="1170432"/>
            <a:ext cx="2743200" cy="502920"/>
          </a:xfrm>
          <a:prstGeom prst="roundRect">
            <a:avLst>
              <a:gd name="adj" fmla="val 14545"/>
            </a:avLst>
          </a:prstGeom>
          <a:solidFill>
            <a:srgbClr val="3186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rPr>
              <a:t>DOCKER ON MAC / WINDOWS</a:t>
            </a:r>
          </a:p>
          <a:p>
            <a:pPr algn="ctr"/>
            <a:r>
              <a:rPr sz="1300" b="1">
                <a:solidFill>
                  <a:srgbClr val="FFFFFF"/>
                </a:solidFill>
              </a:rPr>
              <a:t>your laptop</a:t>
            </a:r>
          </a:p>
        </p:txBody>
      </p:sp>
      <p:sp>
        <p:nvSpPr>
          <p:cNvPr id="11" name="Rectangle 10"/>
          <p:cNvSpPr/>
          <p:nvPr/>
        </p:nvSpPr>
        <p:spPr>
          <a:xfrm>
            <a:off x="6126480" y="1737360"/>
            <a:ext cx="2743200" cy="2331720"/>
          </a:xfrm>
          <a:prstGeom prst="rect">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12" name="Rectangle 11"/>
          <p:cNvSpPr/>
          <p:nvPr/>
        </p:nvSpPr>
        <p:spPr>
          <a:xfrm>
            <a:off x="6199632" y="3675887"/>
            <a:ext cx="2596896" cy="347472"/>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262626"/>
                </a:solidFill>
              </a:rPr>
              <a:t>hardware</a:t>
            </a:r>
          </a:p>
        </p:txBody>
      </p:sp>
      <p:sp>
        <p:nvSpPr>
          <p:cNvPr id="13" name="Rounded Rectangle 12"/>
          <p:cNvSpPr/>
          <p:nvPr/>
        </p:nvSpPr>
        <p:spPr>
          <a:xfrm>
            <a:off x="365760" y="1828800"/>
            <a:ext cx="731520" cy="640080"/>
          </a:xfrm>
          <a:prstGeom prst="roundRect">
            <a:avLst>
              <a:gd name="adj" fmla="val 11428"/>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a:solidFill>
                  <a:srgbClr val="404040"/>
                </a:solidFill>
              </a:rPr>
              <a:t>browser</a:t>
            </a:r>
          </a:p>
        </p:txBody>
      </p:sp>
      <p:sp>
        <p:nvSpPr>
          <p:cNvPr id="14" name="Rounded Rectangle 13"/>
          <p:cNvSpPr/>
          <p:nvPr/>
        </p:nvSpPr>
        <p:spPr>
          <a:xfrm>
            <a:off x="365760" y="2560320"/>
            <a:ext cx="731520" cy="640080"/>
          </a:xfrm>
          <a:prstGeom prst="roundRect">
            <a:avLst>
              <a:gd name="adj" fmla="val 11428"/>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a:solidFill>
                  <a:srgbClr val="404040"/>
                </a:solidFill>
              </a:rPr>
              <a:t>editor</a:t>
            </a:r>
          </a:p>
        </p:txBody>
      </p:sp>
      <p:sp>
        <p:nvSpPr>
          <p:cNvPr id="15" name="Rounded Rectangle 14"/>
          <p:cNvSpPr/>
          <p:nvPr/>
        </p:nvSpPr>
        <p:spPr>
          <a:xfrm>
            <a:off x="1188720" y="1828800"/>
            <a:ext cx="1737360" cy="1371600"/>
          </a:xfrm>
          <a:prstGeom prst="roundRect">
            <a:avLst>
              <a:gd name="adj" fmla="val 5333"/>
            </a:avLst>
          </a:prstGeom>
          <a:solidFill>
            <a:srgbClr val="FFFFFF"/>
          </a:solidFill>
          <a:ln w="254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16" name="TextBox 15"/>
          <p:cNvSpPr txBox="1"/>
          <p:nvPr/>
        </p:nvSpPr>
        <p:spPr>
          <a:xfrm>
            <a:off x="1188720" y="1847088"/>
            <a:ext cx="1737360" cy="256032"/>
          </a:xfrm>
          <a:prstGeom prst="rect">
            <a:avLst/>
          </a:prstGeom>
          <a:noFill/>
        </p:spPr>
        <p:txBody>
          <a:bodyPr wrap="square" anchor="t" lIns="27432" rIns="27432" tIns="18288" bIns="18288">
            <a:spAutoFit/>
          </a:bodyPr>
          <a:lstStyle/>
          <a:p>
            <a:pPr algn="ctr"/>
            <a:r>
              <a:rPr sz="1100" b="1" i="0">
                <a:solidFill>
                  <a:srgbClr val="7F7F7F"/>
                </a:solidFill>
              </a:rPr>
              <a:t>a VM (an app)</a:t>
            </a:r>
          </a:p>
        </p:txBody>
      </p:sp>
      <p:sp>
        <p:nvSpPr>
          <p:cNvPr id="17" name="Rounded Rectangle 16"/>
          <p:cNvSpPr/>
          <p:nvPr/>
        </p:nvSpPr>
        <p:spPr>
          <a:xfrm>
            <a:off x="1280160" y="2130552"/>
            <a:ext cx="1554480" cy="384048"/>
          </a:xfrm>
          <a:prstGeom prst="roundRect">
            <a:avLst>
              <a:gd name="adj" fmla="val 19047"/>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your app</a:t>
            </a:r>
          </a:p>
        </p:txBody>
      </p:sp>
      <p:sp>
        <p:nvSpPr>
          <p:cNvPr id="18" name="Rounded Rectangle 17"/>
          <p:cNvSpPr/>
          <p:nvPr/>
        </p:nvSpPr>
        <p:spPr>
          <a:xfrm>
            <a:off x="1280160" y="2560320"/>
            <a:ext cx="1554480" cy="548640"/>
          </a:xfrm>
          <a:prstGeom prst="roundRect">
            <a:avLst>
              <a:gd name="adj" fmla="val 13333"/>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0">
                <a:solidFill>
                  <a:srgbClr val="FFFFFF"/>
                </a:solidFill>
              </a:rPr>
              <a:t>guest OS</a:t>
            </a:r>
          </a:p>
          <a:p>
            <a:pPr algn="ctr"/>
            <a:r>
              <a:rPr sz="1150" b="0">
                <a:solidFill>
                  <a:srgbClr val="FFFFFF"/>
                </a:solidFill>
              </a:rPr>
              <a:t>+ its own kernel</a:t>
            </a:r>
          </a:p>
        </p:txBody>
      </p:sp>
      <p:sp>
        <p:nvSpPr>
          <p:cNvPr id="19" name="Rectangle 18"/>
          <p:cNvSpPr/>
          <p:nvPr/>
        </p:nvSpPr>
        <p:spPr>
          <a:xfrm>
            <a:off x="347472" y="3264408"/>
            <a:ext cx="2596896" cy="347472"/>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macOS / Windows</a:t>
            </a:r>
          </a:p>
        </p:txBody>
      </p:sp>
      <p:sp>
        <p:nvSpPr>
          <p:cNvPr id="20" name="Rounded Rectangle 19"/>
          <p:cNvSpPr/>
          <p:nvPr/>
        </p:nvSpPr>
        <p:spPr>
          <a:xfrm>
            <a:off x="3291840" y="1828800"/>
            <a:ext cx="731520" cy="640080"/>
          </a:xfrm>
          <a:prstGeom prst="roundRect">
            <a:avLst>
              <a:gd name="adj" fmla="val 11428"/>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a:solidFill>
                  <a:srgbClr val="404040"/>
                </a:solidFill>
              </a:rPr>
              <a:t>other</a:t>
            </a:r>
          </a:p>
          <a:p>
            <a:pPr algn="ctr"/>
            <a:r>
              <a:rPr sz="1100" b="0">
                <a:solidFill>
                  <a:srgbClr val="404040"/>
                </a:solidFill>
              </a:rPr>
              <a:t>programs</a:t>
            </a:r>
          </a:p>
        </p:txBody>
      </p:sp>
      <p:sp>
        <p:nvSpPr>
          <p:cNvPr id="21" name="Rounded Rectangle 20"/>
          <p:cNvSpPr/>
          <p:nvPr/>
        </p:nvSpPr>
        <p:spPr>
          <a:xfrm>
            <a:off x="3291840" y="2560320"/>
            <a:ext cx="731520" cy="640080"/>
          </a:xfrm>
          <a:prstGeom prst="roundRect">
            <a:avLst>
              <a:gd name="adj" fmla="val 11428"/>
            </a:avLst>
          </a:prstGeom>
          <a:solidFill>
            <a:srgbClr val="3186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a:solidFill>
                  <a:srgbClr val="FFFFFF"/>
                </a:solidFill>
              </a:rPr>
              <a:t>Docker</a:t>
            </a:r>
          </a:p>
          <a:p>
            <a:pPr algn="ctr"/>
            <a:r>
              <a:rPr sz="1100" b="0">
                <a:solidFill>
                  <a:srgbClr val="FFFFFF"/>
                </a:solidFill>
              </a:rPr>
              <a:t>Engine</a:t>
            </a:r>
          </a:p>
        </p:txBody>
      </p:sp>
      <p:sp>
        <p:nvSpPr>
          <p:cNvPr id="22" name="Rounded Rectangle 21"/>
          <p:cNvSpPr/>
          <p:nvPr/>
        </p:nvSpPr>
        <p:spPr>
          <a:xfrm>
            <a:off x="4114800" y="1828800"/>
            <a:ext cx="822960" cy="1371600"/>
          </a:xfrm>
          <a:prstGeom prst="roundRect">
            <a:avLst>
              <a:gd name="adj" fmla="val 8888"/>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a:solidFill>
                  <a:srgbClr val="FFFFFF"/>
                </a:solidFill>
              </a:rPr>
              <a:t>container</a:t>
            </a:r>
          </a:p>
          <a:p>
            <a:pPr algn="ctr"/>
            <a:r>
              <a:rPr sz="1100" b="0">
                <a:solidFill>
                  <a:srgbClr val="FFFFFF"/>
                </a:solidFill>
              </a:rPr>
              <a:t/>
            </a:r>
          </a:p>
          <a:p>
            <a:pPr algn="ctr"/>
            <a:r>
              <a:rPr sz="1100" b="0">
                <a:solidFill>
                  <a:srgbClr val="FFFFFF"/>
                </a:solidFill>
              </a:rPr>
              <a:t>your app</a:t>
            </a:r>
          </a:p>
          <a:p>
            <a:pPr algn="ctr"/>
            <a:r>
              <a:rPr sz="1100" b="0">
                <a:solidFill>
                  <a:srgbClr val="FFFFFF"/>
                </a:solidFill>
              </a:rPr>
              <a:t>+ libs</a:t>
            </a:r>
          </a:p>
        </p:txBody>
      </p:sp>
      <p:sp>
        <p:nvSpPr>
          <p:cNvPr id="23" name="Rounded Rectangle 22"/>
          <p:cNvSpPr/>
          <p:nvPr/>
        </p:nvSpPr>
        <p:spPr>
          <a:xfrm>
            <a:off x="5001768" y="1828800"/>
            <a:ext cx="822960" cy="1371600"/>
          </a:xfrm>
          <a:prstGeom prst="roundRect">
            <a:avLst>
              <a:gd name="adj" fmla="val 8888"/>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a:solidFill>
                  <a:srgbClr val="FFFFFF"/>
                </a:solidFill>
              </a:rPr>
              <a:t>container</a:t>
            </a:r>
          </a:p>
          <a:p>
            <a:pPr algn="ctr"/>
            <a:r>
              <a:rPr sz="1100" b="0">
                <a:solidFill>
                  <a:srgbClr val="FFFFFF"/>
                </a:solidFill>
              </a:rPr>
              <a:t/>
            </a:r>
          </a:p>
          <a:p>
            <a:pPr algn="ctr"/>
            <a:r>
              <a:rPr sz="1100" b="0">
                <a:solidFill>
                  <a:srgbClr val="FFFFFF"/>
                </a:solidFill>
              </a:rPr>
              <a:t>your app</a:t>
            </a:r>
          </a:p>
          <a:p>
            <a:pPr algn="ctr"/>
            <a:r>
              <a:rPr sz="1100" b="0">
                <a:solidFill>
                  <a:srgbClr val="FFFFFF"/>
                </a:solidFill>
              </a:rPr>
              <a:t>+ libs</a:t>
            </a:r>
          </a:p>
        </p:txBody>
      </p:sp>
      <p:sp>
        <p:nvSpPr>
          <p:cNvPr id="24" name="Rectangle 23"/>
          <p:cNvSpPr/>
          <p:nvPr/>
        </p:nvSpPr>
        <p:spPr>
          <a:xfrm>
            <a:off x="3273552" y="3264408"/>
            <a:ext cx="2596896" cy="347472"/>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Linux kernel — shared by all</a:t>
            </a:r>
          </a:p>
        </p:txBody>
      </p:sp>
      <p:sp>
        <p:nvSpPr>
          <p:cNvPr id="25" name="Rounded Rectangle 24"/>
          <p:cNvSpPr/>
          <p:nvPr/>
        </p:nvSpPr>
        <p:spPr>
          <a:xfrm>
            <a:off x="6217920" y="1828800"/>
            <a:ext cx="731520" cy="640080"/>
          </a:xfrm>
          <a:prstGeom prst="roundRect">
            <a:avLst>
              <a:gd name="adj" fmla="val 11428"/>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a:solidFill>
                  <a:srgbClr val="404040"/>
                </a:solidFill>
              </a:rPr>
              <a:t>browser</a:t>
            </a:r>
          </a:p>
        </p:txBody>
      </p:sp>
      <p:sp>
        <p:nvSpPr>
          <p:cNvPr id="26" name="Rounded Rectangle 25"/>
          <p:cNvSpPr/>
          <p:nvPr/>
        </p:nvSpPr>
        <p:spPr>
          <a:xfrm>
            <a:off x="6217920" y="2560320"/>
            <a:ext cx="731520" cy="640080"/>
          </a:xfrm>
          <a:prstGeom prst="roundRect">
            <a:avLst>
              <a:gd name="adj" fmla="val 11428"/>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a:solidFill>
                  <a:srgbClr val="404040"/>
                </a:solidFill>
              </a:rPr>
              <a:t>editor</a:t>
            </a:r>
          </a:p>
        </p:txBody>
      </p:sp>
      <p:sp>
        <p:nvSpPr>
          <p:cNvPr id="27" name="Rounded Rectangle 26"/>
          <p:cNvSpPr/>
          <p:nvPr/>
        </p:nvSpPr>
        <p:spPr>
          <a:xfrm>
            <a:off x="7040880" y="1828800"/>
            <a:ext cx="1737360" cy="1371600"/>
          </a:xfrm>
          <a:prstGeom prst="roundRect">
            <a:avLst>
              <a:gd name="adj" fmla="val 5333"/>
            </a:avLst>
          </a:prstGeom>
          <a:solidFill>
            <a:srgbClr val="FFFFFF"/>
          </a:solidFill>
          <a:ln w="25400">
            <a:solidFill>
              <a:srgbClr val="31869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28" name="TextBox 27"/>
          <p:cNvSpPr txBox="1"/>
          <p:nvPr/>
        </p:nvSpPr>
        <p:spPr>
          <a:xfrm>
            <a:off x="7040880" y="1847088"/>
            <a:ext cx="1737360" cy="256032"/>
          </a:xfrm>
          <a:prstGeom prst="rect">
            <a:avLst/>
          </a:prstGeom>
          <a:noFill/>
        </p:spPr>
        <p:txBody>
          <a:bodyPr wrap="square" anchor="t" lIns="27432" rIns="27432" tIns="18288" bIns="18288">
            <a:spAutoFit/>
          </a:bodyPr>
          <a:lstStyle/>
          <a:p>
            <a:pPr algn="ctr"/>
            <a:r>
              <a:rPr sz="1050" b="1" i="0">
                <a:solidFill>
                  <a:srgbClr val="31869E"/>
                </a:solidFill>
              </a:rPr>
              <a:t>Docker Desktop's</a:t>
            </a:r>
          </a:p>
        </p:txBody>
      </p:sp>
      <p:sp>
        <p:nvSpPr>
          <p:cNvPr id="29" name="TextBox 28"/>
          <p:cNvSpPr txBox="1"/>
          <p:nvPr/>
        </p:nvSpPr>
        <p:spPr>
          <a:xfrm>
            <a:off x="7040880" y="2029968"/>
            <a:ext cx="1737360" cy="256032"/>
          </a:xfrm>
          <a:prstGeom prst="rect">
            <a:avLst/>
          </a:prstGeom>
          <a:noFill/>
        </p:spPr>
        <p:txBody>
          <a:bodyPr wrap="square" anchor="t" lIns="27432" rIns="27432" tIns="18288" bIns="18288">
            <a:spAutoFit/>
          </a:bodyPr>
          <a:lstStyle/>
          <a:p>
            <a:pPr algn="ctr"/>
            <a:r>
              <a:rPr sz="1050" b="1" i="0">
                <a:solidFill>
                  <a:srgbClr val="31869E"/>
                </a:solidFill>
              </a:rPr>
              <a:t>small Linux VM</a:t>
            </a:r>
          </a:p>
        </p:txBody>
      </p:sp>
      <p:sp>
        <p:nvSpPr>
          <p:cNvPr id="30" name="Rounded Rectangle 29"/>
          <p:cNvSpPr/>
          <p:nvPr/>
        </p:nvSpPr>
        <p:spPr>
          <a:xfrm>
            <a:off x="7114032" y="2331720"/>
            <a:ext cx="768096" cy="438912"/>
          </a:xfrm>
          <a:prstGeom prst="roundRect">
            <a:avLst>
              <a:gd name="adj" fmla="val 16666"/>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50" b="0">
                <a:solidFill>
                  <a:srgbClr val="FFFFFF"/>
                </a:solidFill>
              </a:rPr>
              <a:t>container</a:t>
            </a:r>
          </a:p>
        </p:txBody>
      </p:sp>
      <p:sp>
        <p:nvSpPr>
          <p:cNvPr id="31" name="Rounded Rectangle 30"/>
          <p:cNvSpPr/>
          <p:nvPr/>
        </p:nvSpPr>
        <p:spPr>
          <a:xfrm>
            <a:off x="7936992" y="2331720"/>
            <a:ext cx="768096" cy="438912"/>
          </a:xfrm>
          <a:prstGeom prst="roundRect">
            <a:avLst>
              <a:gd name="adj" fmla="val 16666"/>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50" b="0">
                <a:solidFill>
                  <a:srgbClr val="FFFFFF"/>
                </a:solidFill>
              </a:rPr>
              <a:t>container</a:t>
            </a:r>
          </a:p>
        </p:txBody>
      </p:sp>
      <p:sp>
        <p:nvSpPr>
          <p:cNvPr id="32" name="Rectangle 31"/>
          <p:cNvSpPr/>
          <p:nvPr/>
        </p:nvSpPr>
        <p:spPr>
          <a:xfrm>
            <a:off x="7114032" y="2816352"/>
            <a:ext cx="1591056" cy="329184"/>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a:solidFill>
                  <a:srgbClr val="FFFFFF"/>
                </a:solidFill>
              </a:rPr>
              <a:t>Linux kernel</a:t>
            </a:r>
          </a:p>
        </p:txBody>
      </p:sp>
      <p:sp>
        <p:nvSpPr>
          <p:cNvPr id="33" name="Rectangle 32"/>
          <p:cNvSpPr/>
          <p:nvPr/>
        </p:nvSpPr>
        <p:spPr>
          <a:xfrm>
            <a:off x="6199632" y="3264408"/>
            <a:ext cx="2596896" cy="347472"/>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a:solidFill>
                  <a:srgbClr val="FFFFFF"/>
                </a:solidFill>
              </a:rPr>
              <a:t>macOS / Windows — no Linux kernel</a:t>
            </a:r>
          </a:p>
        </p:txBody>
      </p:sp>
      <p:sp>
        <p:nvSpPr>
          <p:cNvPr id="34" name="TextBox 33"/>
          <p:cNvSpPr txBox="1"/>
          <p:nvPr/>
        </p:nvSpPr>
        <p:spPr>
          <a:xfrm>
            <a:off x="274320" y="4114799"/>
            <a:ext cx="2743200" cy="502920"/>
          </a:xfrm>
          <a:prstGeom prst="rect">
            <a:avLst/>
          </a:prstGeom>
          <a:noFill/>
        </p:spPr>
        <p:txBody>
          <a:bodyPr wrap="square" anchor="t" lIns="27432" rIns="27432" tIns="18288" bIns="18288">
            <a:spAutoFit/>
          </a:bodyPr>
          <a:lstStyle/>
          <a:p>
            <a:pPr algn="ctr"/>
            <a:r>
              <a:rPr sz="1150" b="0" i="1">
                <a:solidFill>
                  <a:srgbClr val="404040"/>
                </a:solidFill>
              </a:rPr>
              <a:t>runs beside your apps, but carries</a:t>
            </a:r>
          </a:p>
          <a:p>
            <a:pPr algn="ctr"/>
            <a:r>
              <a:rPr sz="1150" b="0" i="1">
                <a:solidFill>
                  <a:srgbClr val="404040"/>
                </a:solidFill>
              </a:rPr>
              <a:t>a whole OS · GBs · minutes to boot</a:t>
            </a:r>
          </a:p>
        </p:txBody>
      </p:sp>
      <p:sp>
        <p:nvSpPr>
          <p:cNvPr id="35" name="TextBox 34"/>
          <p:cNvSpPr txBox="1"/>
          <p:nvPr/>
        </p:nvSpPr>
        <p:spPr>
          <a:xfrm>
            <a:off x="3200400" y="4114799"/>
            <a:ext cx="2743200" cy="502920"/>
          </a:xfrm>
          <a:prstGeom prst="rect">
            <a:avLst/>
          </a:prstGeom>
          <a:noFill/>
        </p:spPr>
        <p:txBody>
          <a:bodyPr wrap="square" anchor="t" lIns="27432" rIns="27432" tIns="18288" bIns="18288">
            <a:spAutoFit/>
          </a:bodyPr>
          <a:lstStyle/>
          <a:p>
            <a:pPr algn="ctr"/>
            <a:r>
              <a:rPr sz="1150" b="0" i="1">
                <a:solidFill>
                  <a:srgbClr val="404040"/>
                </a:solidFill>
              </a:rPr>
              <a:t>containers are just fenced-off programs</a:t>
            </a:r>
          </a:p>
          <a:p>
            <a:pPr algn="ctr"/>
            <a:r>
              <a:rPr sz="1150" b="0" i="1">
                <a:solidFill>
                  <a:srgbClr val="404040"/>
                </a:solidFill>
              </a:rPr>
              <a:t>sharing one kernel · MBs · seconds</a:t>
            </a:r>
          </a:p>
        </p:txBody>
      </p:sp>
      <p:sp>
        <p:nvSpPr>
          <p:cNvPr id="36" name="TextBox 35"/>
          <p:cNvSpPr txBox="1"/>
          <p:nvPr/>
        </p:nvSpPr>
        <p:spPr>
          <a:xfrm>
            <a:off x="6126480" y="4114799"/>
            <a:ext cx="2743200" cy="502920"/>
          </a:xfrm>
          <a:prstGeom prst="rect">
            <a:avLst/>
          </a:prstGeom>
          <a:noFill/>
        </p:spPr>
        <p:txBody>
          <a:bodyPr wrap="square" anchor="t" lIns="27432" rIns="27432" tIns="18288" bIns="18288">
            <a:spAutoFit/>
          </a:bodyPr>
          <a:lstStyle/>
          <a:p>
            <a:pPr algn="ctr"/>
            <a:r>
              <a:rPr sz="1150" b="0" i="1">
                <a:solidFill>
                  <a:srgbClr val="404040"/>
                </a:solidFill>
              </a:rPr>
              <a:t>one Linux VM holds all containers —</a:t>
            </a:r>
          </a:p>
          <a:p>
            <a:pPr algn="ctr"/>
            <a:r>
              <a:rPr sz="1150" b="0" i="1">
                <a:solidFill>
                  <a:srgbClr val="404040"/>
                </a:solidFill>
              </a:rPr>
              <a:t>that's where their kernel comes from</a:t>
            </a:r>
          </a:p>
        </p:txBody>
      </p:sp>
      <p:sp>
        <p:nvSpPr>
          <p:cNvPr id="37" name="TextBox 36"/>
          <p:cNvSpPr txBox="1"/>
          <p:nvPr/>
        </p:nvSpPr>
        <p:spPr>
          <a:xfrm>
            <a:off x="274320" y="4681727"/>
            <a:ext cx="8595360" cy="320040"/>
          </a:xfrm>
          <a:prstGeom prst="rect">
            <a:avLst/>
          </a:prstGeom>
          <a:noFill/>
        </p:spPr>
        <p:txBody>
          <a:bodyPr wrap="square" anchor="t" lIns="27432" rIns="27432" tIns="18288" bIns="18288">
            <a:spAutoFit/>
          </a:bodyPr>
          <a:lstStyle/>
          <a:p>
            <a:pPr algn="ctr"/>
            <a:r>
              <a:rPr sz="1400" b="0" i="0">
                <a:solidFill>
                  <a:srgbClr val="1F497D"/>
                </a:solidFill>
              </a:rPr>
              <a:t/>
            </a:r>
            <a:r>
              <a:rPr sz="1400" b="1">
                <a:solidFill>
                  <a:srgbClr val="1F497D"/>
                </a:solidFill>
              </a:rPr>
              <a:t>Like a VM: </a:t>
            </a:r>
            <a:r>
              <a:rPr sz="1400" b="0">
                <a:solidFill>
                  <a:srgbClr val="262626"/>
                </a:solidFill>
              </a:rPr>
              <a:t>each container gets its own files, network and processes.   </a:t>
            </a:r>
            <a:r>
              <a:rPr sz="1400" b="1">
                <a:solidFill>
                  <a:srgbClr val="1F497D"/>
                </a:solidFill>
              </a:rPr>
              <a:t>Unlike a VM: </a:t>
            </a:r>
            <a:r>
              <a:rPr sz="1400" b="0">
                <a:solidFill>
                  <a:srgbClr val="262626"/>
                </a:solidFill>
              </a:rPr>
              <a:t>no OS of its own.</a:t>
            </a:r>
          </a:p>
        </p:txBody>
      </p:sp>
      <p:sp>
        <p:nvSpPr>
          <p:cNvPr id="38" name="Rectangle 37"/>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The image always sees a Linux kernel — so the same image</a:t>
            </a:r>
          </a:p>
          <a:p>
            <a:pPr algn="l"/>
            <a:r>
              <a:rPr sz="2100" b="1" i="0">
                <a:solidFill>
                  <a:srgbClr val="1F497D"/>
                </a:solidFill>
              </a:rPr>
              <a:t>behaves the same on a Mac, a Windows laptop or the server.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1574</TotalTime>
  <Words>2106</Words>
  <Application>Microsoft Macintosh PowerPoint</Application>
  <PresentationFormat>On-screen Show (4:3)</PresentationFormat>
  <Paragraphs>347</Paragraphs>
  <Slides>46</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.AppleSystemUIFont</vt:lpstr>
      <vt:lpstr>Arial</vt:lpstr>
      <vt:lpstr>Calibri</vt:lpstr>
      <vt:lpstr>Courier New</vt:lpstr>
      <vt:lpstr>Office Theme</vt:lpstr>
      <vt:lpstr>MLOps Mini-Course</vt:lpstr>
      <vt:lpstr>From ML Scripts to Systems</vt:lpstr>
      <vt:lpstr>Typical ML Coursework</vt:lpstr>
      <vt:lpstr>What Happens After the Notebook?</vt:lpstr>
      <vt:lpstr>Reality: ML in Production</vt:lpstr>
      <vt:lpstr>ML Product Lifecycle</vt:lpstr>
      <vt:lpstr>Sample Project Timeline</vt:lpstr>
      <vt:lpstr>Designing a Production System</vt:lpstr>
      <vt:lpstr>Answers to (some of) our Questions</vt:lpstr>
      <vt:lpstr>Sample Architecture</vt:lpstr>
      <vt:lpstr>Why Production ML Fails</vt:lpstr>
      <vt:lpstr>Enter Containers</vt:lpstr>
      <vt:lpstr>Containers Provide</vt:lpstr>
      <vt:lpstr>Why Containers for ML Systems</vt:lpstr>
      <vt:lpstr>Images vs Containers</vt:lpstr>
      <vt:lpstr>LAB 1a</vt:lpstr>
      <vt:lpstr>Unzip lab1.zip</vt:lpstr>
      <vt:lpstr>Lab 1a: Containers &amp; Hello World</vt:lpstr>
      <vt:lpstr>Hello Web Architecture</vt:lpstr>
      <vt:lpstr>Dockerfile Basics</vt:lpstr>
      <vt:lpstr>Dockerfile (hands-on)</vt:lpstr>
      <vt:lpstr>Key Commands</vt:lpstr>
      <vt:lpstr>Additional Docker Commands</vt:lpstr>
      <vt:lpstr>Common Issues</vt:lpstr>
      <vt:lpstr>LAB 1b</vt:lpstr>
      <vt:lpstr>Lab 1b: IAC (local)</vt:lpstr>
      <vt:lpstr>Architecture Development</vt:lpstr>
      <vt:lpstr>Infrastructure as Code (IAC)</vt:lpstr>
      <vt:lpstr>Why Infrastructure as Code?</vt:lpstr>
      <vt:lpstr>Imperative vs Declarative</vt:lpstr>
      <vt:lpstr>Terraform</vt:lpstr>
      <vt:lpstr>Terraform Mental Model</vt:lpstr>
      <vt:lpstr>Local Terraform Demo</vt:lpstr>
      <vt:lpstr>Terraform Demo: Workflow</vt:lpstr>
      <vt:lpstr>Mapping to the Cloud</vt:lpstr>
      <vt:lpstr>Terraform Alterneratives</vt:lpstr>
      <vt:lpstr>Kubernetes: Production-Scale Container Orchestration</vt:lpstr>
      <vt:lpstr>From Cloud to Local</vt:lpstr>
      <vt:lpstr>Docker Compose as Local IaC</vt:lpstr>
      <vt:lpstr>docker-compose.yml Anatomy</vt:lpstr>
      <vt:lpstr>docker-compose.yml (hands-on)</vt:lpstr>
      <vt:lpstr>Service Lifecycle</vt:lpstr>
      <vt:lpstr>Hello Web with Compose</vt:lpstr>
      <vt:lpstr>Docker Compose Commands</vt:lpstr>
      <vt:lpstr>Compose Recap</vt:lpstr>
      <vt:lpstr>Why This Is (local) IaC</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Mike P Jones</cp:lastModifiedBy>
  <cp:revision>16</cp:revision>
  <dcterms:created xsi:type="dcterms:W3CDTF">2013-01-27T09:14:16Z</dcterms:created>
  <dcterms:modified xsi:type="dcterms:W3CDTF">2026-02-20T00:53:31Z</dcterms:modified>
  <cp:category/>
</cp:coreProperties>
</file>